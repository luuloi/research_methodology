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76" r:id="rId3"/>
    <p:sldId id="277" r:id="rId4"/>
    <p:sldId id="278" r:id="rId5"/>
    <p:sldId id="279" r:id="rId6"/>
    <p:sldId id="280" r:id="rId7"/>
    <p:sldId id="281" r:id="rId8"/>
    <p:sldId id="282" r:id="rId9"/>
    <p:sldId id="283" r:id="rId10"/>
    <p:sldId id="284" r:id="rId11"/>
    <p:sldId id="285" r:id="rId12"/>
    <p:sldId id="286" r:id="rId13"/>
    <p:sldId id="287" r:id="rId14"/>
    <p:sldId id="288" r:id="rId15"/>
    <p:sldId id="289" r:id="rId16"/>
    <p:sldId id="290" r:id="rId17"/>
    <p:sldId id="291" r:id="rId18"/>
    <p:sldId id="292" r:id="rId19"/>
    <p:sldId id="328" r:id="rId20"/>
    <p:sldId id="329" r:id="rId21"/>
    <p:sldId id="293" r:id="rId22"/>
    <p:sldId id="294" r:id="rId23"/>
    <p:sldId id="295" r:id="rId24"/>
    <p:sldId id="296" r:id="rId25"/>
    <p:sldId id="297" r:id="rId26"/>
    <p:sldId id="298" r:id="rId27"/>
    <p:sldId id="299" r:id="rId28"/>
    <p:sldId id="300" r:id="rId29"/>
    <p:sldId id="301" r:id="rId30"/>
    <p:sldId id="302" r:id="rId31"/>
    <p:sldId id="303" r:id="rId32"/>
    <p:sldId id="304" r:id="rId33"/>
    <p:sldId id="305" r:id="rId34"/>
    <p:sldId id="306" r:id="rId35"/>
    <p:sldId id="307" r:id="rId36"/>
    <p:sldId id="308" r:id="rId37"/>
    <p:sldId id="330" r:id="rId38"/>
    <p:sldId id="309" r:id="rId39"/>
    <p:sldId id="310" r:id="rId40"/>
    <p:sldId id="311" r:id="rId41"/>
    <p:sldId id="312" r:id="rId42"/>
    <p:sldId id="313" r:id="rId43"/>
    <p:sldId id="314" r:id="rId44"/>
    <p:sldId id="315" r:id="rId45"/>
    <p:sldId id="316" r:id="rId46"/>
    <p:sldId id="317" r:id="rId47"/>
    <p:sldId id="318" r:id="rId48"/>
    <p:sldId id="320" r:id="rId49"/>
    <p:sldId id="319" r:id="rId50"/>
    <p:sldId id="321" r:id="rId51"/>
    <p:sldId id="322" r:id="rId52"/>
    <p:sldId id="323" r:id="rId53"/>
    <p:sldId id="331" r:id="rId54"/>
    <p:sldId id="324" r:id="rId55"/>
    <p:sldId id="325" r:id="rId56"/>
    <p:sldId id="326" r:id="rId57"/>
    <p:sldId id="327" r:id="rId58"/>
    <p:sldId id="275" r:id="rId5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96" autoAdjust="0"/>
    <p:restoredTop sz="94660"/>
  </p:normalViewPr>
  <p:slideViewPr>
    <p:cSldViewPr snapToGrid="0">
      <p:cViewPr varScale="1">
        <p:scale>
          <a:sx n="86" d="100"/>
          <a:sy n="86" d="100"/>
        </p:scale>
        <p:origin x="48" y="1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242851"/>
            <a:ext cx="8968084" cy="275942"/>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11716" y="4243845"/>
            <a:ext cx="3077108" cy="276940"/>
          </a:xfrm>
          <a:prstGeom prst="rect">
            <a:avLst/>
          </a:prstGeom>
        </p:spPr>
      </p:pic>
      <p:sp>
        <p:nvSpPr>
          <p:cNvPr id="9" name="Rectangle 8"/>
          <p:cNvSpPr/>
          <p:nvPr/>
        </p:nvSpPr>
        <p:spPr bwMode="ltGray">
          <a:xfrm>
            <a:off x="0" y="2590078"/>
            <a:ext cx="8968085"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9111715" y="2590078"/>
            <a:ext cx="3077109"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80322" y="2733709"/>
            <a:ext cx="8144134" cy="1373070"/>
          </a:xfrm>
        </p:spPr>
        <p:txBody>
          <a:bodyPr anchor="b">
            <a:noAutofit/>
          </a:bodyPr>
          <a:lstStyle>
            <a:lvl1pPr algn="r">
              <a:defRPr sz="5400"/>
            </a:lvl1pPr>
          </a:lstStyle>
          <a:p>
            <a:r>
              <a:rPr lang="en-US"/>
              <a:t>Click to edit Master title style</a:t>
            </a:r>
            <a:endParaRPr lang="en-US" dirty="0"/>
          </a:p>
        </p:txBody>
      </p:sp>
      <p:sp>
        <p:nvSpPr>
          <p:cNvPr id="3" name="Subtitle 2"/>
          <p:cNvSpPr>
            <a:spLocks noGrp="1"/>
          </p:cNvSpPr>
          <p:nvPr>
            <p:ph type="subTitle" idx="1"/>
          </p:nvPr>
        </p:nvSpPr>
        <p:spPr>
          <a:xfrm>
            <a:off x="680322" y="4394039"/>
            <a:ext cx="8144134" cy="1117687"/>
          </a:xfrm>
        </p:spPr>
        <p:txBody>
          <a:bodyPr>
            <a:norm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8ABE3C1-DBE1-495D-B57B-2849774B866A}" type="datetimeFigureOut">
              <a:rPr lang="en-US" dirty="0"/>
              <a:t>3/23/2026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9255346" y="2750337"/>
            <a:ext cx="1171888" cy="1356442"/>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2DE42F4-6EEF-4EF7-8ED4-2208F0F89A08}" type="datetimeFigureOut">
              <a:rPr lang="en-US" dirty="0"/>
              <a:t>3/23/2026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086907"/>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4" y="4087901"/>
            <a:ext cx="1602997" cy="144270"/>
          </a:xfrm>
          <a:prstGeom prst="rect">
            <a:avLst/>
          </a:prstGeom>
        </p:spPr>
      </p:pic>
      <p:sp>
        <p:nvSpPr>
          <p:cNvPr id="9" name="Rectangle 8"/>
          <p:cNvSpPr/>
          <p:nvPr/>
        </p:nvSpPr>
        <p:spPr bwMode="ltGray">
          <a:xfrm>
            <a:off x="-2" y="2726267"/>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5" y="2726267"/>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2869895"/>
            <a:ext cx="9613860" cy="1090788"/>
          </a:xfrm>
        </p:spPr>
        <p:txBody>
          <a:bodyPr anchor="ctr">
            <a:normAutofit/>
          </a:bodyPr>
          <a:lstStyle>
            <a:lvl1pPr algn="r">
              <a:defRPr sz="3600"/>
            </a:lvl1pPr>
          </a:lstStyle>
          <a:p>
            <a:r>
              <a:rPr lang="en-US"/>
              <a:t>Click to edit Master title style</a:t>
            </a:r>
            <a:endParaRPr lang="en-US" dirty="0"/>
          </a:p>
        </p:txBody>
      </p:sp>
      <p:sp>
        <p:nvSpPr>
          <p:cNvPr id="3" name="Text Placeholder 2"/>
          <p:cNvSpPr>
            <a:spLocks noGrp="1"/>
          </p:cNvSpPr>
          <p:nvPr>
            <p:ph type="body" idx="1"/>
          </p:nvPr>
        </p:nvSpPr>
        <p:spPr>
          <a:xfrm>
            <a:off x="680322" y="4232171"/>
            <a:ext cx="9613860" cy="1704017"/>
          </a:xfrm>
        </p:spPr>
        <p:txBody>
          <a:bodyPr>
            <a:normAutofit/>
          </a:bodyPr>
          <a:lstStyle>
            <a:lvl1pPr marL="0" indent="0" algn="r">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0578ACC-22D6-47C1-A373-4FD133E34F3C}" type="datetimeFigureOut">
              <a:rPr lang="en-US" dirty="0"/>
              <a:t>3/23/2026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729455" y="2869895"/>
            <a:ext cx="1154151" cy="1090789"/>
          </a:xfrm>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0320" y="2336873"/>
            <a:ext cx="4698358"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594123" y="2336873"/>
            <a:ext cx="4700058"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E5A6C69-6797-4E8A-BF37-F2C3751466E9}" type="datetimeFigureOut">
              <a:rPr lang="en-US" dirty="0"/>
              <a:t>3/23/2026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1" name="Picture 10"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2" name="Rectangle 11"/>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753229"/>
            <a:ext cx="9613863" cy="1080937"/>
          </a:xfrm>
        </p:spPr>
        <p:txBody>
          <a:bodyPr/>
          <a:lstStyle/>
          <a:p>
            <a:r>
              <a:rPr lang="en-US"/>
              <a:t>Click to edit Master title style</a:t>
            </a:r>
            <a:endParaRPr lang="en-US" dirty="0"/>
          </a:p>
        </p:txBody>
      </p:sp>
      <p:sp>
        <p:nvSpPr>
          <p:cNvPr id="3" name="Text Placeholder 2"/>
          <p:cNvSpPr>
            <a:spLocks noGrp="1"/>
          </p:cNvSpPr>
          <p:nvPr>
            <p:ph type="body" idx="1"/>
          </p:nvPr>
        </p:nvSpPr>
        <p:spPr>
          <a:xfrm>
            <a:off x="906350" y="2336873"/>
            <a:ext cx="4472327" cy="69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0322" y="3030008"/>
            <a:ext cx="4698355"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820154" y="2336873"/>
            <a:ext cx="4474028" cy="69207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594123" y="3030008"/>
            <a:ext cx="4700059"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82014A1-A632-4878-A0D3-F52BA7563730}" type="datetimeFigureOut">
              <a:rPr lang="en-US" dirty="0"/>
              <a:t>3/23/2026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7" name="Picture 6"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8" name="Rectangle 7"/>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E99F462-093F-4566-844B-4C71F2739DA5}" type="datetimeFigureOut">
              <a:rPr lang="en-US" dirty="0"/>
              <a:t>3/23/2026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HD-ShadowShor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6" name="Rectangle 5"/>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3D24A7AC-904D-4781-85BA-7D10C17ED021}" type="datetimeFigureOut">
              <a:rPr lang="en-US" dirty="0"/>
              <a:t>3/23/2026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1" y="753227"/>
            <a:ext cx="9613859" cy="1080940"/>
          </a:xfrm>
        </p:spPr>
        <p:txBody>
          <a:bodyPr anchor="ct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4685846" y="2336873"/>
            <a:ext cx="5608336" cy="35993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0322" y="2336872"/>
            <a:ext cx="3790078" cy="359931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331444B-B92B-4E27-8C94-BB93EAF5CB18}" type="datetimeFigureOut">
              <a:rPr lang="en-US" dirty="0"/>
              <a:t>3/23/2026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3" y="753228"/>
            <a:ext cx="9613857" cy="1080938"/>
          </a:xfrm>
        </p:spPr>
        <p:txBody>
          <a:bodyPr anchor="ctr">
            <a:normAutofit/>
          </a:bodyPr>
          <a:lstStyle>
            <a:lvl1pPr>
              <a:defRPr sz="36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868333" y="2336874"/>
            <a:ext cx="5425849" cy="3599312"/>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0323" y="2336873"/>
            <a:ext cx="3876256" cy="3599315"/>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63EFA5E-FA76-400D-B3DC-F0BA90E6D107}" type="datetimeFigureOut">
              <a:rPr lang="en-US" dirty="0"/>
              <a:t>3/23/2026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4711616"/>
            <a:ext cx="9613859" cy="453051"/>
          </a:xfrm>
        </p:spPr>
        <p:txBody>
          <a:bodyPr anchor="b">
            <a:normAutofit/>
          </a:bodyPr>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0322" y="609597"/>
            <a:ext cx="9613859" cy="3589575"/>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0319" y="5169583"/>
            <a:ext cx="9613862" cy="62297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46C117F-5CCF-4837-BE5F-2B92066CAFAF}" type="datetimeFigureOut">
              <a:rPr lang="en-US" dirty="0"/>
              <a:t>3/23/2026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11309"/>
            <a:ext cx="1154151" cy="1090789"/>
          </a:xfrm>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609597"/>
            <a:ext cx="9613858" cy="3592750"/>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0322" y="4711615"/>
            <a:ext cx="9613859" cy="1090789"/>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EB90BD-B6CE-46B7-997F-7313B992CCDC}" type="datetimeFigureOut">
              <a:rPr lang="en-US" dirty="0"/>
              <a:t>3/23/2026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11615"/>
            <a:ext cx="1154151" cy="1090789"/>
          </a:xfrm>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3" name="Picture 12"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4" name="Rectangle 13"/>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127856" y="609598"/>
            <a:ext cx="8718877" cy="3036061"/>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402288" y="3653379"/>
            <a:ext cx="815657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0322" y="4711615"/>
            <a:ext cx="9613859" cy="1090789"/>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DB9D11F-B188-461D-B23F-39381795C052}" type="datetimeFigureOut">
              <a:rPr lang="en-US" dirty="0"/>
              <a:t>3/23/2026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09925"/>
            <a:ext cx="1154151" cy="1090789"/>
          </a:xfrm>
        </p:spPr>
        <p:txBody>
          <a:bodyPr/>
          <a:lstStyle/>
          <a:p>
            <a:fld id="{6D22F896-40B5-4ADD-8801-0D06FADFA095}" type="slidenum">
              <a:rPr lang="en-US" dirty="0"/>
              <a:t>‹#›</a:t>
            </a:fld>
            <a:endParaRPr lang="en-US" dirty="0"/>
          </a:p>
        </p:txBody>
      </p:sp>
      <p:sp>
        <p:nvSpPr>
          <p:cNvPr id="16" name="TextBox 15"/>
          <p:cNvSpPr txBox="1"/>
          <p:nvPr/>
        </p:nvSpPr>
        <p:spPr>
          <a:xfrm>
            <a:off x="583572" y="74811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200" dirty="0">
                <a:solidFill>
                  <a:schemeClr val="tx1"/>
                </a:solidFill>
                <a:effectLst/>
                <a:latin typeface="Calibri Light" panose="020F0302020204030204" pitchFamily="34" charset="0"/>
              </a:rPr>
              <a:t>“</a:t>
            </a:r>
          </a:p>
        </p:txBody>
      </p:sp>
      <p:sp>
        <p:nvSpPr>
          <p:cNvPr id="17" name="TextBox 16"/>
          <p:cNvSpPr txBox="1"/>
          <p:nvPr/>
        </p:nvSpPr>
        <p:spPr>
          <a:xfrm>
            <a:off x="9662809" y="30335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200" dirty="0">
                <a:solidFill>
                  <a:schemeClr val="tx1"/>
                </a:solidFill>
                <a:effectLst/>
                <a:latin typeface="Calibri Light" panose="020F0302020204030204" pitchFamily="34" charset="0"/>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9" name="Picture 8"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0" name="Picture 9"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1" name="Rectangle 10"/>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4711615"/>
            <a:ext cx="9613862" cy="5885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0320" y="5300149"/>
            <a:ext cx="9613862" cy="50225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2E6D8D9-55A2-4063-B0F3-121F44549695}" type="datetimeFigureOut">
              <a:rPr lang="en-US" dirty="0"/>
              <a:t>3/23/2026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09925"/>
            <a:ext cx="1154151" cy="1090789"/>
          </a:xfrm>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4" name="Picture 13"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6" name="Rectangle 15"/>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Title 1"/>
          <p:cNvSpPr>
            <a:spLocks noGrp="1"/>
          </p:cNvSpPr>
          <p:nvPr>
            <p:ph type="title"/>
          </p:nvPr>
        </p:nvSpPr>
        <p:spPr>
          <a:xfrm>
            <a:off x="669222" y="753228"/>
            <a:ext cx="9624960" cy="1080938"/>
          </a:xfrm>
        </p:spPr>
        <p:txBody>
          <a:bodyPr/>
          <a:lstStyle/>
          <a:p>
            <a:r>
              <a:rPr lang="en-US"/>
              <a:t>Click to edit Master title style</a:t>
            </a:r>
            <a:endParaRPr lang="en-US" dirty="0"/>
          </a:p>
        </p:txBody>
      </p:sp>
      <p:sp>
        <p:nvSpPr>
          <p:cNvPr id="7" name="Text Placeholder 2"/>
          <p:cNvSpPr>
            <a:spLocks noGrp="1"/>
          </p:cNvSpPr>
          <p:nvPr>
            <p:ph type="body" idx="1"/>
          </p:nvPr>
        </p:nvSpPr>
        <p:spPr>
          <a:xfrm>
            <a:off x="660946" y="2336873"/>
            <a:ext cx="3070034"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0322" y="3022673"/>
            <a:ext cx="3049702"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956025" y="233687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945470" y="3022673"/>
            <a:ext cx="306324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224156" y="2336873"/>
            <a:ext cx="307002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224156" y="3022673"/>
            <a:ext cx="3070025"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D4B24536-994D-4021-A283-9F449C0DB509}" type="datetimeFigureOut">
              <a:rPr lang="en-US" dirty="0"/>
              <a:t>3/23/2026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Title 1"/>
          <p:cNvSpPr>
            <a:spLocks noGrp="1"/>
          </p:cNvSpPr>
          <p:nvPr>
            <p:ph type="title"/>
          </p:nvPr>
        </p:nvSpPr>
        <p:spPr>
          <a:xfrm>
            <a:off x="680322" y="753228"/>
            <a:ext cx="9613860" cy="1080938"/>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0318" y="4297503"/>
            <a:ext cx="30497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0318" y="2336873"/>
            <a:ext cx="30497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0318" y="4873765"/>
            <a:ext cx="3049705"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945471" y="429750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945470" y="2336873"/>
            <a:ext cx="3063240"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944117" y="4873764"/>
            <a:ext cx="3067297"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230678" y="4297503"/>
            <a:ext cx="30635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230677" y="2336873"/>
            <a:ext cx="30635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230553" y="4873762"/>
            <a:ext cx="3067563"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CBBBB78-C96F-47B7-AB17-D852CA960AC9}" type="datetimeFigureOut">
              <a:rPr lang="en-US" dirty="0"/>
              <a:t>3/23/2026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9" name="Rectangle 8"/>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lvl1pPr algn="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FA3F48C-C7C6-4055-9F49-3777875E72AE}" type="datetimeFigureOut">
              <a:rPr lang="en-US" dirty="0"/>
              <a:t>3/23/2026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bwMode="ltGray">
          <a:xfrm rot="5400000">
            <a:off x="8116207" y="1869395"/>
            <a:ext cx="5106988"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rot="5400000">
            <a:off x="9868202" y="5372403"/>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10129231" y="609597"/>
            <a:ext cx="1073802" cy="435376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0322" y="609597"/>
            <a:ext cx="8870004" cy="53265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807126" y="5936187"/>
            <a:ext cx="2743200" cy="365125"/>
          </a:xfrm>
        </p:spPr>
        <p:txBody>
          <a:bodyPr/>
          <a:lstStyle/>
          <a:p>
            <a:fld id="{6178E61D-D431-422C-9764-11DAFE33AB63}" type="datetimeFigureOut">
              <a:rPr lang="en-US" dirty="0"/>
              <a:t>3/23/2026</a:t>
            </a:fld>
            <a:endParaRPr lang="en-US" dirty="0"/>
          </a:p>
        </p:txBody>
      </p:sp>
      <p:sp>
        <p:nvSpPr>
          <p:cNvPr id="5" name="Footer Placeholder 4"/>
          <p:cNvSpPr>
            <a:spLocks noGrp="1"/>
          </p:cNvSpPr>
          <p:nvPr>
            <p:ph type="ftr" sz="quarter" idx="11"/>
          </p:nvPr>
        </p:nvSpPr>
        <p:spPr>
          <a:xfrm>
            <a:off x="680321" y="5936188"/>
            <a:ext cx="6126805" cy="365125"/>
          </a:xfrm>
        </p:spPr>
        <p:txBody>
          <a:bodyPr/>
          <a:lstStyle/>
          <a:p>
            <a:endParaRPr lang="en-US" dirty="0"/>
          </a:p>
        </p:txBody>
      </p:sp>
      <p:sp>
        <p:nvSpPr>
          <p:cNvPr id="6" name="Slide Number Placeholder 5"/>
          <p:cNvSpPr>
            <a:spLocks noGrp="1"/>
          </p:cNvSpPr>
          <p:nvPr>
            <p:ph type="sldNum" sz="quarter" idx="12"/>
          </p:nvPr>
        </p:nvSpPr>
        <p:spPr>
          <a:xfrm>
            <a:off x="10097550" y="5398633"/>
            <a:ext cx="1154151" cy="1090789"/>
          </a:xfrm>
        </p:spPr>
        <p:txBody>
          <a:bodyPr anchor="t"/>
          <a:lstStyle>
            <a:lvl1pPr algn="ctr">
              <a:defRPr/>
            </a:lvl1pPr>
          </a:lstStyle>
          <a:p>
            <a:fld id="{6D22F896-40B5-4ADD-8801-0D06FADFA09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6" descr="hashOverlay-FullResolve.png"/>
          <p:cNvPicPr>
            <a:picLocks noChangeAspect="1"/>
          </p:cNvPicPr>
          <p:nvPr/>
        </p:nvPicPr>
        <p:blipFill>
          <a:blip r:embed="rId19">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p:cNvSpPr>
            <a:spLocks noGrp="1"/>
          </p:cNvSpPr>
          <p:nvPr>
            <p:ph type="title"/>
          </p:nvPr>
        </p:nvSpPr>
        <p:spPr>
          <a:xfrm>
            <a:off x="680321" y="753228"/>
            <a:ext cx="9613861" cy="1080938"/>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80321" y="2336873"/>
            <a:ext cx="9613861" cy="3599316"/>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550981" y="5936187"/>
            <a:ext cx="2743200" cy="365125"/>
          </a:xfrm>
          <a:prstGeom prst="rect">
            <a:avLst/>
          </a:prstGeom>
        </p:spPr>
        <p:txBody>
          <a:bodyPr vert="horz" lIns="91440" tIns="45720" rIns="91440" bIns="45720" rtlCol="0" anchor="ctr"/>
          <a:lstStyle>
            <a:lvl1pPr algn="r">
              <a:defRPr sz="1050">
                <a:solidFill>
                  <a:schemeClr val="tx1">
                    <a:tint val="75000"/>
                  </a:schemeClr>
                </a:solidFill>
                <a:latin typeface="Calibri Light" panose="020F0302020204030204" pitchFamily="34" charset="0"/>
              </a:defRPr>
            </a:lvl1pPr>
          </a:lstStyle>
          <a:p>
            <a:fld id="{9D6E9DEC-419B-4CC5-A080-3B06BD5A8291}" type="datetimeFigureOut">
              <a:rPr lang="en-US" smtClean="0"/>
              <a:pPr/>
              <a:t>3/23/2026</a:t>
            </a:fld>
            <a:endParaRPr lang="en-US" dirty="0"/>
          </a:p>
        </p:txBody>
      </p:sp>
      <p:sp>
        <p:nvSpPr>
          <p:cNvPr id="5" name="Footer Placeholder 4"/>
          <p:cNvSpPr>
            <a:spLocks noGrp="1"/>
          </p:cNvSpPr>
          <p:nvPr>
            <p:ph type="ftr" sz="quarter" idx="3"/>
          </p:nvPr>
        </p:nvSpPr>
        <p:spPr>
          <a:xfrm>
            <a:off x="680321" y="5936188"/>
            <a:ext cx="6870660" cy="365125"/>
          </a:xfrm>
          <a:prstGeom prst="rect">
            <a:avLst/>
          </a:prstGeom>
        </p:spPr>
        <p:txBody>
          <a:bodyPr vert="horz" lIns="91440" tIns="45720" rIns="91440" bIns="45720" rtlCol="0" anchor="ctr"/>
          <a:lstStyle>
            <a:lvl1pPr algn="l">
              <a:defRPr sz="1050">
                <a:solidFill>
                  <a:schemeClr val="tx1">
                    <a:tint val="75000"/>
                  </a:schemeClr>
                </a:solidFill>
                <a:latin typeface="Calibri Light" panose="020F0302020204030204" pitchFamily="34" charset="0"/>
              </a:defRPr>
            </a:lvl1pPr>
          </a:lstStyle>
          <a:p>
            <a:endParaRPr lang="en-US" dirty="0"/>
          </a:p>
        </p:txBody>
      </p:sp>
      <p:sp>
        <p:nvSpPr>
          <p:cNvPr id="6" name="Slide Number Placeholder 5"/>
          <p:cNvSpPr>
            <a:spLocks noGrp="1"/>
          </p:cNvSpPr>
          <p:nvPr>
            <p:ph type="sldNum" sz="quarter" idx="4"/>
          </p:nvPr>
        </p:nvSpPr>
        <p:spPr>
          <a:xfrm>
            <a:off x="10729455" y="753227"/>
            <a:ext cx="1154151" cy="1090789"/>
          </a:xfrm>
          <a:prstGeom prst="rect">
            <a:avLst/>
          </a:prstGeom>
        </p:spPr>
        <p:txBody>
          <a:bodyPr vert="horz" lIns="91440" tIns="45720" rIns="91440" bIns="45720" rtlCol="0" anchor="ctr"/>
          <a:lstStyle>
            <a:lvl1pPr algn="l">
              <a:defRPr sz="3600">
                <a:solidFill>
                  <a:schemeClr val="tx1">
                    <a:tint val="75000"/>
                  </a:schemeClr>
                </a:solidFill>
                <a:latin typeface="Calibri Light" panose="020F0302020204030204" pitchFamily="34" charset="0"/>
              </a:defRPr>
            </a:lvl1pPr>
          </a:lstStyle>
          <a:p>
            <a:fld id="{6D22F896-40B5-4ADD-8801-0D06FADFA095}" type="slidenum">
              <a:rPr lang="en-US" smtClean="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hf sldNum="0" hdr="0" ftr="0" dt="0"/>
  <p:txStyles>
    <p:titleStyle>
      <a:lvl1pPr algn="l" defTabSz="914400" rtl="0" eaLnBrk="1" latinLnBrk="0" hangingPunct="1">
        <a:lnSpc>
          <a:spcPct val="90000"/>
        </a:lnSpc>
        <a:spcBef>
          <a:spcPct val="0"/>
        </a:spcBef>
        <a:buNone/>
        <a:defRPr sz="3600" kern="1200">
          <a:solidFill>
            <a:schemeClr val="tx1"/>
          </a:solidFill>
          <a:latin typeface="Calibri Light" panose="020F030202020403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Calibri Light" panose="020F03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alibri Light" panose="020F03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libri Light" panose="020F03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alibri Light" panose="020F03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Calibri Light" panose="020F03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luu.p.loi@googlemail.com"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hyperlink" Target="mailto:luu.p.loi@googlemail.co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17FB32-797D-8DEC-39AC-7E7BF460B989}"/>
              </a:ext>
            </a:extLst>
          </p:cNvPr>
          <p:cNvSpPr>
            <a:spLocks noGrp="1"/>
          </p:cNvSpPr>
          <p:nvPr>
            <p:ph type="ctrTitle"/>
          </p:nvPr>
        </p:nvSpPr>
        <p:spPr/>
        <p:txBody>
          <a:bodyPr/>
          <a:lstStyle/>
          <a:p>
            <a:r>
              <a:rPr lang="en-AU" b="1" dirty="0" err="1">
                <a:latin typeface="Calibri Light" panose="020F0302020204030204" pitchFamily="34" charset="0"/>
                <a:ea typeface="Calibri Light" panose="020F0302020204030204" pitchFamily="34" charset="0"/>
                <a:cs typeface="Calibri Light" panose="020F0302020204030204" pitchFamily="34" charset="0"/>
              </a:rPr>
              <a:t>Xác</a:t>
            </a:r>
            <a:r>
              <a:rPr lang="en-AU" b="1" dirty="0">
                <a:latin typeface="Calibri Light" panose="020F0302020204030204" pitchFamily="34" charset="0"/>
                <a:ea typeface="Calibri Light" panose="020F0302020204030204" pitchFamily="34" charset="0"/>
                <a:cs typeface="Calibri Light" panose="020F0302020204030204" pitchFamily="34" charset="0"/>
              </a:rPr>
              <a:t> </a:t>
            </a:r>
            <a:r>
              <a:rPr lang="en-AU" b="1" dirty="0" err="1">
                <a:latin typeface="Calibri Light" panose="020F0302020204030204" pitchFamily="34" charset="0"/>
                <a:ea typeface="Calibri Light" panose="020F0302020204030204" pitchFamily="34" charset="0"/>
                <a:cs typeface="Calibri Light" panose="020F0302020204030204" pitchFamily="34" charset="0"/>
              </a:rPr>
              <a:t>định</a:t>
            </a:r>
            <a:r>
              <a:rPr lang="en-AU" b="1" dirty="0">
                <a:latin typeface="Calibri Light" panose="020F0302020204030204" pitchFamily="34" charset="0"/>
                <a:ea typeface="Calibri Light" panose="020F0302020204030204" pitchFamily="34" charset="0"/>
                <a:cs typeface="Calibri Light" panose="020F0302020204030204" pitchFamily="34" charset="0"/>
              </a:rPr>
              <a:t> </a:t>
            </a:r>
            <a:r>
              <a:rPr lang="en-AU" b="1" dirty="0" err="1">
                <a:latin typeface="Calibri Light" panose="020F0302020204030204" pitchFamily="34" charset="0"/>
                <a:ea typeface="Calibri Light" panose="020F0302020204030204" pitchFamily="34" charset="0"/>
                <a:cs typeface="Calibri Light" panose="020F0302020204030204" pitchFamily="34" charset="0"/>
              </a:rPr>
              <a:t>vấn</a:t>
            </a:r>
            <a:r>
              <a:rPr lang="en-AU" b="1" dirty="0">
                <a:latin typeface="Calibri Light" panose="020F0302020204030204" pitchFamily="34" charset="0"/>
                <a:ea typeface="Calibri Light" panose="020F0302020204030204" pitchFamily="34" charset="0"/>
                <a:cs typeface="Calibri Light" panose="020F0302020204030204" pitchFamily="34" charset="0"/>
              </a:rPr>
              <a:t> </a:t>
            </a:r>
            <a:r>
              <a:rPr lang="en-AU" b="1" dirty="0" err="1">
                <a:latin typeface="Calibri Light" panose="020F0302020204030204" pitchFamily="34" charset="0"/>
                <a:ea typeface="Calibri Light" panose="020F0302020204030204" pitchFamily="34" charset="0"/>
                <a:cs typeface="Calibri Light" panose="020F0302020204030204" pitchFamily="34" charset="0"/>
              </a:rPr>
              <a:t>đề</a:t>
            </a:r>
            <a:r>
              <a:rPr lang="en-AU" b="1" dirty="0">
                <a:latin typeface="Calibri Light" panose="020F0302020204030204" pitchFamily="34" charset="0"/>
                <a:ea typeface="Calibri Light" panose="020F0302020204030204" pitchFamily="34" charset="0"/>
                <a:cs typeface="Calibri Light" panose="020F0302020204030204" pitchFamily="34" charset="0"/>
              </a:rPr>
              <a:t> </a:t>
            </a:r>
            <a:r>
              <a:rPr lang="en-AU" b="1" dirty="0" err="1">
                <a:latin typeface="Calibri Light" panose="020F0302020204030204" pitchFamily="34" charset="0"/>
                <a:ea typeface="Calibri Light" panose="020F0302020204030204" pitchFamily="34" charset="0"/>
                <a:cs typeface="Calibri Light" panose="020F0302020204030204" pitchFamily="34" charset="0"/>
              </a:rPr>
              <a:t>nghiên</a:t>
            </a:r>
            <a:r>
              <a:rPr lang="en-AU" b="1" dirty="0">
                <a:latin typeface="Calibri Light" panose="020F0302020204030204" pitchFamily="34" charset="0"/>
                <a:ea typeface="Calibri Light" panose="020F0302020204030204" pitchFamily="34" charset="0"/>
                <a:cs typeface="Calibri Light" panose="020F0302020204030204" pitchFamily="34" charset="0"/>
              </a:rPr>
              <a:t> </a:t>
            </a:r>
            <a:r>
              <a:rPr lang="en-AU" b="1" dirty="0" err="1">
                <a:latin typeface="Calibri Light" panose="020F0302020204030204" pitchFamily="34" charset="0"/>
                <a:ea typeface="Calibri Light" panose="020F0302020204030204" pitchFamily="34" charset="0"/>
                <a:cs typeface="Calibri Light" panose="020F0302020204030204" pitchFamily="34" charset="0"/>
              </a:rPr>
              <a:t>cứu</a:t>
            </a:r>
            <a:r>
              <a:rPr lang="en-AU" b="1" dirty="0">
                <a:latin typeface="Calibri Light" panose="020F0302020204030204" pitchFamily="34" charset="0"/>
                <a:ea typeface="Calibri Light" panose="020F0302020204030204" pitchFamily="34" charset="0"/>
                <a:cs typeface="Calibri Light" panose="020F0302020204030204" pitchFamily="34" charset="0"/>
              </a:rPr>
              <a:t> </a:t>
            </a:r>
            <a:r>
              <a:rPr lang="en-AU" b="1" dirty="0" err="1">
                <a:latin typeface="Calibri Light" panose="020F0302020204030204" pitchFamily="34" charset="0"/>
                <a:ea typeface="Calibri Light" panose="020F0302020204030204" pitchFamily="34" charset="0"/>
                <a:cs typeface="Calibri Light" panose="020F0302020204030204" pitchFamily="34" charset="0"/>
              </a:rPr>
              <a:t>và</a:t>
            </a:r>
            <a:r>
              <a:rPr lang="en-AU" b="1" dirty="0">
                <a:latin typeface="Calibri Light" panose="020F0302020204030204" pitchFamily="34" charset="0"/>
                <a:ea typeface="Calibri Light" panose="020F0302020204030204" pitchFamily="34" charset="0"/>
                <a:cs typeface="Calibri Light" panose="020F0302020204030204" pitchFamily="34" charset="0"/>
              </a:rPr>
              <a:t> </a:t>
            </a:r>
            <a:r>
              <a:rPr lang="en-AU" b="1" dirty="0" err="1">
                <a:latin typeface="Calibri Light" panose="020F0302020204030204" pitchFamily="34" charset="0"/>
                <a:ea typeface="Calibri Light" panose="020F0302020204030204" pitchFamily="34" charset="0"/>
                <a:cs typeface="Calibri Light" panose="020F0302020204030204" pitchFamily="34" charset="0"/>
              </a:rPr>
              <a:t>Thiết</a:t>
            </a:r>
            <a:r>
              <a:rPr lang="en-AU" b="1" dirty="0">
                <a:latin typeface="Calibri Light" panose="020F0302020204030204" pitchFamily="34" charset="0"/>
                <a:ea typeface="Calibri Light" panose="020F0302020204030204" pitchFamily="34" charset="0"/>
                <a:cs typeface="Calibri Light" panose="020F0302020204030204" pitchFamily="34" charset="0"/>
              </a:rPr>
              <a:t> </a:t>
            </a:r>
            <a:r>
              <a:rPr lang="en-AU" b="1" dirty="0" err="1">
                <a:latin typeface="Calibri Light" panose="020F0302020204030204" pitchFamily="34" charset="0"/>
                <a:ea typeface="Calibri Light" panose="020F0302020204030204" pitchFamily="34" charset="0"/>
                <a:cs typeface="Calibri Light" panose="020F0302020204030204" pitchFamily="34" charset="0"/>
              </a:rPr>
              <a:t>kế</a:t>
            </a:r>
            <a:r>
              <a:rPr lang="en-AU" b="1" dirty="0">
                <a:latin typeface="Calibri Light" panose="020F0302020204030204" pitchFamily="34" charset="0"/>
                <a:ea typeface="Calibri Light" panose="020F0302020204030204" pitchFamily="34" charset="0"/>
                <a:cs typeface="Calibri Light" panose="020F0302020204030204" pitchFamily="34" charset="0"/>
              </a:rPr>
              <a:t> </a:t>
            </a:r>
            <a:r>
              <a:rPr lang="en-AU" b="1" dirty="0" err="1">
                <a:latin typeface="Calibri Light" panose="020F0302020204030204" pitchFamily="34" charset="0"/>
                <a:ea typeface="Calibri Light" panose="020F0302020204030204" pitchFamily="34" charset="0"/>
                <a:cs typeface="Calibri Light" panose="020F0302020204030204" pitchFamily="34" charset="0"/>
              </a:rPr>
              <a:t>nghiên</a:t>
            </a:r>
            <a:r>
              <a:rPr lang="en-AU" b="1" dirty="0">
                <a:latin typeface="Calibri Light" panose="020F0302020204030204" pitchFamily="34" charset="0"/>
                <a:ea typeface="Calibri Light" panose="020F0302020204030204" pitchFamily="34" charset="0"/>
                <a:cs typeface="Calibri Light" panose="020F0302020204030204" pitchFamily="34" charset="0"/>
              </a:rPr>
              <a:t> </a:t>
            </a:r>
            <a:r>
              <a:rPr lang="en-AU" b="1" dirty="0" err="1">
                <a:latin typeface="Calibri Light" panose="020F0302020204030204" pitchFamily="34" charset="0"/>
                <a:ea typeface="Calibri Light" panose="020F0302020204030204" pitchFamily="34" charset="0"/>
                <a:cs typeface="Calibri Light" panose="020F0302020204030204" pitchFamily="34" charset="0"/>
              </a:rPr>
              <a:t>cứu</a:t>
            </a:r>
            <a:endParaRPr lang="en-AU" b="1"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4" name="Subtitle 2">
            <a:extLst>
              <a:ext uri="{FF2B5EF4-FFF2-40B4-BE49-F238E27FC236}">
                <a16:creationId xmlns:a16="http://schemas.microsoft.com/office/drawing/2014/main" id="{2639607D-79AD-DE38-1627-ADCAF04741A1}"/>
              </a:ext>
            </a:extLst>
          </p:cNvPr>
          <p:cNvSpPr>
            <a:spLocks noGrp="1"/>
          </p:cNvSpPr>
          <p:nvPr>
            <p:ph type="subTitle" idx="1"/>
          </p:nvPr>
        </p:nvSpPr>
        <p:spPr>
          <a:xfrm>
            <a:off x="681038" y="4394200"/>
            <a:ext cx="8143875" cy="1117600"/>
          </a:xfrm>
        </p:spPr>
        <p:txBody>
          <a:bodyPr>
            <a:noAutofit/>
          </a:bodyPr>
          <a:lstStyle/>
          <a:p>
            <a:pPr algn="r"/>
            <a:r>
              <a:rPr lang="en-US" sz="1800" dirty="0" err="1"/>
              <a:t>Ngày</a:t>
            </a:r>
            <a:r>
              <a:rPr lang="en-US" sz="1800" dirty="0"/>
              <a:t> 22 </a:t>
            </a:r>
            <a:r>
              <a:rPr lang="en-US" sz="1800" dirty="0" err="1"/>
              <a:t>tháng</a:t>
            </a:r>
            <a:r>
              <a:rPr lang="en-US" sz="1800" dirty="0"/>
              <a:t> 03 </a:t>
            </a:r>
            <a:r>
              <a:rPr lang="en-US" sz="1800" dirty="0" err="1"/>
              <a:t>năm</a:t>
            </a:r>
            <a:r>
              <a:rPr lang="en-US" sz="1800" dirty="0"/>
              <a:t> 2026</a:t>
            </a:r>
          </a:p>
          <a:p>
            <a:pPr algn="r"/>
            <a:r>
              <a:rPr lang="en-US" sz="1800" dirty="0"/>
              <a:t>TS. Lưu Phúc Lợi</a:t>
            </a:r>
          </a:p>
          <a:p>
            <a:pPr algn="r"/>
            <a:r>
              <a:rPr lang="en-US" sz="1800" dirty="0"/>
              <a:t>Email: </a:t>
            </a:r>
            <a:r>
              <a:rPr lang="en-US" sz="1800" dirty="0">
                <a:hlinkClick r:id="rId2"/>
              </a:rPr>
              <a:t>luu.p.loi@googlemail.com</a:t>
            </a:r>
            <a:endParaRPr lang="en-US" sz="1800" dirty="0"/>
          </a:p>
          <a:p>
            <a:pPr algn="r"/>
            <a:r>
              <a:rPr lang="en-US" sz="1800" dirty="0" err="1"/>
              <a:t>Zalo</a:t>
            </a:r>
            <a:r>
              <a:rPr lang="en-US" sz="1800" dirty="0"/>
              <a:t>: 0901802182</a:t>
            </a:r>
          </a:p>
        </p:txBody>
      </p:sp>
      <p:sp>
        <p:nvSpPr>
          <p:cNvPr id="6" name="TextBox 5">
            <a:extLst>
              <a:ext uri="{FF2B5EF4-FFF2-40B4-BE49-F238E27FC236}">
                <a16:creationId xmlns:a16="http://schemas.microsoft.com/office/drawing/2014/main" id="{000E08F3-BEDF-F08E-76F9-FE427100A71D}"/>
              </a:ext>
            </a:extLst>
          </p:cNvPr>
          <p:cNvSpPr txBox="1"/>
          <p:nvPr/>
        </p:nvSpPr>
        <p:spPr>
          <a:xfrm>
            <a:off x="680321" y="976868"/>
            <a:ext cx="10935329" cy="584775"/>
          </a:xfrm>
          <a:prstGeom prst="rect">
            <a:avLst/>
          </a:prstGeom>
          <a:noFill/>
        </p:spPr>
        <p:txBody>
          <a:bodyPr wrap="square">
            <a:spAutoFit/>
          </a:bodyPr>
          <a:lstStyle/>
          <a:p>
            <a:pPr algn="ctr"/>
            <a:r>
              <a:rPr lang="vi-VN" sz="3200" b="1" dirty="0">
                <a:latin typeface="Calibri Light" panose="020F0302020204030204" pitchFamily="34" charset="0"/>
              </a:rPr>
              <a:t>Nghiên cứu không bắt đầu từ Lab, nó bắt đầu từ tư duy.</a:t>
            </a:r>
            <a:endParaRPr lang="en-AU" sz="3200" b="1" dirty="0">
              <a:latin typeface="Calibri Light" panose="020F0302020204030204" pitchFamily="34" charset="0"/>
            </a:endParaRPr>
          </a:p>
        </p:txBody>
      </p:sp>
    </p:spTree>
    <p:extLst>
      <p:ext uri="{BB962C8B-B14F-4D97-AF65-F5344CB8AC3E}">
        <p14:creationId xmlns:p14="http://schemas.microsoft.com/office/powerpoint/2010/main" val="23915812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455F0-6A23-D5B2-3EC2-5E898468DB57}"/>
              </a:ext>
            </a:extLst>
          </p:cNvPr>
          <p:cNvSpPr>
            <a:spLocks noGrp="1"/>
          </p:cNvSpPr>
          <p:nvPr>
            <p:ph type="title"/>
          </p:nvPr>
        </p:nvSpPr>
        <p:spPr/>
        <p:txBody>
          <a:bodyPr>
            <a:normAutofit/>
          </a:bodyPr>
          <a:lstStyle/>
          <a:p>
            <a:r>
              <a:rPr lang="en-AU" sz="4800" b="1" dirty="0" err="1">
                <a:latin typeface="Calibri Light" panose="020F0302020204030204" pitchFamily="34" charset="0"/>
                <a:ea typeface="Calibri Light" panose="020F0302020204030204" pitchFamily="34" charset="0"/>
                <a:cs typeface="Calibri Light" panose="020F0302020204030204" pitchFamily="34" charset="0"/>
              </a:rPr>
              <a:t>Mục</a:t>
            </a:r>
            <a:r>
              <a:rPr lang="en-AU" sz="4800" b="1" dirty="0">
                <a:latin typeface="Calibri Light" panose="020F0302020204030204" pitchFamily="34" charset="0"/>
                <a:ea typeface="Calibri Light" panose="020F0302020204030204" pitchFamily="34" charset="0"/>
                <a:cs typeface="Calibri Light" panose="020F0302020204030204" pitchFamily="34" charset="0"/>
              </a:rPr>
              <a:t> </a:t>
            </a:r>
            <a:r>
              <a:rPr lang="en-AU" sz="4800" b="1" dirty="0" err="1">
                <a:latin typeface="Calibri Light" panose="020F0302020204030204" pitchFamily="34" charset="0"/>
                <a:ea typeface="Calibri Light" panose="020F0302020204030204" pitchFamily="34" charset="0"/>
                <a:cs typeface="Calibri Light" panose="020F0302020204030204" pitchFamily="34" charset="0"/>
              </a:rPr>
              <a:t>tiêu</a:t>
            </a:r>
            <a:endParaRPr lang="en-AU" sz="4800" b="1"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3" name="Content Placeholder 2">
            <a:extLst>
              <a:ext uri="{FF2B5EF4-FFF2-40B4-BE49-F238E27FC236}">
                <a16:creationId xmlns:a16="http://schemas.microsoft.com/office/drawing/2014/main" id="{F10B2092-036B-85C5-5D03-9AC32C8303AB}"/>
              </a:ext>
            </a:extLst>
          </p:cNvPr>
          <p:cNvSpPr>
            <a:spLocks noGrp="1"/>
          </p:cNvSpPr>
          <p:nvPr>
            <p:ph idx="1"/>
          </p:nvPr>
        </p:nvSpPr>
        <p:spPr/>
        <p:txBody>
          <a:bodyPr>
            <a:normAutofit/>
          </a:bodyPr>
          <a:lstStyle/>
          <a:p>
            <a:pPr marL="0" indent="0">
              <a:buNone/>
            </a:pPr>
            <a:r>
              <a:rPr lang="vi-VN" sz="3200" b="1" dirty="0">
                <a:latin typeface="Calibri Light" panose="020F0302020204030204" pitchFamily="34" charset="0"/>
                <a:ea typeface="Calibri Light" panose="020F0302020204030204" pitchFamily="34" charset="0"/>
                <a:cs typeface="Calibri Light" panose="020F0302020204030204" pitchFamily="34" charset="0"/>
              </a:rPr>
              <a:t>Sau </a:t>
            </a:r>
            <a:r>
              <a:rPr lang="en-GB" sz="3200" b="1" dirty="0" err="1">
                <a:latin typeface="Calibri Light" panose="020F0302020204030204" pitchFamily="34" charset="0"/>
                <a:ea typeface="Calibri Light" panose="020F0302020204030204" pitchFamily="34" charset="0"/>
                <a:cs typeface="Calibri Light" panose="020F0302020204030204" pitchFamily="34" charset="0"/>
              </a:rPr>
              <a:t>bài</a:t>
            </a:r>
            <a:r>
              <a:rPr lang="en-GB" sz="3200" b="1" dirty="0">
                <a:latin typeface="Calibri Light" panose="020F0302020204030204" pitchFamily="34" charset="0"/>
                <a:ea typeface="Calibri Light" panose="020F0302020204030204" pitchFamily="34" charset="0"/>
                <a:cs typeface="Calibri Light" panose="020F0302020204030204" pitchFamily="34" charset="0"/>
              </a:rPr>
              <a:t> </a:t>
            </a:r>
            <a:r>
              <a:rPr lang="en-GB" sz="3200" b="1" dirty="0" err="1">
                <a:latin typeface="Calibri Light" panose="020F0302020204030204" pitchFamily="34" charset="0"/>
                <a:ea typeface="Calibri Light" panose="020F0302020204030204" pitchFamily="34" charset="0"/>
                <a:cs typeface="Calibri Light" panose="020F0302020204030204" pitchFamily="34" charset="0"/>
              </a:rPr>
              <a:t>học</a:t>
            </a:r>
            <a:r>
              <a:rPr lang="en-GB" sz="3200" b="1" dirty="0">
                <a:latin typeface="Calibri Light" panose="020F0302020204030204" pitchFamily="34" charset="0"/>
                <a:ea typeface="Calibri Light" panose="020F0302020204030204" pitchFamily="34" charset="0"/>
                <a:cs typeface="Calibri Light" panose="020F0302020204030204" pitchFamily="34" charset="0"/>
              </a:rPr>
              <a:t> </a:t>
            </a:r>
            <a:r>
              <a:rPr lang="en-GB" sz="3200" b="1" dirty="0" err="1">
                <a:latin typeface="Calibri Light" panose="020F0302020204030204" pitchFamily="34" charset="0"/>
                <a:ea typeface="Calibri Light" panose="020F0302020204030204" pitchFamily="34" charset="0"/>
                <a:cs typeface="Calibri Light" panose="020F0302020204030204" pitchFamily="34" charset="0"/>
              </a:rPr>
              <a:t>này</a:t>
            </a:r>
            <a:r>
              <a:rPr lang="vi-VN" sz="3200" b="1" dirty="0">
                <a:latin typeface="Calibri Light" panose="020F0302020204030204" pitchFamily="34" charset="0"/>
                <a:ea typeface="Calibri Light" panose="020F0302020204030204" pitchFamily="34" charset="0"/>
                <a:cs typeface="Calibri Light" panose="020F0302020204030204" pitchFamily="34" charset="0"/>
              </a:rPr>
              <a:t>, sinh viên sẽ: </a:t>
            </a:r>
            <a:endParaRPr lang="en-GB" sz="3200" b="1" dirty="0">
              <a:latin typeface="Calibri Light" panose="020F0302020204030204" pitchFamily="34" charset="0"/>
              <a:ea typeface="Calibri Light" panose="020F0302020204030204" pitchFamily="34" charset="0"/>
              <a:cs typeface="Calibri Light" panose="020F0302020204030204" pitchFamily="34" charset="0"/>
            </a:endParaRPr>
          </a:p>
          <a:p>
            <a:pPr marL="457200" indent="-457200">
              <a:buAutoNum type="arabicParenBoth"/>
            </a:pPr>
            <a:r>
              <a:rPr lang="en-GB" sz="3200" b="1" dirty="0">
                <a:latin typeface="Calibri Light" panose="020F0302020204030204" pitchFamily="34" charset="0"/>
                <a:ea typeface="Calibri Light" panose="020F0302020204030204" pitchFamily="34" charset="0"/>
                <a:cs typeface="Calibri Light" panose="020F0302020204030204" pitchFamily="34" charset="0"/>
              </a:rPr>
              <a:t> </a:t>
            </a:r>
            <a:r>
              <a:rPr lang="vi-VN" sz="3200" b="1" dirty="0">
                <a:latin typeface="Calibri Light" panose="020F0302020204030204" pitchFamily="34" charset="0"/>
                <a:ea typeface="Calibri Light" panose="020F0302020204030204" pitchFamily="34" charset="0"/>
                <a:cs typeface="Calibri Light" panose="020F0302020204030204" pitchFamily="34" charset="0"/>
              </a:rPr>
              <a:t>Phát biểu được vấn đề nghiên cứu chuẩn; </a:t>
            </a:r>
            <a:endParaRPr lang="en-GB" sz="3200" b="1" dirty="0">
              <a:latin typeface="Calibri Light" panose="020F0302020204030204" pitchFamily="34" charset="0"/>
              <a:ea typeface="Calibri Light" panose="020F0302020204030204" pitchFamily="34" charset="0"/>
              <a:cs typeface="Calibri Light" panose="020F0302020204030204" pitchFamily="34" charset="0"/>
            </a:endParaRPr>
          </a:p>
          <a:p>
            <a:pPr marL="457200" indent="-457200">
              <a:buAutoNum type="arabicParenBoth"/>
            </a:pPr>
            <a:r>
              <a:rPr lang="en-GB" sz="3200" b="1" dirty="0">
                <a:latin typeface="Calibri Light" panose="020F0302020204030204" pitchFamily="34" charset="0"/>
                <a:ea typeface="Calibri Light" panose="020F0302020204030204" pitchFamily="34" charset="0"/>
                <a:cs typeface="Calibri Light" panose="020F0302020204030204" pitchFamily="34" charset="0"/>
              </a:rPr>
              <a:t> </a:t>
            </a:r>
            <a:r>
              <a:rPr lang="vi-VN" sz="3200" b="1" dirty="0">
                <a:latin typeface="Calibri Light" panose="020F0302020204030204" pitchFamily="34" charset="0"/>
                <a:ea typeface="Calibri Light" panose="020F0302020204030204" pitchFamily="34" charset="0"/>
                <a:cs typeface="Calibri Light" panose="020F0302020204030204" pitchFamily="34" charset="0"/>
              </a:rPr>
              <a:t>Lập được bản thiết kế nghiên cứu; </a:t>
            </a:r>
            <a:endParaRPr lang="en-GB" sz="3200" b="1" dirty="0">
              <a:latin typeface="Calibri Light" panose="020F0302020204030204" pitchFamily="34" charset="0"/>
              <a:ea typeface="Calibri Light" panose="020F0302020204030204" pitchFamily="34" charset="0"/>
              <a:cs typeface="Calibri Light" panose="020F0302020204030204" pitchFamily="34" charset="0"/>
            </a:endParaRPr>
          </a:p>
          <a:p>
            <a:pPr marL="457200" indent="-457200">
              <a:buAutoNum type="arabicParenBoth"/>
            </a:pPr>
            <a:r>
              <a:rPr lang="en-GB" sz="3200" b="1" dirty="0">
                <a:latin typeface="Calibri Light" panose="020F0302020204030204" pitchFamily="34" charset="0"/>
                <a:ea typeface="Calibri Light" panose="020F0302020204030204" pitchFamily="34" charset="0"/>
                <a:cs typeface="Calibri Light" panose="020F0302020204030204" pitchFamily="34" charset="0"/>
              </a:rPr>
              <a:t> </a:t>
            </a:r>
            <a:r>
              <a:rPr lang="vi-VN" sz="3200" b="1" dirty="0">
                <a:latin typeface="Calibri Light" panose="020F0302020204030204" pitchFamily="34" charset="0"/>
                <a:ea typeface="Calibri Light" panose="020F0302020204030204" pitchFamily="34" charset="0"/>
                <a:cs typeface="Calibri Light" panose="020F0302020204030204" pitchFamily="34" charset="0"/>
              </a:rPr>
              <a:t>Vận dụng các thiết kế thực nghiệm vào Lab.</a:t>
            </a:r>
            <a:endParaRPr lang="en-AU" sz="3200" b="1" dirty="0">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12735060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455F0-6A23-D5B2-3EC2-5E898468DB57}"/>
              </a:ext>
            </a:extLst>
          </p:cNvPr>
          <p:cNvSpPr>
            <a:spLocks noGrp="1"/>
          </p:cNvSpPr>
          <p:nvPr>
            <p:ph type="title"/>
          </p:nvPr>
        </p:nvSpPr>
        <p:spPr/>
        <p:txBody>
          <a:bodyPr>
            <a:normAutofit/>
          </a:bodyPr>
          <a:lstStyle/>
          <a:p>
            <a:r>
              <a:rPr lang="en-AU" sz="4000" b="1" dirty="0">
                <a:latin typeface="Calibri Light" panose="020F0302020204030204" pitchFamily="34" charset="0"/>
                <a:ea typeface="Calibri Light" panose="020F0302020204030204" pitchFamily="34" charset="0"/>
                <a:cs typeface="Calibri Light" panose="020F0302020204030204" pitchFamily="34" charset="0"/>
              </a:rPr>
              <a:t>PHẦN 1: XÁC ĐỊNH VẤN ĐỀ NGHIÊN CỨU</a:t>
            </a:r>
            <a:endParaRPr lang="en-AU" sz="6600" b="1" dirty="0">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24756557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455F0-6A23-D5B2-3EC2-5E898468DB57}"/>
              </a:ext>
            </a:extLst>
          </p:cNvPr>
          <p:cNvSpPr>
            <a:spLocks noGrp="1"/>
          </p:cNvSpPr>
          <p:nvPr>
            <p:ph type="title"/>
          </p:nvPr>
        </p:nvSpPr>
        <p:spPr/>
        <p:txBody>
          <a:bodyPr>
            <a:normAutofit/>
          </a:bodyPr>
          <a:lstStyle/>
          <a:p>
            <a:r>
              <a:rPr lang="en-AU" sz="6000" b="1" dirty="0" err="1">
                <a:latin typeface="Calibri Light" panose="020F0302020204030204" pitchFamily="34" charset="0"/>
                <a:ea typeface="Calibri Light" panose="020F0302020204030204" pitchFamily="34" charset="0"/>
                <a:cs typeface="Calibri Light" panose="020F0302020204030204" pitchFamily="34" charset="0"/>
              </a:rPr>
              <a:t>Vấn</a:t>
            </a:r>
            <a:r>
              <a:rPr lang="en-AU" sz="6000" b="1" dirty="0">
                <a:latin typeface="Calibri Light" panose="020F0302020204030204" pitchFamily="34" charset="0"/>
                <a:ea typeface="Calibri Light" panose="020F0302020204030204" pitchFamily="34" charset="0"/>
                <a:cs typeface="Calibri Light" panose="020F0302020204030204" pitchFamily="34" charset="0"/>
              </a:rPr>
              <a:t> </a:t>
            </a:r>
            <a:r>
              <a:rPr lang="en-AU" sz="6000" b="1" dirty="0" err="1">
                <a:latin typeface="Calibri Light" panose="020F0302020204030204" pitchFamily="34" charset="0"/>
                <a:ea typeface="Calibri Light" panose="020F0302020204030204" pitchFamily="34" charset="0"/>
                <a:cs typeface="Calibri Light" panose="020F0302020204030204" pitchFamily="34" charset="0"/>
              </a:rPr>
              <a:t>đề</a:t>
            </a:r>
            <a:r>
              <a:rPr lang="en-AU" sz="6000" b="1" dirty="0">
                <a:latin typeface="Calibri Light" panose="020F0302020204030204" pitchFamily="34" charset="0"/>
                <a:ea typeface="Calibri Light" panose="020F0302020204030204" pitchFamily="34" charset="0"/>
                <a:cs typeface="Calibri Light" panose="020F0302020204030204" pitchFamily="34" charset="0"/>
              </a:rPr>
              <a:t> </a:t>
            </a:r>
            <a:r>
              <a:rPr lang="en-AU" sz="6000" b="1" dirty="0" err="1">
                <a:latin typeface="Calibri Light" panose="020F0302020204030204" pitchFamily="34" charset="0"/>
                <a:ea typeface="Calibri Light" panose="020F0302020204030204" pitchFamily="34" charset="0"/>
                <a:cs typeface="Calibri Light" panose="020F0302020204030204" pitchFamily="34" charset="0"/>
              </a:rPr>
              <a:t>nghiên</a:t>
            </a:r>
            <a:r>
              <a:rPr lang="en-AU" sz="6000" b="1" dirty="0">
                <a:latin typeface="Calibri Light" panose="020F0302020204030204" pitchFamily="34" charset="0"/>
                <a:ea typeface="Calibri Light" panose="020F0302020204030204" pitchFamily="34" charset="0"/>
                <a:cs typeface="Calibri Light" panose="020F0302020204030204" pitchFamily="34" charset="0"/>
              </a:rPr>
              <a:t> </a:t>
            </a:r>
            <a:r>
              <a:rPr lang="en-AU" sz="6000" b="1" dirty="0" err="1">
                <a:latin typeface="Calibri Light" panose="020F0302020204030204" pitchFamily="34" charset="0"/>
                <a:ea typeface="Calibri Light" panose="020F0302020204030204" pitchFamily="34" charset="0"/>
                <a:cs typeface="Calibri Light" panose="020F0302020204030204" pitchFamily="34" charset="0"/>
              </a:rPr>
              <a:t>cứu</a:t>
            </a:r>
            <a:r>
              <a:rPr lang="en-AU" sz="6000" b="1" dirty="0">
                <a:latin typeface="Calibri Light" panose="020F0302020204030204" pitchFamily="34" charset="0"/>
                <a:ea typeface="Calibri Light" panose="020F0302020204030204" pitchFamily="34" charset="0"/>
                <a:cs typeface="Calibri Light" panose="020F0302020204030204" pitchFamily="34" charset="0"/>
              </a:rPr>
              <a:t> </a:t>
            </a:r>
            <a:r>
              <a:rPr lang="en-AU" sz="6000" b="1" dirty="0" err="1">
                <a:latin typeface="Calibri Light" panose="020F0302020204030204" pitchFamily="34" charset="0"/>
                <a:ea typeface="Calibri Light" panose="020F0302020204030204" pitchFamily="34" charset="0"/>
                <a:cs typeface="Calibri Light" panose="020F0302020204030204" pitchFamily="34" charset="0"/>
              </a:rPr>
              <a:t>là</a:t>
            </a:r>
            <a:r>
              <a:rPr lang="en-AU" sz="6000" b="1" dirty="0">
                <a:latin typeface="Calibri Light" panose="020F0302020204030204" pitchFamily="34" charset="0"/>
                <a:ea typeface="Calibri Light" panose="020F0302020204030204" pitchFamily="34" charset="0"/>
                <a:cs typeface="Calibri Light" panose="020F0302020204030204" pitchFamily="34" charset="0"/>
              </a:rPr>
              <a:t> </a:t>
            </a:r>
            <a:r>
              <a:rPr lang="en-AU" sz="6000" b="1" dirty="0" err="1">
                <a:latin typeface="Calibri Light" panose="020F0302020204030204" pitchFamily="34" charset="0"/>
                <a:ea typeface="Calibri Light" panose="020F0302020204030204" pitchFamily="34" charset="0"/>
                <a:cs typeface="Calibri Light" panose="020F0302020204030204" pitchFamily="34" charset="0"/>
              </a:rPr>
              <a:t>gì</a:t>
            </a:r>
            <a:r>
              <a:rPr lang="en-AU" sz="6000" b="1" dirty="0">
                <a:latin typeface="Calibri Light" panose="020F0302020204030204" pitchFamily="34" charset="0"/>
                <a:ea typeface="Calibri Light" panose="020F0302020204030204" pitchFamily="34" charset="0"/>
                <a:cs typeface="Calibri Light" panose="020F0302020204030204" pitchFamily="34" charset="0"/>
              </a:rPr>
              <a:t>?</a:t>
            </a:r>
            <a:endParaRPr lang="en-AU" sz="23900" b="1"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3" name="Content Placeholder 2">
            <a:extLst>
              <a:ext uri="{FF2B5EF4-FFF2-40B4-BE49-F238E27FC236}">
                <a16:creationId xmlns:a16="http://schemas.microsoft.com/office/drawing/2014/main" id="{F10B2092-036B-85C5-5D03-9AC32C8303AB}"/>
              </a:ext>
            </a:extLst>
          </p:cNvPr>
          <p:cNvSpPr>
            <a:spLocks noGrp="1"/>
          </p:cNvSpPr>
          <p:nvPr>
            <p:ph idx="1"/>
          </p:nvPr>
        </p:nvSpPr>
        <p:spPr>
          <a:xfrm>
            <a:off x="680322" y="2336873"/>
            <a:ext cx="9793714" cy="3599316"/>
          </a:xfrm>
        </p:spPr>
        <p:txBody>
          <a:bodyPr>
            <a:normAutofit fontScale="70000" lnSpcReduction="20000"/>
          </a:bodyPr>
          <a:lstStyle/>
          <a:p>
            <a:pPr algn="just">
              <a:lnSpc>
                <a:spcPct val="120000"/>
              </a:lnSpc>
            </a:pPr>
            <a:r>
              <a:rPr lang="vi-VN" sz="3200" b="1" dirty="0">
                <a:latin typeface="Calibri Light" panose="020F0302020204030204" pitchFamily="34" charset="0"/>
                <a:ea typeface="Calibri Light" panose="020F0302020204030204" pitchFamily="34" charset="0"/>
                <a:cs typeface="Calibri Light" panose="020F0302020204030204" pitchFamily="34" charset="0"/>
              </a:rPr>
              <a:t>Định nghĩa</a:t>
            </a:r>
            <a:r>
              <a:rPr lang="en-GB" sz="3200" b="1" dirty="0">
                <a:latin typeface="Calibri Light" panose="020F0302020204030204" pitchFamily="34" charset="0"/>
                <a:ea typeface="Calibri Light" panose="020F0302020204030204" pitchFamily="34" charset="0"/>
                <a:cs typeface="Calibri Light" panose="020F0302020204030204" pitchFamily="34" charset="0"/>
              </a:rPr>
              <a:t> 1</a:t>
            </a:r>
            <a:r>
              <a:rPr lang="vi-VN" sz="3200" b="1" dirty="0">
                <a:latin typeface="Calibri Light" panose="020F0302020204030204" pitchFamily="34" charset="0"/>
                <a:ea typeface="Calibri Light" panose="020F0302020204030204" pitchFamily="34" charset="0"/>
                <a:cs typeface="Calibri Light" panose="020F0302020204030204" pitchFamily="34" charset="0"/>
              </a:rPr>
              <a:t>: Là một câu hỏi chưa có lời đáp hoặc một "khoảng trống tri thức" (Knowledge Gap).</a:t>
            </a:r>
            <a:endParaRPr lang="en-GB" sz="3200" b="1" dirty="0">
              <a:latin typeface="Calibri Light" panose="020F0302020204030204" pitchFamily="34" charset="0"/>
              <a:ea typeface="Calibri Light" panose="020F0302020204030204" pitchFamily="34" charset="0"/>
              <a:cs typeface="Calibri Light" panose="020F0302020204030204" pitchFamily="34" charset="0"/>
            </a:endParaRPr>
          </a:p>
          <a:p>
            <a:pPr algn="just">
              <a:lnSpc>
                <a:spcPct val="120000"/>
              </a:lnSpc>
            </a:pPr>
            <a:r>
              <a:rPr lang="vi-VN" sz="3200" b="1" dirty="0">
                <a:latin typeface="Calibri Light" panose="020F0302020204030204" pitchFamily="34" charset="0"/>
                <a:ea typeface="Calibri Light" panose="020F0302020204030204" pitchFamily="34" charset="0"/>
                <a:cs typeface="Calibri Light" panose="020F0302020204030204" pitchFamily="34" charset="0"/>
              </a:rPr>
              <a:t>Ví dụ: Chúng ta biết nấm men giúp lên men rượu, nhưng tại sao chủng nấm men X lại ngừng hoạt động ở 15% nồng độ ethanol?</a:t>
            </a:r>
            <a:endParaRPr lang="en-GB" sz="3200" b="1" dirty="0">
              <a:latin typeface="Calibri Light" panose="020F0302020204030204" pitchFamily="34" charset="0"/>
              <a:ea typeface="Calibri Light" panose="020F0302020204030204" pitchFamily="34" charset="0"/>
              <a:cs typeface="Calibri Light" panose="020F0302020204030204" pitchFamily="34" charset="0"/>
            </a:endParaRPr>
          </a:p>
          <a:p>
            <a:pPr algn="just">
              <a:lnSpc>
                <a:spcPct val="120000"/>
              </a:lnSpc>
            </a:pPr>
            <a:r>
              <a:rPr lang="vi-VN" sz="3200" b="1" dirty="0">
                <a:latin typeface="Calibri Light" panose="020F0302020204030204" pitchFamily="34" charset="0"/>
                <a:ea typeface="Calibri Light" panose="020F0302020204030204" pitchFamily="34" charset="0"/>
                <a:cs typeface="Calibri Light" panose="020F0302020204030204" pitchFamily="34" charset="0"/>
              </a:rPr>
              <a:t>Định nghĩa</a:t>
            </a:r>
            <a:r>
              <a:rPr lang="en-GB" sz="3200" b="1" dirty="0">
                <a:latin typeface="Calibri Light" panose="020F0302020204030204" pitchFamily="34" charset="0"/>
                <a:ea typeface="Calibri Light" panose="020F0302020204030204" pitchFamily="34" charset="0"/>
                <a:cs typeface="Calibri Light" panose="020F0302020204030204" pitchFamily="34" charset="0"/>
              </a:rPr>
              <a:t> 2</a:t>
            </a:r>
            <a:r>
              <a:rPr lang="vi-VN" sz="3200" b="1" dirty="0">
                <a:latin typeface="Calibri Light" panose="020F0302020204030204" pitchFamily="34" charset="0"/>
                <a:ea typeface="Calibri Light" panose="020F0302020204030204" pitchFamily="34" charset="0"/>
                <a:cs typeface="Calibri Light" panose="020F0302020204030204" pitchFamily="34" charset="0"/>
              </a:rPr>
              <a:t>: Là sự tồn tại của một "trạng thái gây bối rối" mà các kiến thức hiện tại chưa giải quyết được hoàn toàn.</a:t>
            </a:r>
            <a:endParaRPr lang="en-GB" sz="3200" b="1" dirty="0">
              <a:latin typeface="Calibri Light" panose="020F0302020204030204" pitchFamily="34" charset="0"/>
              <a:ea typeface="Calibri Light" panose="020F0302020204030204" pitchFamily="34" charset="0"/>
              <a:cs typeface="Calibri Light" panose="020F0302020204030204" pitchFamily="34" charset="0"/>
            </a:endParaRPr>
          </a:p>
          <a:p>
            <a:pPr algn="just">
              <a:lnSpc>
                <a:spcPct val="120000"/>
              </a:lnSpc>
            </a:pPr>
            <a:r>
              <a:rPr lang="vi-VN" sz="3200" b="1" dirty="0">
                <a:latin typeface="Calibri Light" panose="020F0302020204030204" pitchFamily="34" charset="0"/>
                <a:ea typeface="Calibri Light" panose="020F0302020204030204" pitchFamily="34" charset="0"/>
                <a:cs typeface="Calibri Light" panose="020F0302020204030204" pitchFamily="34" charset="0"/>
              </a:rPr>
              <a:t>Ví dụ: Chúng ta có công nghệ chỉnh sửa gene CRISPR-Cas9 (đã biết), nhưng chúng ta chưa kiểm soát được hiện tượng "cắt nhầm vị trí" (off-target) trên cây lúa (vấn đề).</a:t>
            </a:r>
            <a:endParaRPr lang="en-AU" sz="3200" b="1" dirty="0">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23905728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455F0-6A23-D5B2-3EC2-5E898468DB57}"/>
              </a:ext>
            </a:extLst>
          </p:cNvPr>
          <p:cNvSpPr>
            <a:spLocks noGrp="1"/>
          </p:cNvSpPr>
          <p:nvPr>
            <p:ph type="title"/>
          </p:nvPr>
        </p:nvSpPr>
        <p:spPr/>
        <p:txBody>
          <a:bodyPr>
            <a:noAutofit/>
          </a:bodyPr>
          <a:lstStyle/>
          <a:p>
            <a:r>
              <a:rPr lang="en-AU" sz="4800" b="1" dirty="0" err="1">
                <a:latin typeface="Calibri Light" panose="020F0302020204030204" pitchFamily="34" charset="0"/>
                <a:ea typeface="Calibri Light" panose="020F0302020204030204" pitchFamily="34" charset="0"/>
                <a:cs typeface="Calibri Light" panose="020F0302020204030204" pitchFamily="34" charset="0"/>
              </a:rPr>
              <a:t>Sự</a:t>
            </a:r>
            <a:r>
              <a:rPr lang="en-AU" sz="4800" b="1" dirty="0">
                <a:latin typeface="Calibri Light" panose="020F0302020204030204" pitchFamily="34" charset="0"/>
                <a:ea typeface="Calibri Light" panose="020F0302020204030204" pitchFamily="34" charset="0"/>
                <a:cs typeface="Calibri Light" panose="020F0302020204030204" pitchFamily="34" charset="0"/>
              </a:rPr>
              <a:t> </a:t>
            </a:r>
            <a:r>
              <a:rPr lang="en-AU" sz="4800" b="1" dirty="0" err="1">
                <a:latin typeface="Calibri Light" panose="020F0302020204030204" pitchFamily="34" charset="0"/>
                <a:ea typeface="Calibri Light" panose="020F0302020204030204" pitchFamily="34" charset="0"/>
                <a:cs typeface="Calibri Light" panose="020F0302020204030204" pitchFamily="34" charset="0"/>
              </a:rPr>
              <a:t>cần</a:t>
            </a:r>
            <a:r>
              <a:rPr lang="en-AU" sz="4800" b="1" dirty="0">
                <a:latin typeface="Calibri Light" panose="020F0302020204030204" pitchFamily="34" charset="0"/>
                <a:ea typeface="Calibri Light" panose="020F0302020204030204" pitchFamily="34" charset="0"/>
                <a:cs typeface="Calibri Light" panose="020F0302020204030204" pitchFamily="34" charset="0"/>
              </a:rPr>
              <a:t> </a:t>
            </a:r>
            <a:r>
              <a:rPr lang="en-AU" sz="4800" b="1" dirty="0" err="1">
                <a:latin typeface="Calibri Light" panose="020F0302020204030204" pitchFamily="34" charset="0"/>
                <a:ea typeface="Calibri Light" panose="020F0302020204030204" pitchFamily="34" charset="0"/>
                <a:cs typeface="Calibri Light" panose="020F0302020204030204" pitchFamily="34" charset="0"/>
              </a:rPr>
              <a:t>thiết</a:t>
            </a:r>
            <a:r>
              <a:rPr lang="en-AU" sz="4800" b="1" dirty="0">
                <a:latin typeface="Calibri Light" panose="020F0302020204030204" pitchFamily="34" charset="0"/>
                <a:ea typeface="Calibri Light" panose="020F0302020204030204" pitchFamily="34" charset="0"/>
                <a:cs typeface="Calibri Light" panose="020F0302020204030204" pitchFamily="34" charset="0"/>
              </a:rPr>
              <a:t> </a:t>
            </a:r>
            <a:r>
              <a:rPr lang="en-AU" sz="4800" b="1" dirty="0" err="1">
                <a:latin typeface="Calibri Light" panose="020F0302020204030204" pitchFamily="34" charset="0"/>
                <a:ea typeface="Calibri Light" panose="020F0302020204030204" pitchFamily="34" charset="0"/>
                <a:cs typeface="Calibri Light" panose="020F0302020204030204" pitchFamily="34" charset="0"/>
              </a:rPr>
              <a:t>của</a:t>
            </a:r>
            <a:r>
              <a:rPr lang="en-AU" sz="4800" b="1" dirty="0">
                <a:latin typeface="Calibri Light" panose="020F0302020204030204" pitchFamily="34" charset="0"/>
                <a:ea typeface="Calibri Light" panose="020F0302020204030204" pitchFamily="34" charset="0"/>
                <a:cs typeface="Calibri Light" panose="020F0302020204030204" pitchFamily="34" charset="0"/>
              </a:rPr>
              <a:t> </a:t>
            </a:r>
            <a:r>
              <a:rPr lang="en-AU" sz="4800" b="1" dirty="0" err="1">
                <a:latin typeface="Calibri Light" panose="020F0302020204030204" pitchFamily="34" charset="0"/>
                <a:ea typeface="Calibri Light" panose="020F0302020204030204" pitchFamily="34" charset="0"/>
                <a:cs typeface="Calibri Light" panose="020F0302020204030204" pitchFamily="34" charset="0"/>
              </a:rPr>
              <a:t>việc</a:t>
            </a:r>
            <a:r>
              <a:rPr lang="en-AU" sz="4800" b="1" dirty="0">
                <a:latin typeface="Calibri Light" panose="020F0302020204030204" pitchFamily="34" charset="0"/>
                <a:ea typeface="Calibri Light" panose="020F0302020204030204" pitchFamily="34" charset="0"/>
                <a:cs typeface="Calibri Light" panose="020F0302020204030204" pitchFamily="34" charset="0"/>
              </a:rPr>
              <a:t> </a:t>
            </a:r>
            <a:r>
              <a:rPr lang="en-AU" sz="4800" b="1" dirty="0" err="1">
                <a:latin typeface="Calibri Light" panose="020F0302020204030204" pitchFamily="34" charset="0"/>
                <a:ea typeface="Calibri Light" panose="020F0302020204030204" pitchFamily="34" charset="0"/>
                <a:cs typeface="Calibri Light" panose="020F0302020204030204" pitchFamily="34" charset="0"/>
              </a:rPr>
              <a:t>xác</a:t>
            </a:r>
            <a:r>
              <a:rPr lang="en-AU" sz="4800" b="1" dirty="0">
                <a:latin typeface="Calibri Light" panose="020F0302020204030204" pitchFamily="34" charset="0"/>
                <a:ea typeface="Calibri Light" panose="020F0302020204030204" pitchFamily="34" charset="0"/>
                <a:cs typeface="Calibri Light" panose="020F0302020204030204" pitchFamily="34" charset="0"/>
              </a:rPr>
              <a:t> </a:t>
            </a:r>
            <a:r>
              <a:rPr lang="en-AU" sz="4800" b="1" dirty="0" err="1">
                <a:latin typeface="Calibri Light" panose="020F0302020204030204" pitchFamily="34" charset="0"/>
                <a:ea typeface="Calibri Light" panose="020F0302020204030204" pitchFamily="34" charset="0"/>
                <a:cs typeface="Calibri Light" panose="020F0302020204030204" pitchFamily="34" charset="0"/>
              </a:rPr>
              <a:t>định</a:t>
            </a:r>
            <a:r>
              <a:rPr lang="en-AU" sz="4800" b="1" dirty="0">
                <a:latin typeface="Calibri Light" panose="020F0302020204030204" pitchFamily="34" charset="0"/>
                <a:ea typeface="Calibri Light" panose="020F0302020204030204" pitchFamily="34" charset="0"/>
                <a:cs typeface="Calibri Light" panose="020F0302020204030204" pitchFamily="34" charset="0"/>
              </a:rPr>
              <a:t> </a:t>
            </a:r>
            <a:r>
              <a:rPr lang="en-AU" sz="4800" b="1" dirty="0" err="1">
                <a:latin typeface="Calibri Light" panose="020F0302020204030204" pitchFamily="34" charset="0"/>
                <a:ea typeface="Calibri Light" panose="020F0302020204030204" pitchFamily="34" charset="0"/>
                <a:cs typeface="Calibri Light" panose="020F0302020204030204" pitchFamily="34" charset="0"/>
              </a:rPr>
              <a:t>vấn</a:t>
            </a:r>
            <a:r>
              <a:rPr lang="en-AU" sz="4800" b="1" dirty="0">
                <a:latin typeface="Calibri Light" panose="020F0302020204030204" pitchFamily="34" charset="0"/>
                <a:ea typeface="Calibri Light" panose="020F0302020204030204" pitchFamily="34" charset="0"/>
                <a:cs typeface="Calibri Light" panose="020F0302020204030204" pitchFamily="34" charset="0"/>
              </a:rPr>
              <a:t> </a:t>
            </a:r>
            <a:r>
              <a:rPr lang="en-AU" sz="4800" b="1" dirty="0" err="1">
                <a:latin typeface="Calibri Light" panose="020F0302020204030204" pitchFamily="34" charset="0"/>
                <a:ea typeface="Calibri Light" panose="020F0302020204030204" pitchFamily="34" charset="0"/>
                <a:cs typeface="Calibri Light" panose="020F0302020204030204" pitchFamily="34" charset="0"/>
              </a:rPr>
              <a:t>đề</a:t>
            </a:r>
            <a:endParaRPr lang="en-AU" sz="17900" b="1"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3" name="Content Placeholder 2">
            <a:extLst>
              <a:ext uri="{FF2B5EF4-FFF2-40B4-BE49-F238E27FC236}">
                <a16:creationId xmlns:a16="http://schemas.microsoft.com/office/drawing/2014/main" id="{F10B2092-036B-85C5-5D03-9AC32C8303AB}"/>
              </a:ext>
            </a:extLst>
          </p:cNvPr>
          <p:cNvSpPr>
            <a:spLocks noGrp="1"/>
          </p:cNvSpPr>
          <p:nvPr>
            <p:ph idx="1"/>
          </p:nvPr>
        </p:nvSpPr>
        <p:spPr/>
        <p:txBody>
          <a:bodyPr>
            <a:normAutofit/>
          </a:bodyPr>
          <a:lstStyle/>
          <a:p>
            <a:pPr algn="just"/>
            <a:r>
              <a:rPr lang="vi-VN" sz="3200" b="1" dirty="0">
                <a:latin typeface="Calibri Light" panose="020F0302020204030204" pitchFamily="34" charset="0"/>
                <a:ea typeface="Calibri Light" panose="020F0302020204030204" pitchFamily="34" charset="0"/>
                <a:cs typeface="Calibri Light" panose="020F0302020204030204" pitchFamily="34" charset="0"/>
              </a:rPr>
              <a:t>Định hướng toàn bộ quá trình thu thập dữ liệu; tránh lãng phí hóa chất đắt tiền.</a:t>
            </a:r>
            <a:endParaRPr lang="en-AU" sz="3200" b="1" dirty="0">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26466811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455F0-6A23-D5B2-3EC2-5E898468DB57}"/>
              </a:ext>
            </a:extLst>
          </p:cNvPr>
          <p:cNvSpPr>
            <a:spLocks noGrp="1"/>
          </p:cNvSpPr>
          <p:nvPr>
            <p:ph type="title"/>
          </p:nvPr>
        </p:nvSpPr>
        <p:spPr/>
        <p:txBody>
          <a:bodyPr>
            <a:noAutofit/>
          </a:bodyPr>
          <a:lstStyle/>
          <a:p>
            <a:r>
              <a:rPr lang="vi-VN" sz="4800" b="1" dirty="0">
                <a:latin typeface="Calibri Light" panose="020F0302020204030204" pitchFamily="34" charset="0"/>
                <a:ea typeface="Calibri Light" panose="020F0302020204030204" pitchFamily="34" charset="0"/>
                <a:cs typeface="Calibri Light" panose="020F0302020204030204" pitchFamily="34" charset="0"/>
              </a:rPr>
              <a:t>Các bước lựa chọn vấn đề (Kothari)</a:t>
            </a:r>
            <a:endParaRPr lang="en-AU" sz="17900" b="1"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3" name="Content Placeholder 2">
            <a:extLst>
              <a:ext uri="{FF2B5EF4-FFF2-40B4-BE49-F238E27FC236}">
                <a16:creationId xmlns:a16="http://schemas.microsoft.com/office/drawing/2014/main" id="{F10B2092-036B-85C5-5D03-9AC32C8303AB}"/>
              </a:ext>
            </a:extLst>
          </p:cNvPr>
          <p:cNvSpPr>
            <a:spLocks noGrp="1"/>
          </p:cNvSpPr>
          <p:nvPr>
            <p:ph idx="1"/>
          </p:nvPr>
        </p:nvSpPr>
        <p:spPr/>
        <p:txBody>
          <a:bodyPr>
            <a:normAutofit/>
          </a:bodyPr>
          <a:lstStyle/>
          <a:p>
            <a:pPr algn="just"/>
            <a:r>
              <a:rPr lang="vi-VN" sz="3200" b="1" dirty="0">
                <a:latin typeface="Calibri Light" panose="020F0302020204030204" pitchFamily="34" charset="0"/>
                <a:ea typeface="Calibri Light" panose="020F0302020204030204" pitchFamily="34" charset="0"/>
                <a:cs typeface="Calibri Light" panose="020F0302020204030204" pitchFamily="34" charset="0"/>
              </a:rPr>
              <a:t>Từ chủ đề rộng -&gt; Thu hẹp -&gt; Đánh giá tính khả thi.</a:t>
            </a:r>
            <a:endParaRPr lang="en-GB" sz="3200" b="1" dirty="0">
              <a:latin typeface="Calibri Light" panose="020F0302020204030204" pitchFamily="34" charset="0"/>
              <a:ea typeface="Calibri Light" panose="020F0302020204030204" pitchFamily="34" charset="0"/>
              <a:cs typeface="Calibri Light" panose="020F0302020204030204" pitchFamily="34" charset="0"/>
            </a:endParaRPr>
          </a:p>
          <a:p>
            <a:pPr algn="just"/>
            <a:r>
              <a:rPr lang="en-AU" sz="3200" b="1" dirty="0" err="1">
                <a:latin typeface="Calibri Light" panose="020F0302020204030204" pitchFamily="34" charset="0"/>
                <a:ea typeface="Calibri Light" panose="020F0302020204030204" pitchFamily="34" charset="0"/>
                <a:cs typeface="Calibri Light" panose="020F0302020204030204" pitchFamily="34" charset="0"/>
              </a:rPr>
              <a:t>Ví</a:t>
            </a:r>
            <a:r>
              <a:rPr lang="en-AU" sz="3200" b="1" dirty="0">
                <a:latin typeface="Calibri Light" panose="020F0302020204030204" pitchFamily="34" charset="0"/>
                <a:ea typeface="Calibri Light" panose="020F0302020204030204" pitchFamily="34" charset="0"/>
                <a:cs typeface="Calibri Light" panose="020F0302020204030204" pitchFamily="34" charset="0"/>
              </a:rPr>
              <a:t> </a:t>
            </a:r>
            <a:r>
              <a:rPr lang="en-AU" sz="3200" b="1" dirty="0" err="1">
                <a:latin typeface="Calibri Light" panose="020F0302020204030204" pitchFamily="34" charset="0"/>
                <a:ea typeface="Calibri Light" panose="020F0302020204030204" pitchFamily="34" charset="0"/>
                <a:cs typeface="Calibri Light" panose="020F0302020204030204" pitchFamily="34" charset="0"/>
              </a:rPr>
              <a:t>dụ</a:t>
            </a:r>
            <a:r>
              <a:rPr lang="en-AU" sz="3200" b="1" dirty="0">
                <a:latin typeface="Calibri Light" panose="020F0302020204030204" pitchFamily="34" charset="0"/>
                <a:ea typeface="Calibri Light" panose="020F0302020204030204" pitchFamily="34" charset="0"/>
                <a:cs typeface="Calibri Light" panose="020F0302020204030204" pitchFamily="34" charset="0"/>
              </a:rPr>
              <a:t> </a:t>
            </a:r>
            <a:r>
              <a:rPr lang="en-AU" sz="3200" b="1" dirty="0" err="1">
                <a:latin typeface="Calibri Light" panose="020F0302020204030204" pitchFamily="34" charset="0"/>
                <a:ea typeface="Calibri Light" panose="020F0302020204030204" pitchFamily="34" charset="0"/>
                <a:cs typeface="Calibri Light" panose="020F0302020204030204" pitchFamily="34" charset="0"/>
              </a:rPr>
              <a:t>thực</a:t>
            </a:r>
            <a:r>
              <a:rPr lang="en-AU" sz="3200" b="1" dirty="0">
                <a:latin typeface="Calibri Light" panose="020F0302020204030204" pitchFamily="34" charset="0"/>
                <a:ea typeface="Calibri Light" panose="020F0302020204030204" pitchFamily="34" charset="0"/>
                <a:cs typeface="Calibri Light" panose="020F0302020204030204" pitchFamily="34" charset="0"/>
              </a:rPr>
              <a:t> </a:t>
            </a:r>
            <a:r>
              <a:rPr lang="en-AU" sz="3200" b="1" dirty="0" err="1">
                <a:latin typeface="Calibri Light" panose="020F0302020204030204" pitchFamily="34" charset="0"/>
                <a:ea typeface="Calibri Light" panose="020F0302020204030204" pitchFamily="34" charset="0"/>
                <a:cs typeface="Calibri Light" panose="020F0302020204030204" pitchFamily="34" charset="0"/>
              </a:rPr>
              <a:t>tế</a:t>
            </a:r>
            <a:r>
              <a:rPr lang="en-AU" sz="3200" b="1" dirty="0">
                <a:latin typeface="Calibri Light" panose="020F0302020204030204" pitchFamily="34" charset="0"/>
                <a:ea typeface="Calibri Light" panose="020F0302020204030204" pitchFamily="34" charset="0"/>
                <a:cs typeface="Calibri Light" panose="020F0302020204030204" pitchFamily="34" charset="0"/>
              </a:rPr>
              <a:t> </a:t>
            </a:r>
            <a:r>
              <a:rPr lang="en-AU" sz="3200" b="1" dirty="0" err="1">
                <a:latin typeface="Calibri Light" panose="020F0302020204030204" pitchFamily="34" charset="0"/>
                <a:ea typeface="Calibri Light" panose="020F0302020204030204" pitchFamily="34" charset="0"/>
                <a:cs typeface="Calibri Light" panose="020F0302020204030204" pitchFamily="34" charset="0"/>
              </a:rPr>
              <a:t>trong</a:t>
            </a:r>
            <a:r>
              <a:rPr lang="en-AU" sz="3200" b="1" dirty="0">
                <a:latin typeface="Calibri Light" panose="020F0302020204030204" pitchFamily="34" charset="0"/>
                <a:ea typeface="Calibri Light" panose="020F0302020204030204" pitchFamily="34" charset="0"/>
                <a:cs typeface="Calibri Light" panose="020F0302020204030204" pitchFamily="34" charset="0"/>
              </a:rPr>
              <a:t> CNSH: </a:t>
            </a:r>
          </a:p>
          <a:p>
            <a:pPr lvl="1" algn="just"/>
            <a:r>
              <a:rPr lang="en-AU" sz="2800" b="1" dirty="0" err="1">
                <a:latin typeface="Calibri Light" panose="020F0302020204030204" pitchFamily="34" charset="0"/>
                <a:ea typeface="Calibri Light" panose="020F0302020204030204" pitchFamily="34" charset="0"/>
                <a:cs typeface="Calibri Light" panose="020F0302020204030204" pitchFamily="34" charset="0"/>
              </a:rPr>
              <a:t>Thay</a:t>
            </a:r>
            <a:r>
              <a:rPr lang="en-AU" sz="2800" b="1" dirty="0">
                <a:latin typeface="Calibri Light" panose="020F0302020204030204" pitchFamily="34" charset="0"/>
                <a:ea typeface="Calibri Light" panose="020F0302020204030204" pitchFamily="34" charset="0"/>
                <a:cs typeface="Calibri Light" panose="020F0302020204030204" pitchFamily="34" charset="0"/>
              </a:rPr>
              <a:t> </a:t>
            </a:r>
            <a:r>
              <a:rPr lang="en-AU" sz="2800" b="1" dirty="0" err="1">
                <a:latin typeface="Calibri Light" panose="020F0302020204030204" pitchFamily="34" charset="0"/>
                <a:ea typeface="Calibri Light" panose="020F0302020204030204" pitchFamily="34" charset="0"/>
                <a:cs typeface="Calibri Light" panose="020F0302020204030204" pitchFamily="34" charset="0"/>
              </a:rPr>
              <a:t>vì</a:t>
            </a:r>
            <a:r>
              <a:rPr lang="en-AU" sz="2800" b="1" dirty="0">
                <a:latin typeface="Calibri Light" panose="020F0302020204030204" pitchFamily="34" charset="0"/>
                <a:ea typeface="Calibri Light" panose="020F0302020204030204" pitchFamily="34" charset="0"/>
                <a:cs typeface="Calibri Light" panose="020F0302020204030204" pitchFamily="34" charset="0"/>
              </a:rPr>
              <a:t> </a:t>
            </a:r>
            <a:r>
              <a:rPr lang="en-AU" sz="2800" b="1" dirty="0" err="1">
                <a:latin typeface="Calibri Light" panose="020F0302020204030204" pitchFamily="34" charset="0"/>
                <a:ea typeface="Calibri Light" panose="020F0302020204030204" pitchFamily="34" charset="0"/>
                <a:cs typeface="Calibri Light" panose="020F0302020204030204" pitchFamily="34" charset="0"/>
              </a:rPr>
              <a:t>chọn</a:t>
            </a:r>
            <a:r>
              <a:rPr lang="en-AU" sz="2800" b="1" dirty="0">
                <a:latin typeface="Calibri Light" panose="020F0302020204030204" pitchFamily="34" charset="0"/>
                <a:ea typeface="Calibri Light" panose="020F0302020204030204" pitchFamily="34" charset="0"/>
                <a:cs typeface="Calibri Light" panose="020F0302020204030204" pitchFamily="34" charset="0"/>
              </a:rPr>
              <a:t> </a:t>
            </a:r>
            <a:r>
              <a:rPr lang="en-AU" sz="2800" b="1" dirty="0" err="1">
                <a:latin typeface="Calibri Light" panose="020F0302020204030204" pitchFamily="34" charset="0"/>
                <a:ea typeface="Calibri Light" panose="020F0302020204030204" pitchFamily="34" charset="0"/>
                <a:cs typeface="Calibri Light" panose="020F0302020204030204" pitchFamily="34" charset="0"/>
              </a:rPr>
              <a:t>chủ</a:t>
            </a:r>
            <a:r>
              <a:rPr lang="en-AU" sz="2800" b="1" dirty="0">
                <a:latin typeface="Calibri Light" panose="020F0302020204030204" pitchFamily="34" charset="0"/>
                <a:ea typeface="Calibri Light" panose="020F0302020204030204" pitchFamily="34" charset="0"/>
                <a:cs typeface="Calibri Light" panose="020F0302020204030204" pitchFamily="34" charset="0"/>
              </a:rPr>
              <a:t> </a:t>
            </a:r>
            <a:r>
              <a:rPr lang="en-AU" sz="2800" b="1" dirty="0" err="1">
                <a:latin typeface="Calibri Light" panose="020F0302020204030204" pitchFamily="34" charset="0"/>
                <a:ea typeface="Calibri Light" panose="020F0302020204030204" pitchFamily="34" charset="0"/>
                <a:cs typeface="Calibri Light" panose="020F0302020204030204" pitchFamily="34" charset="0"/>
              </a:rPr>
              <a:t>đề</a:t>
            </a:r>
            <a:r>
              <a:rPr lang="en-AU" sz="2800" b="1" dirty="0">
                <a:latin typeface="Calibri Light" panose="020F0302020204030204" pitchFamily="34" charset="0"/>
                <a:ea typeface="Calibri Light" panose="020F0302020204030204" pitchFamily="34" charset="0"/>
                <a:cs typeface="Calibri Light" panose="020F0302020204030204" pitchFamily="34" charset="0"/>
              </a:rPr>
              <a:t> "</a:t>
            </a:r>
            <a:r>
              <a:rPr lang="en-AU" sz="2800" b="1" dirty="0" err="1">
                <a:latin typeface="Calibri Light" panose="020F0302020204030204" pitchFamily="34" charset="0"/>
                <a:ea typeface="Calibri Light" panose="020F0302020204030204" pitchFamily="34" charset="0"/>
                <a:cs typeface="Calibri Light" panose="020F0302020204030204" pitchFamily="34" charset="0"/>
              </a:rPr>
              <a:t>Biến</a:t>
            </a:r>
            <a:r>
              <a:rPr lang="en-AU" sz="2800" b="1" dirty="0">
                <a:latin typeface="Calibri Light" panose="020F0302020204030204" pitchFamily="34" charset="0"/>
                <a:ea typeface="Calibri Light" panose="020F0302020204030204" pitchFamily="34" charset="0"/>
                <a:cs typeface="Calibri Light" panose="020F0302020204030204" pitchFamily="34" charset="0"/>
              </a:rPr>
              <a:t> </a:t>
            </a:r>
            <a:r>
              <a:rPr lang="en-AU" sz="2800" b="1" dirty="0" err="1">
                <a:latin typeface="Calibri Light" panose="020F0302020204030204" pitchFamily="34" charset="0"/>
                <a:ea typeface="Calibri Light" panose="020F0302020204030204" pitchFamily="34" charset="0"/>
                <a:cs typeface="Calibri Light" panose="020F0302020204030204" pitchFamily="34" charset="0"/>
              </a:rPr>
              <a:t>đổi</a:t>
            </a:r>
            <a:r>
              <a:rPr lang="en-AU" sz="2800" b="1" dirty="0">
                <a:latin typeface="Calibri Light" panose="020F0302020204030204" pitchFamily="34" charset="0"/>
                <a:ea typeface="Calibri Light" panose="020F0302020204030204" pitchFamily="34" charset="0"/>
                <a:cs typeface="Calibri Light" panose="020F0302020204030204" pitchFamily="34" charset="0"/>
              </a:rPr>
              <a:t> gene </a:t>
            </a:r>
            <a:r>
              <a:rPr lang="en-AU" sz="2800" b="1" dirty="0" err="1">
                <a:latin typeface="Calibri Light" panose="020F0302020204030204" pitchFamily="34" charset="0"/>
                <a:ea typeface="Calibri Light" panose="020F0302020204030204" pitchFamily="34" charset="0"/>
                <a:cs typeface="Calibri Light" panose="020F0302020204030204" pitchFamily="34" charset="0"/>
              </a:rPr>
              <a:t>lúa</a:t>
            </a:r>
            <a:r>
              <a:rPr lang="en-AU" sz="2800" b="1" dirty="0">
                <a:latin typeface="Calibri Light" panose="020F0302020204030204" pitchFamily="34" charset="0"/>
                <a:ea typeface="Calibri Light" panose="020F0302020204030204" pitchFamily="34" charset="0"/>
                <a:cs typeface="Calibri Light" panose="020F0302020204030204" pitchFamily="34" charset="0"/>
              </a:rPr>
              <a:t>", </a:t>
            </a:r>
          </a:p>
          <a:p>
            <a:pPr lvl="1" algn="just"/>
            <a:r>
              <a:rPr lang="en-AU" sz="2800" b="1" dirty="0" err="1">
                <a:latin typeface="Calibri Light" panose="020F0302020204030204" pitchFamily="34" charset="0"/>
                <a:ea typeface="Calibri Light" panose="020F0302020204030204" pitchFamily="34" charset="0"/>
                <a:cs typeface="Calibri Light" panose="020F0302020204030204" pitchFamily="34" charset="0"/>
              </a:rPr>
              <a:t>Hãy</a:t>
            </a:r>
            <a:r>
              <a:rPr lang="en-AU" sz="2800" b="1" dirty="0">
                <a:latin typeface="Calibri Light" panose="020F0302020204030204" pitchFamily="34" charset="0"/>
                <a:ea typeface="Calibri Light" panose="020F0302020204030204" pitchFamily="34" charset="0"/>
                <a:cs typeface="Calibri Light" panose="020F0302020204030204" pitchFamily="34" charset="0"/>
              </a:rPr>
              <a:t> </a:t>
            </a:r>
            <a:r>
              <a:rPr lang="en-AU" sz="2800" b="1" dirty="0" err="1">
                <a:latin typeface="Calibri Light" panose="020F0302020204030204" pitchFamily="34" charset="0"/>
                <a:ea typeface="Calibri Light" panose="020F0302020204030204" pitchFamily="34" charset="0"/>
                <a:cs typeface="Calibri Light" panose="020F0302020204030204" pitchFamily="34" charset="0"/>
              </a:rPr>
              <a:t>xác</a:t>
            </a:r>
            <a:r>
              <a:rPr lang="en-AU" sz="2800" b="1" dirty="0">
                <a:latin typeface="Calibri Light" panose="020F0302020204030204" pitchFamily="34" charset="0"/>
                <a:ea typeface="Calibri Light" panose="020F0302020204030204" pitchFamily="34" charset="0"/>
                <a:cs typeface="Calibri Light" panose="020F0302020204030204" pitchFamily="34" charset="0"/>
              </a:rPr>
              <a:t> </a:t>
            </a:r>
            <a:r>
              <a:rPr lang="en-AU" sz="2800" b="1" dirty="0" err="1">
                <a:latin typeface="Calibri Light" panose="020F0302020204030204" pitchFamily="34" charset="0"/>
                <a:ea typeface="Calibri Light" panose="020F0302020204030204" pitchFamily="34" charset="0"/>
                <a:cs typeface="Calibri Light" panose="020F0302020204030204" pitchFamily="34" charset="0"/>
              </a:rPr>
              <a:t>định</a:t>
            </a:r>
            <a:r>
              <a:rPr lang="en-AU" sz="2800" b="1" dirty="0">
                <a:latin typeface="Calibri Light" panose="020F0302020204030204" pitchFamily="34" charset="0"/>
                <a:ea typeface="Calibri Light" panose="020F0302020204030204" pitchFamily="34" charset="0"/>
                <a:cs typeface="Calibri Light" panose="020F0302020204030204" pitchFamily="34" charset="0"/>
              </a:rPr>
              <a:t> </a:t>
            </a:r>
            <a:r>
              <a:rPr lang="en-AU" sz="2800" b="1" dirty="0" err="1">
                <a:latin typeface="Calibri Light" panose="020F0302020204030204" pitchFamily="34" charset="0"/>
                <a:ea typeface="Calibri Light" panose="020F0302020204030204" pitchFamily="34" charset="0"/>
                <a:cs typeface="Calibri Light" panose="020F0302020204030204" pitchFamily="34" charset="0"/>
              </a:rPr>
              <a:t>vấn</a:t>
            </a:r>
            <a:r>
              <a:rPr lang="en-AU" sz="2800" b="1" dirty="0">
                <a:latin typeface="Calibri Light" panose="020F0302020204030204" pitchFamily="34" charset="0"/>
                <a:ea typeface="Calibri Light" panose="020F0302020204030204" pitchFamily="34" charset="0"/>
                <a:cs typeface="Calibri Light" panose="020F0302020204030204" pitchFamily="34" charset="0"/>
              </a:rPr>
              <a:t> </a:t>
            </a:r>
            <a:r>
              <a:rPr lang="en-AU" sz="2800" b="1" dirty="0" err="1">
                <a:latin typeface="Calibri Light" panose="020F0302020204030204" pitchFamily="34" charset="0"/>
                <a:ea typeface="Calibri Light" panose="020F0302020204030204" pitchFamily="34" charset="0"/>
                <a:cs typeface="Calibri Light" panose="020F0302020204030204" pitchFamily="34" charset="0"/>
              </a:rPr>
              <a:t>đề</a:t>
            </a:r>
            <a:r>
              <a:rPr lang="en-AU" sz="2800" b="1" dirty="0">
                <a:latin typeface="Calibri Light" panose="020F0302020204030204" pitchFamily="34" charset="0"/>
                <a:ea typeface="Calibri Light" panose="020F0302020204030204" pitchFamily="34" charset="0"/>
                <a:cs typeface="Calibri Light" panose="020F0302020204030204" pitchFamily="34" charset="0"/>
              </a:rPr>
              <a:t>: "</a:t>
            </a:r>
            <a:r>
              <a:rPr lang="en-AU" sz="2800" b="1" dirty="0" err="1">
                <a:latin typeface="Calibri Light" panose="020F0302020204030204" pitchFamily="34" charset="0"/>
                <a:ea typeface="Calibri Light" panose="020F0302020204030204" pitchFamily="34" charset="0"/>
                <a:cs typeface="Calibri Light" panose="020F0302020204030204" pitchFamily="34" charset="0"/>
              </a:rPr>
              <a:t>Hiệu</a:t>
            </a:r>
            <a:r>
              <a:rPr lang="en-AU" sz="2800" b="1" dirty="0">
                <a:latin typeface="Calibri Light" panose="020F0302020204030204" pitchFamily="34" charset="0"/>
                <a:ea typeface="Calibri Light" panose="020F0302020204030204" pitchFamily="34" charset="0"/>
                <a:cs typeface="Calibri Light" panose="020F0302020204030204" pitchFamily="34" charset="0"/>
              </a:rPr>
              <a:t> </a:t>
            </a:r>
            <a:r>
              <a:rPr lang="en-AU" sz="2800" b="1" dirty="0" err="1">
                <a:latin typeface="Calibri Light" panose="020F0302020204030204" pitchFamily="34" charset="0"/>
                <a:ea typeface="Calibri Light" panose="020F0302020204030204" pitchFamily="34" charset="0"/>
                <a:cs typeface="Calibri Light" panose="020F0302020204030204" pitchFamily="34" charset="0"/>
              </a:rPr>
              <a:t>quả</a:t>
            </a:r>
            <a:r>
              <a:rPr lang="en-AU" sz="2800" b="1" dirty="0">
                <a:latin typeface="Calibri Light" panose="020F0302020204030204" pitchFamily="34" charset="0"/>
                <a:ea typeface="Calibri Light" panose="020F0302020204030204" pitchFamily="34" charset="0"/>
                <a:cs typeface="Calibri Light" panose="020F0302020204030204" pitchFamily="34" charset="0"/>
              </a:rPr>
              <a:t> </a:t>
            </a:r>
            <a:r>
              <a:rPr lang="en-AU" sz="2800" b="1" dirty="0" err="1">
                <a:latin typeface="Calibri Light" panose="020F0302020204030204" pitchFamily="34" charset="0"/>
                <a:ea typeface="Calibri Light" panose="020F0302020204030204" pitchFamily="34" charset="0"/>
                <a:cs typeface="Calibri Light" panose="020F0302020204030204" pitchFamily="34" charset="0"/>
              </a:rPr>
              <a:t>của</a:t>
            </a:r>
            <a:r>
              <a:rPr lang="en-AU" sz="2800" b="1" dirty="0">
                <a:latin typeface="Calibri Light" panose="020F0302020204030204" pitchFamily="34" charset="0"/>
                <a:ea typeface="Calibri Light" panose="020F0302020204030204" pitchFamily="34" charset="0"/>
                <a:cs typeface="Calibri Light" panose="020F0302020204030204" pitchFamily="34" charset="0"/>
              </a:rPr>
              <a:t> gene </a:t>
            </a:r>
            <a:r>
              <a:rPr lang="en-AU" sz="2800" b="1" dirty="0" err="1">
                <a:latin typeface="Calibri Light" panose="020F0302020204030204" pitchFamily="34" charset="0"/>
                <a:ea typeface="Calibri Light" panose="020F0302020204030204" pitchFamily="34" charset="0"/>
                <a:cs typeface="Calibri Light" panose="020F0302020204030204" pitchFamily="34" charset="0"/>
              </a:rPr>
              <a:t>OsDREB</a:t>
            </a:r>
            <a:r>
              <a:rPr lang="en-AU" sz="2800" b="1" dirty="0">
                <a:latin typeface="Calibri Light" panose="020F0302020204030204" pitchFamily="34" charset="0"/>
                <a:ea typeface="Calibri Light" panose="020F0302020204030204" pitchFamily="34" charset="0"/>
                <a:cs typeface="Calibri Light" panose="020F0302020204030204" pitchFamily="34" charset="0"/>
              </a:rPr>
              <a:t> </a:t>
            </a:r>
            <a:r>
              <a:rPr lang="en-AU" sz="2800" b="1" dirty="0" err="1">
                <a:latin typeface="Calibri Light" panose="020F0302020204030204" pitchFamily="34" charset="0"/>
                <a:ea typeface="Calibri Light" panose="020F0302020204030204" pitchFamily="34" charset="0"/>
                <a:cs typeface="Calibri Light" panose="020F0302020204030204" pitchFamily="34" charset="0"/>
              </a:rPr>
              <a:t>trong</a:t>
            </a:r>
            <a:r>
              <a:rPr lang="en-AU" sz="2800" b="1" dirty="0">
                <a:latin typeface="Calibri Light" panose="020F0302020204030204" pitchFamily="34" charset="0"/>
                <a:ea typeface="Calibri Light" panose="020F0302020204030204" pitchFamily="34" charset="0"/>
                <a:cs typeface="Calibri Light" panose="020F0302020204030204" pitchFamily="34" charset="0"/>
              </a:rPr>
              <a:t> </a:t>
            </a:r>
            <a:r>
              <a:rPr lang="en-AU" sz="2800" b="1" dirty="0" err="1">
                <a:latin typeface="Calibri Light" panose="020F0302020204030204" pitchFamily="34" charset="0"/>
                <a:ea typeface="Calibri Light" panose="020F0302020204030204" pitchFamily="34" charset="0"/>
                <a:cs typeface="Calibri Light" panose="020F0302020204030204" pitchFamily="34" charset="0"/>
              </a:rPr>
              <a:t>việc</a:t>
            </a:r>
            <a:r>
              <a:rPr lang="en-AU" sz="2800" b="1" dirty="0">
                <a:latin typeface="Calibri Light" panose="020F0302020204030204" pitchFamily="34" charset="0"/>
                <a:ea typeface="Calibri Light" panose="020F0302020204030204" pitchFamily="34" charset="0"/>
                <a:cs typeface="Calibri Light" panose="020F0302020204030204" pitchFamily="34" charset="0"/>
              </a:rPr>
              <a:t> </a:t>
            </a:r>
            <a:r>
              <a:rPr lang="en-AU" sz="2800" b="1" dirty="0" err="1">
                <a:latin typeface="Calibri Light" panose="020F0302020204030204" pitchFamily="34" charset="0"/>
                <a:ea typeface="Calibri Light" panose="020F0302020204030204" pitchFamily="34" charset="0"/>
                <a:cs typeface="Calibri Light" panose="020F0302020204030204" pitchFamily="34" charset="0"/>
              </a:rPr>
              <a:t>tăng</a:t>
            </a:r>
            <a:r>
              <a:rPr lang="en-AU" sz="2800" b="1" dirty="0">
                <a:latin typeface="Calibri Light" panose="020F0302020204030204" pitchFamily="34" charset="0"/>
                <a:ea typeface="Calibri Light" panose="020F0302020204030204" pitchFamily="34" charset="0"/>
                <a:cs typeface="Calibri Light" panose="020F0302020204030204" pitchFamily="34" charset="0"/>
              </a:rPr>
              <a:t> </a:t>
            </a:r>
            <a:r>
              <a:rPr lang="en-AU" sz="2800" b="1" dirty="0" err="1">
                <a:latin typeface="Calibri Light" panose="020F0302020204030204" pitchFamily="34" charset="0"/>
                <a:ea typeface="Calibri Light" panose="020F0302020204030204" pitchFamily="34" charset="0"/>
                <a:cs typeface="Calibri Light" panose="020F0302020204030204" pitchFamily="34" charset="0"/>
              </a:rPr>
              <a:t>khả</a:t>
            </a:r>
            <a:r>
              <a:rPr lang="en-AU" sz="2800" b="1" dirty="0">
                <a:latin typeface="Calibri Light" panose="020F0302020204030204" pitchFamily="34" charset="0"/>
                <a:ea typeface="Calibri Light" panose="020F0302020204030204" pitchFamily="34" charset="0"/>
                <a:cs typeface="Calibri Light" panose="020F0302020204030204" pitchFamily="34" charset="0"/>
              </a:rPr>
              <a:t> </a:t>
            </a:r>
            <a:r>
              <a:rPr lang="en-AU" sz="2800" b="1" dirty="0" err="1">
                <a:latin typeface="Calibri Light" panose="020F0302020204030204" pitchFamily="34" charset="0"/>
                <a:ea typeface="Calibri Light" panose="020F0302020204030204" pitchFamily="34" charset="0"/>
                <a:cs typeface="Calibri Light" panose="020F0302020204030204" pitchFamily="34" charset="0"/>
              </a:rPr>
              <a:t>năng</a:t>
            </a:r>
            <a:r>
              <a:rPr lang="en-AU" sz="2800" b="1" dirty="0">
                <a:latin typeface="Calibri Light" panose="020F0302020204030204" pitchFamily="34" charset="0"/>
                <a:ea typeface="Calibri Light" panose="020F0302020204030204" pitchFamily="34" charset="0"/>
                <a:cs typeface="Calibri Light" panose="020F0302020204030204" pitchFamily="34" charset="0"/>
              </a:rPr>
              <a:t> </a:t>
            </a:r>
            <a:r>
              <a:rPr lang="en-AU" sz="2800" b="1" dirty="0" err="1">
                <a:latin typeface="Calibri Light" panose="020F0302020204030204" pitchFamily="34" charset="0"/>
                <a:ea typeface="Calibri Light" panose="020F0302020204030204" pitchFamily="34" charset="0"/>
                <a:cs typeface="Calibri Light" panose="020F0302020204030204" pitchFamily="34" charset="0"/>
              </a:rPr>
              <a:t>chịu</a:t>
            </a:r>
            <a:r>
              <a:rPr lang="en-AU" sz="2800" b="1" dirty="0">
                <a:latin typeface="Calibri Light" panose="020F0302020204030204" pitchFamily="34" charset="0"/>
                <a:ea typeface="Calibri Light" panose="020F0302020204030204" pitchFamily="34" charset="0"/>
                <a:cs typeface="Calibri Light" panose="020F0302020204030204" pitchFamily="34" charset="0"/>
              </a:rPr>
              <a:t> </a:t>
            </a:r>
            <a:r>
              <a:rPr lang="en-AU" sz="2800" b="1" dirty="0" err="1">
                <a:latin typeface="Calibri Light" panose="020F0302020204030204" pitchFamily="34" charset="0"/>
                <a:ea typeface="Calibri Light" panose="020F0302020204030204" pitchFamily="34" charset="0"/>
                <a:cs typeface="Calibri Light" panose="020F0302020204030204" pitchFamily="34" charset="0"/>
              </a:rPr>
              <a:t>mặn</a:t>
            </a:r>
            <a:r>
              <a:rPr lang="en-AU" sz="2800" b="1" dirty="0">
                <a:latin typeface="Calibri Light" panose="020F0302020204030204" pitchFamily="34" charset="0"/>
                <a:ea typeface="Calibri Light" panose="020F0302020204030204" pitchFamily="34" charset="0"/>
                <a:cs typeface="Calibri Light" panose="020F0302020204030204" pitchFamily="34" charset="0"/>
              </a:rPr>
              <a:t> </a:t>
            </a:r>
            <a:r>
              <a:rPr lang="en-AU" sz="2800" b="1" dirty="0" err="1">
                <a:latin typeface="Calibri Light" panose="020F0302020204030204" pitchFamily="34" charset="0"/>
                <a:ea typeface="Calibri Light" panose="020F0302020204030204" pitchFamily="34" charset="0"/>
                <a:cs typeface="Calibri Light" panose="020F0302020204030204" pitchFamily="34" charset="0"/>
              </a:rPr>
              <a:t>của</a:t>
            </a:r>
            <a:r>
              <a:rPr lang="en-AU" sz="2800" b="1" dirty="0">
                <a:latin typeface="Calibri Light" panose="020F0302020204030204" pitchFamily="34" charset="0"/>
                <a:ea typeface="Calibri Light" panose="020F0302020204030204" pitchFamily="34" charset="0"/>
                <a:cs typeface="Calibri Light" panose="020F0302020204030204" pitchFamily="34" charset="0"/>
              </a:rPr>
              <a:t> </a:t>
            </a:r>
            <a:r>
              <a:rPr lang="en-AU" sz="2800" b="1" dirty="0" err="1">
                <a:latin typeface="Calibri Light" panose="020F0302020204030204" pitchFamily="34" charset="0"/>
                <a:ea typeface="Calibri Light" panose="020F0302020204030204" pitchFamily="34" charset="0"/>
                <a:cs typeface="Calibri Light" panose="020F0302020204030204" pitchFamily="34" charset="0"/>
              </a:rPr>
              <a:t>giống</a:t>
            </a:r>
            <a:r>
              <a:rPr lang="en-AU" sz="2800" b="1" dirty="0">
                <a:latin typeface="Calibri Light" panose="020F0302020204030204" pitchFamily="34" charset="0"/>
                <a:ea typeface="Calibri Light" panose="020F0302020204030204" pitchFamily="34" charset="0"/>
                <a:cs typeface="Calibri Light" panose="020F0302020204030204" pitchFamily="34" charset="0"/>
              </a:rPr>
              <a:t> </a:t>
            </a:r>
            <a:r>
              <a:rPr lang="en-AU" sz="2800" b="1" dirty="0" err="1">
                <a:latin typeface="Calibri Light" panose="020F0302020204030204" pitchFamily="34" charset="0"/>
                <a:ea typeface="Calibri Light" panose="020F0302020204030204" pitchFamily="34" charset="0"/>
                <a:cs typeface="Calibri Light" panose="020F0302020204030204" pitchFamily="34" charset="0"/>
              </a:rPr>
              <a:t>lúa</a:t>
            </a:r>
            <a:r>
              <a:rPr lang="en-AU" sz="2800" b="1" dirty="0">
                <a:latin typeface="Calibri Light" panose="020F0302020204030204" pitchFamily="34" charset="0"/>
                <a:ea typeface="Calibri Light" panose="020F0302020204030204" pitchFamily="34" charset="0"/>
                <a:cs typeface="Calibri Light" panose="020F0302020204030204" pitchFamily="34" charset="0"/>
              </a:rPr>
              <a:t> ST25".</a:t>
            </a:r>
          </a:p>
        </p:txBody>
      </p:sp>
    </p:spTree>
    <p:extLst>
      <p:ext uri="{BB962C8B-B14F-4D97-AF65-F5344CB8AC3E}">
        <p14:creationId xmlns:p14="http://schemas.microsoft.com/office/powerpoint/2010/main" val="11953113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455F0-6A23-D5B2-3EC2-5E898468DB57}"/>
              </a:ext>
            </a:extLst>
          </p:cNvPr>
          <p:cNvSpPr>
            <a:spLocks noGrp="1"/>
          </p:cNvSpPr>
          <p:nvPr>
            <p:ph type="title"/>
          </p:nvPr>
        </p:nvSpPr>
        <p:spPr/>
        <p:txBody>
          <a:bodyPr>
            <a:noAutofit/>
          </a:bodyPr>
          <a:lstStyle/>
          <a:p>
            <a:r>
              <a:rPr lang="vi-VN" sz="4400" b="1" dirty="0">
                <a:latin typeface="Calibri Light" panose="020F0302020204030204" pitchFamily="34" charset="0"/>
                <a:ea typeface="Calibri Light" panose="020F0302020204030204" pitchFamily="34" charset="0"/>
                <a:cs typeface="Calibri Light" panose="020F0302020204030204" pitchFamily="34" charset="0"/>
              </a:rPr>
              <a:t>Kỹ thuật rà soát tài liệu (Literature Review)</a:t>
            </a:r>
            <a:endParaRPr lang="en-AU" sz="14900" b="1"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3" name="Content Placeholder 2">
            <a:extLst>
              <a:ext uri="{FF2B5EF4-FFF2-40B4-BE49-F238E27FC236}">
                <a16:creationId xmlns:a16="http://schemas.microsoft.com/office/drawing/2014/main" id="{F10B2092-036B-85C5-5D03-9AC32C8303AB}"/>
              </a:ext>
            </a:extLst>
          </p:cNvPr>
          <p:cNvSpPr>
            <a:spLocks noGrp="1"/>
          </p:cNvSpPr>
          <p:nvPr>
            <p:ph idx="1"/>
          </p:nvPr>
        </p:nvSpPr>
        <p:spPr/>
        <p:txBody>
          <a:bodyPr>
            <a:normAutofit/>
          </a:bodyPr>
          <a:lstStyle/>
          <a:p>
            <a:pPr algn="just"/>
            <a:r>
              <a:rPr lang="vi-VN" sz="3200" b="1" dirty="0">
                <a:latin typeface="Calibri Light" panose="020F0302020204030204" pitchFamily="34" charset="0"/>
                <a:ea typeface="Calibri Light" panose="020F0302020204030204" pitchFamily="34" charset="0"/>
                <a:cs typeface="Calibri Light" panose="020F0302020204030204" pitchFamily="34" charset="0"/>
              </a:rPr>
              <a:t>Nội dung: Tìm hiểu những gì người khác đã làm.</a:t>
            </a:r>
            <a:endParaRPr lang="en-GB" sz="3200" b="1" dirty="0">
              <a:latin typeface="Calibri Light" panose="020F0302020204030204" pitchFamily="34" charset="0"/>
              <a:ea typeface="Calibri Light" panose="020F0302020204030204" pitchFamily="34" charset="0"/>
              <a:cs typeface="Calibri Light" panose="020F0302020204030204" pitchFamily="34" charset="0"/>
            </a:endParaRPr>
          </a:p>
          <a:p>
            <a:pPr algn="just"/>
            <a:r>
              <a:rPr lang="vi-VN" sz="3200" b="1" dirty="0">
                <a:latin typeface="Calibri Light" panose="020F0302020204030204" pitchFamily="34" charset="0"/>
                <a:ea typeface="Calibri Light" panose="020F0302020204030204" pitchFamily="34" charset="0"/>
                <a:cs typeface="Calibri Light" panose="020F0302020204030204" pitchFamily="34" charset="0"/>
              </a:rPr>
              <a:t>Kiến thức 2026: Sử dụng các công cụ AI như Scispace để phân tích hàng ngàn bài báo trong 5 phút.</a:t>
            </a:r>
            <a:endParaRPr lang="en-AU" sz="2800" b="1" dirty="0">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11565780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455F0-6A23-D5B2-3EC2-5E898468DB57}"/>
              </a:ext>
            </a:extLst>
          </p:cNvPr>
          <p:cNvSpPr>
            <a:spLocks noGrp="1"/>
          </p:cNvSpPr>
          <p:nvPr>
            <p:ph type="title"/>
          </p:nvPr>
        </p:nvSpPr>
        <p:spPr/>
        <p:txBody>
          <a:bodyPr>
            <a:noAutofit/>
          </a:bodyPr>
          <a:lstStyle/>
          <a:p>
            <a:r>
              <a:rPr lang="vi-VN" sz="4400" b="1" dirty="0">
                <a:latin typeface="Calibri Light" panose="020F0302020204030204" pitchFamily="34" charset="0"/>
                <a:ea typeface="Calibri Light" panose="020F0302020204030204" pitchFamily="34" charset="0"/>
                <a:cs typeface="Calibri Light" panose="020F0302020204030204" pitchFamily="34" charset="0"/>
              </a:rPr>
              <a:t>Kỹ thuật đặt câu hỏi nghiên cứu</a:t>
            </a:r>
            <a:endParaRPr lang="en-AU" sz="14900" b="1"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3" name="Content Placeholder 2">
            <a:extLst>
              <a:ext uri="{FF2B5EF4-FFF2-40B4-BE49-F238E27FC236}">
                <a16:creationId xmlns:a16="http://schemas.microsoft.com/office/drawing/2014/main" id="{F10B2092-036B-85C5-5D03-9AC32C8303AB}"/>
              </a:ext>
            </a:extLst>
          </p:cNvPr>
          <p:cNvSpPr>
            <a:spLocks noGrp="1"/>
          </p:cNvSpPr>
          <p:nvPr>
            <p:ph idx="1"/>
          </p:nvPr>
        </p:nvSpPr>
        <p:spPr/>
        <p:txBody>
          <a:bodyPr>
            <a:normAutofit fontScale="70000" lnSpcReduction="20000"/>
          </a:bodyPr>
          <a:lstStyle/>
          <a:p>
            <a:pPr algn="just">
              <a:lnSpc>
                <a:spcPct val="120000"/>
              </a:lnSpc>
            </a:pPr>
            <a:r>
              <a:rPr lang="vi-VN" sz="4000" b="1" dirty="0">
                <a:latin typeface="Calibri Light" panose="020F0302020204030204" pitchFamily="34" charset="0"/>
                <a:ea typeface="Calibri Light" panose="020F0302020204030204" pitchFamily="34" charset="0"/>
                <a:cs typeface="Calibri Light" panose="020F0302020204030204" pitchFamily="34" charset="0"/>
              </a:rPr>
              <a:t>Vấn đề = (Thực trạng) - (Lý thuyết hiện có).</a:t>
            </a:r>
            <a:endParaRPr lang="en-GB" sz="4000" b="1" dirty="0">
              <a:latin typeface="Calibri Light" panose="020F0302020204030204" pitchFamily="34" charset="0"/>
              <a:ea typeface="Calibri Light" panose="020F0302020204030204" pitchFamily="34" charset="0"/>
              <a:cs typeface="Calibri Light" panose="020F0302020204030204" pitchFamily="34" charset="0"/>
            </a:endParaRPr>
          </a:p>
          <a:p>
            <a:pPr algn="just">
              <a:lnSpc>
                <a:spcPct val="120000"/>
              </a:lnSpc>
            </a:pPr>
            <a:r>
              <a:rPr lang="vi-VN" sz="3600" b="1" dirty="0">
                <a:latin typeface="Calibri Light" panose="020F0302020204030204" pitchFamily="34" charset="0"/>
                <a:ea typeface="Calibri Light" panose="020F0302020204030204" pitchFamily="34" charset="0"/>
                <a:cs typeface="Calibri Light" panose="020F0302020204030204" pitchFamily="34" charset="0"/>
              </a:rPr>
              <a:t>Ví dụ minh họa:</a:t>
            </a:r>
            <a:endParaRPr lang="en-GB" sz="3600" b="1" dirty="0">
              <a:latin typeface="Calibri Light" panose="020F0302020204030204" pitchFamily="34" charset="0"/>
              <a:ea typeface="Calibri Light" panose="020F0302020204030204" pitchFamily="34" charset="0"/>
              <a:cs typeface="Calibri Light" panose="020F0302020204030204" pitchFamily="34" charset="0"/>
            </a:endParaRPr>
          </a:p>
          <a:p>
            <a:pPr lvl="1" algn="just">
              <a:lnSpc>
                <a:spcPct val="120000"/>
              </a:lnSpc>
              <a:buFont typeface="Wingdings" panose="05000000000000000000" pitchFamily="2" charset="2"/>
              <a:buChar char="§"/>
            </a:pPr>
            <a:r>
              <a:rPr lang="vi-VN" sz="3200" b="1" dirty="0">
                <a:latin typeface="Calibri Light" panose="020F0302020204030204" pitchFamily="34" charset="0"/>
                <a:ea typeface="Calibri Light" panose="020F0302020204030204" pitchFamily="34" charset="0"/>
                <a:cs typeface="Calibri Light" panose="020F0302020204030204" pitchFamily="34" charset="0"/>
              </a:rPr>
              <a:t>Thực trạng: Tỉ lệ rác thải nhựa tại Việt Nam năm 2026 tăng 20%, các bãi rác đang quá tải.</a:t>
            </a:r>
            <a:endParaRPr lang="en-GB" sz="3200" b="1" dirty="0">
              <a:latin typeface="Calibri Light" panose="020F0302020204030204" pitchFamily="34" charset="0"/>
              <a:ea typeface="Calibri Light" panose="020F0302020204030204" pitchFamily="34" charset="0"/>
              <a:cs typeface="Calibri Light" panose="020F0302020204030204" pitchFamily="34" charset="0"/>
            </a:endParaRPr>
          </a:p>
          <a:p>
            <a:pPr lvl="1" algn="just">
              <a:lnSpc>
                <a:spcPct val="120000"/>
              </a:lnSpc>
              <a:buFont typeface="Wingdings" panose="05000000000000000000" pitchFamily="2" charset="2"/>
              <a:buChar char="§"/>
            </a:pPr>
            <a:r>
              <a:rPr lang="vi-VN" sz="3200" b="1" dirty="0">
                <a:latin typeface="Calibri Light" panose="020F0302020204030204" pitchFamily="34" charset="0"/>
                <a:ea typeface="Calibri Light" panose="020F0302020204030204" pitchFamily="34" charset="0"/>
                <a:cs typeface="Calibri Light" panose="020F0302020204030204" pitchFamily="34" charset="0"/>
              </a:rPr>
              <a:t>Lý thuyết hiện có: Vi khuẩn Ideonella sakaiensis có thể ăn nhựa, nhưng tốc độ rất chậm (cần 6 tuần để phân hủy một miếng nhựa nhỏ).</a:t>
            </a:r>
            <a:endParaRPr lang="en-GB" sz="3200" b="1" dirty="0">
              <a:latin typeface="Calibri Light" panose="020F0302020204030204" pitchFamily="34" charset="0"/>
              <a:ea typeface="Calibri Light" panose="020F0302020204030204" pitchFamily="34" charset="0"/>
              <a:cs typeface="Calibri Light" panose="020F0302020204030204" pitchFamily="34" charset="0"/>
            </a:endParaRPr>
          </a:p>
          <a:p>
            <a:pPr lvl="1" algn="just">
              <a:lnSpc>
                <a:spcPct val="120000"/>
              </a:lnSpc>
              <a:buFont typeface="Wingdings" panose="05000000000000000000" pitchFamily="2" charset="2"/>
              <a:buChar char="§"/>
            </a:pPr>
            <a:r>
              <a:rPr lang="vi-VN" sz="3200" b="1" dirty="0">
                <a:latin typeface="Calibri Light" panose="020F0302020204030204" pitchFamily="34" charset="0"/>
                <a:ea typeface="Calibri Light" panose="020F0302020204030204" pitchFamily="34" charset="0"/>
                <a:cs typeface="Calibri Light" panose="020F0302020204030204" pitchFamily="34" charset="0"/>
              </a:rPr>
              <a:t>Vấn đề nghiên cứu: Làm thế nào để đột biến gene hoặc tối ưu hóa enzyme PETase của vi khuẩn này để tăng tốc độ phân hủy nhựa lên gấp 10 lần?</a:t>
            </a:r>
            <a:endParaRPr lang="en-AU" sz="3200" b="1" dirty="0">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14468357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455F0-6A23-D5B2-3EC2-5E898468DB57}"/>
              </a:ext>
            </a:extLst>
          </p:cNvPr>
          <p:cNvSpPr>
            <a:spLocks noGrp="1"/>
          </p:cNvSpPr>
          <p:nvPr>
            <p:ph type="title"/>
          </p:nvPr>
        </p:nvSpPr>
        <p:spPr/>
        <p:txBody>
          <a:bodyPr>
            <a:noAutofit/>
          </a:bodyPr>
          <a:lstStyle/>
          <a:p>
            <a:r>
              <a:rPr lang="vi-VN" sz="4400" b="1" dirty="0">
                <a:latin typeface="Calibri Light" panose="020F0302020204030204" pitchFamily="34" charset="0"/>
                <a:ea typeface="Calibri Light" panose="020F0302020204030204" pitchFamily="34" charset="0"/>
                <a:cs typeface="Calibri Light" panose="020F0302020204030204" pitchFamily="34" charset="0"/>
              </a:rPr>
              <a:t>Sự cần thiết của giả thuyết (Hypothesis)</a:t>
            </a:r>
            <a:endParaRPr lang="en-AU" sz="14900" b="1"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3" name="Content Placeholder 2">
            <a:extLst>
              <a:ext uri="{FF2B5EF4-FFF2-40B4-BE49-F238E27FC236}">
                <a16:creationId xmlns:a16="http://schemas.microsoft.com/office/drawing/2014/main" id="{F10B2092-036B-85C5-5D03-9AC32C8303AB}"/>
              </a:ext>
            </a:extLst>
          </p:cNvPr>
          <p:cNvSpPr>
            <a:spLocks noGrp="1"/>
          </p:cNvSpPr>
          <p:nvPr>
            <p:ph idx="1"/>
          </p:nvPr>
        </p:nvSpPr>
        <p:spPr/>
        <p:txBody>
          <a:bodyPr>
            <a:noAutofit/>
          </a:bodyPr>
          <a:lstStyle/>
          <a:p>
            <a:pPr algn="just">
              <a:lnSpc>
                <a:spcPct val="120000"/>
              </a:lnSpc>
            </a:pPr>
            <a:r>
              <a:rPr lang="en-GB" sz="2500" b="1" dirty="0" err="1">
                <a:latin typeface="Calibri Light" panose="020F0302020204030204" pitchFamily="34" charset="0"/>
                <a:ea typeface="Calibri Light" panose="020F0302020204030204" pitchFamily="34" charset="0"/>
                <a:cs typeface="Calibri Light" panose="020F0302020204030204" pitchFamily="34" charset="0"/>
              </a:rPr>
              <a:t>Giải</a:t>
            </a:r>
            <a:r>
              <a:rPr lang="en-GB" sz="2500" b="1" dirty="0">
                <a:latin typeface="Calibri Light" panose="020F0302020204030204" pitchFamily="34" charset="0"/>
                <a:ea typeface="Calibri Light" panose="020F0302020204030204" pitchFamily="34" charset="0"/>
                <a:cs typeface="Calibri Light" panose="020F0302020204030204" pitchFamily="34" charset="0"/>
              </a:rPr>
              <a:t> </a:t>
            </a:r>
            <a:r>
              <a:rPr lang="en-GB" sz="2500" b="1" dirty="0" err="1">
                <a:latin typeface="Calibri Light" panose="020F0302020204030204" pitchFamily="34" charset="0"/>
                <a:ea typeface="Calibri Light" panose="020F0302020204030204" pitchFamily="34" charset="0"/>
                <a:cs typeface="Calibri Light" panose="020F0302020204030204" pitchFamily="34" charset="0"/>
              </a:rPr>
              <a:t>Thuyết</a:t>
            </a:r>
            <a:r>
              <a:rPr lang="en-GB" sz="2500" b="1" dirty="0">
                <a:ea typeface="Calibri Light" panose="020F0302020204030204" pitchFamily="34" charset="0"/>
                <a:cs typeface="Calibri Light" panose="020F0302020204030204" pitchFamily="34" charset="0"/>
              </a:rPr>
              <a:t> </a:t>
            </a:r>
            <a:r>
              <a:rPr lang="en-GB" sz="2500" b="1" dirty="0" err="1">
                <a:ea typeface="Calibri Light" panose="020F0302020204030204" pitchFamily="34" charset="0"/>
                <a:cs typeface="Calibri Light" panose="020F0302020204030204" pitchFamily="34" charset="0"/>
              </a:rPr>
              <a:t>là</a:t>
            </a:r>
            <a:r>
              <a:rPr lang="en-GB" sz="2500" b="1" dirty="0">
                <a:ea typeface="Calibri Light" panose="020F0302020204030204" pitchFamily="34" charset="0"/>
                <a:cs typeface="Calibri Light" panose="020F0302020204030204" pitchFamily="34" charset="0"/>
              </a:rPr>
              <a:t> m</a:t>
            </a:r>
            <a:r>
              <a:rPr lang="vi-VN" sz="2500" b="1" dirty="0">
                <a:latin typeface="Calibri Light" panose="020F0302020204030204" pitchFamily="34" charset="0"/>
                <a:ea typeface="Calibri Light" panose="020F0302020204030204" pitchFamily="34" charset="0"/>
                <a:cs typeface="Calibri Light" panose="020F0302020204030204" pitchFamily="34" charset="0"/>
              </a:rPr>
              <a:t>ột dự đoán có cơ sở khoa học để kiểm chứng.</a:t>
            </a:r>
            <a:endParaRPr lang="en-GB" sz="2500" b="1" dirty="0">
              <a:latin typeface="Calibri Light" panose="020F0302020204030204" pitchFamily="34" charset="0"/>
              <a:ea typeface="Calibri Light" panose="020F0302020204030204" pitchFamily="34" charset="0"/>
              <a:cs typeface="Calibri Light" panose="020F0302020204030204" pitchFamily="34" charset="0"/>
            </a:endParaRPr>
          </a:p>
          <a:p>
            <a:pPr algn="just">
              <a:lnSpc>
                <a:spcPct val="120000"/>
              </a:lnSpc>
            </a:pPr>
            <a:r>
              <a:rPr lang="en-AU" sz="2500" b="1" dirty="0" err="1">
                <a:latin typeface="Calibri Light" panose="020F0302020204030204" pitchFamily="34" charset="0"/>
                <a:ea typeface="Calibri Light" panose="020F0302020204030204" pitchFamily="34" charset="0"/>
                <a:cs typeface="Calibri Light" panose="020F0302020204030204" pitchFamily="34" charset="0"/>
              </a:rPr>
              <a:t>Ví</a:t>
            </a:r>
            <a:r>
              <a:rPr lang="en-AU" sz="2500" b="1" dirty="0">
                <a:latin typeface="Calibri Light" panose="020F0302020204030204" pitchFamily="34" charset="0"/>
                <a:ea typeface="Calibri Light" panose="020F0302020204030204" pitchFamily="34" charset="0"/>
                <a:cs typeface="Calibri Light" panose="020F0302020204030204" pitchFamily="34" charset="0"/>
              </a:rPr>
              <a:t> </a:t>
            </a:r>
            <a:r>
              <a:rPr lang="en-AU" sz="2500" b="1" dirty="0" err="1">
                <a:latin typeface="Calibri Light" panose="020F0302020204030204" pitchFamily="34" charset="0"/>
                <a:ea typeface="Calibri Light" panose="020F0302020204030204" pitchFamily="34" charset="0"/>
                <a:cs typeface="Calibri Light" panose="020F0302020204030204" pitchFamily="34" charset="0"/>
              </a:rPr>
              <a:t>dụ</a:t>
            </a:r>
            <a:r>
              <a:rPr lang="en-AU" sz="2500" b="1" dirty="0">
                <a:latin typeface="Calibri Light" panose="020F0302020204030204" pitchFamily="34" charset="0"/>
                <a:ea typeface="Calibri Light" panose="020F0302020204030204" pitchFamily="34" charset="0"/>
                <a:cs typeface="Calibri Light" panose="020F0302020204030204" pitchFamily="34" charset="0"/>
              </a:rPr>
              <a:t>: "</a:t>
            </a:r>
            <a:r>
              <a:rPr lang="en-AU" sz="2500" b="1" dirty="0" err="1">
                <a:latin typeface="Calibri Light" panose="020F0302020204030204" pitchFamily="34" charset="0"/>
                <a:ea typeface="Calibri Light" panose="020F0302020204030204" pitchFamily="34" charset="0"/>
                <a:cs typeface="Calibri Light" panose="020F0302020204030204" pitchFamily="34" charset="0"/>
              </a:rPr>
              <a:t>Bổ</a:t>
            </a:r>
            <a:r>
              <a:rPr lang="en-AU" sz="2500" b="1" dirty="0">
                <a:latin typeface="Calibri Light" panose="020F0302020204030204" pitchFamily="34" charset="0"/>
                <a:ea typeface="Calibri Light" panose="020F0302020204030204" pitchFamily="34" charset="0"/>
                <a:cs typeface="Calibri Light" panose="020F0302020204030204" pitchFamily="34" charset="0"/>
              </a:rPr>
              <a:t> sung Nano </a:t>
            </a:r>
            <a:r>
              <a:rPr lang="en-AU" sz="2500" b="1" dirty="0" err="1">
                <a:latin typeface="Calibri Light" panose="020F0302020204030204" pitchFamily="34" charset="0"/>
                <a:ea typeface="Calibri Light" panose="020F0302020204030204" pitchFamily="34" charset="0"/>
                <a:cs typeface="Calibri Light" panose="020F0302020204030204" pitchFamily="34" charset="0"/>
              </a:rPr>
              <a:t>bạc</a:t>
            </a:r>
            <a:r>
              <a:rPr lang="en-AU" sz="2500" b="1" dirty="0">
                <a:latin typeface="Calibri Light" panose="020F0302020204030204" pitchFamily="34" charset="0"/>
                <a:ea typeface="Calibri Light" panose="020F0302020204030204" pitchFamily="34" charset="0"/>
                <a:cs typeface="Calibri Light" panose="020F0302020204030204" pitchFamily="34" charset="0"/>
              </a:rPr>
              <a:t> </a:t>
            </a:r>
            <a:r>
              <a:rPr lang="en-AU" sz="2500" b="1" dirty="0" err="1">
                <a:latin typeface="Calibri Light" panose="020F0302020204030204" pitchFamily="34" charset="0"/>
                <a:ea typeface="Calibri Light" panose="020F0302020204030204" pitchFamily="34" charset="0"/>
                <a:cs typeface="Calibri Light" panose="020F0302020204030204" pitchFamily="34" charset="0"/>
              </a:rPr>
              <a:t>nồng</a:t>
            </a:r>
            <a:r>
              <a:rPr lang="en-AU" sz="2500" b="1" dirty="0">
                <a:latin typeface="Calibri Light" panose="020F0302020204030204" pitchFamily="34" charset="0"/>
                <a:ea typeface="Calibri Light" panose="020F0302020204030204" pitchFamily="34" charset="0"/>
                <a:cs typeface="Calibri Light" panose="020F0302020204030204" pitchFamily="34" charset="0"/>
              </a:rPr>
              <a:t> </a:t>
            </a:r>
            <a:r>
              <a:rPr lang="en-AU" sz="2500" b="1" dirty="0" err="1">
                <a:latin typeface="Calibri Light" panose="020F0302020204030204" pitchFamily="34" charset="0"/>
                <a:ea typeface="Calibri Light" panose="020F0302020204030204" pitchFamily="34" charset="0"/>
                <a:cs typeface="Calibri Light" panose="020F0302020204030204" pitchFamily="34" charset="0"/>
              </a:rPr>
              <a:t>độ</a:t>
            </a:r>
            <a:r>
              <a:rPr lang="en-AU" sz="2500" b="1" dirty="0">
                <a:latin typeface="Calibri Light" panose="020F0302020204030204" pitchFamily="34" charset="0"/>
                <a:ea typeface="Calibri Light" panose="020F0302020204030204" pitchFamily="34" charset="0"/>
                <a:cs typeface="Calibri Light" panose="020F0302020204030204" pitchFamily="34" charset="0"/>
              </a:rPr>
              <a:t> 5ppm </a:t>
            </a:r>
            <a:r>
              <a:rPr lang="en-AU" sz="2500" b="1" dirty="0" err="1">
                <a:latin typeface="Calibri Light" panose="020F0302020204030204" pitchFamily="34" charset="0"/>
                <a:ea typeface="Calibri Light" panose="020F0302020204030204" pitchFamily="34" charset="0"/>
                <a:cs typeface="Calibri Light" panose="020F0302020204030204" pitchFamily="34" charset="0"/>
              </a:rPr>
              <a:t>sẽ</a:t>
            </a:r>
            <a:r>
              <a:rPr lang="en-AU" sz="2500" b="1" dirty="0">
                <a:latin typeface="Calibri Light" panose="020F0302020204030204" pitchFamily="34" charset="0"/>
                <a:ea typeface="Calibri Light" panose="020F0302020204030204" pitchFamily="34" charset="0"/>
                <a:cs typeface="Calibri Light" panose="020F0302020204030204" pitchFamily="34" charset="0"/>
              </a:rPr>
              <a:t> </a:t>
            </a:r>
            <a:r>
              <a:rPr lang="en-AU" sz="2500" b="1" dirty="0" err="1">
                <a:latin typeface="Calibri Light" panose="020F0302020204030204" pitchFamily="34" charset="0"/>
                <a:ea typeface="Calibri Light" panose="020F0302020204030204" pitchFamily="34" charset="0"/>
                <a:cs typeface="Calibri Light" panose="020F0302020204030204" pitchFamily="34" charset="0"/>
              </a:rPr>
              <a:t>ức</a:t>
            </a:r>
            <a:r>
              <a:rPr lang="en-AU" sz="2500" b="1" dirty="0">
                <a:latin typeface="Calibri Light" panose="020F0302020204030204" pitchFamily="34" charset="0"/>
                <a:ea typeface="Calibri Light" panose="020F0302020204030204" pitchFamily="34" charset="0"/>
                <a:cs typeface="Calibri Light" panose="020F0302020204030204" pitchFamily="34" charset="0"/>
              </a:rPr>
              <a:t> </a:t>
            </a:r>
            <a:r>
              <a:rPr lang="en-AU" sz="2500" b="1" dirty="0" err="1">
                <a:latin typeface="Calibri Light" panose="020F0302020204030204" pitchFamily="34" charset="0"/>
                <a:ea typeface="Calibri Light" panose="020F0302020204030204" pitchFamily="34" charset="0"/>
                <a:cs typeface="Calibri Light" panose="020F0302020204030204" pitchFamily="34" charset="0"/>
              </a:rPr>
              <a:t>chế</a:t>
            </a:r>
            <a:r>
              <a:rPr lang="en-AU" sz="2500" b="1" dirty="0">
                <a:latin typeface="Calibri Light" panose="020F0302020204030204" pitchFamily="34" charset="0"/>
                <a:ea typeface="Calibri Light" panose="020F0302020204030204" pitchFamily="34" charset="0"/>
                <a:cs typeface="Calibri Light" panose="020F0302020204030204" pitchFamily="34" charset="0"/>
              </a:rPr>
              <a:t> 99% </a:t>
            </a:r>
            <a:r>
              <a:rPr lang="en-AU" sz="2500" b="1" dirty="0" err="1">
                <a:latin typeface="Calibri Light" panose="020F0302020204030204" pitchFamily="34" charset="0"/>
                <a:ea typeface="Calibri Light" panose="020F0302020204030204" pitchFamily="34" charset="0"/>
                <a:cs typeface="Calibri Light" panose="020F0302020204030204" pitchFamily="34" charset="0"/>
              </a:rPr>
              <a:t>sự</a:t>
            </a:r>
            <a:r>
              <a:rPr lang="en-AU" sz="2500" b="1" dirty="0">
                <a:latin typeface="Calibri Light" panose="020F0302020204030204" pitchFamily="34" charset="0"/>
                <a:ea typeface="Calibri Light" panose="020F0302020204030204" pitchFamily="34" charset="0"/>
                <a:cs typeface="Calibri Light" panose="020F0302020204030204" pitchFamily="34" charset="0"/>
              </a:rPr>
              <a:t> </a:t>
            </a:r>
            <a:r>
              <a:rPr lang="en-AU" sz="2500" b="1" dirty="0" err="1">
                <a:latin typeface="Calibri Light" panose="020F0302020204030204" pitchFamily="34" charset="0"/>
                <a:ea typeface="Calibri Light" panose="020F0302020204030204" pitchFamily="34" charset="0"/>
                <a:cs typeface="Calibri Light" panose="020F0302020204030204" pitchFamily="34" charset="0"/>
              </a:rPr>
              <a:t>phát</a:t>
            </a:r>
            <a:r>
              <a:rPr lang="en-AU" sz="2500" b="1" dirty="0">
                <a:latin typeface="Calibri Light" panose="020F0302020204030204" pitchFamily="34" charset="0"/>
                <a:ea typeface="Calibri Light" panose="020F0302020204030204" pitchFamily="34" charset="0"/>
                <a:cs typeface="Calibri Light" panose="020F0302020204030204" pitchFamily="34" charset="0"/>
              </a:rPr>
              <a:t> </a:t>
            </a:r>
            <a:r>
              <a:rPr lang="en-AU" sz="2500" b="1" dirty="0" err="1">
                <a:latin typeface="Calibri Light" panose="020F0302020204030204" pitchFamily="34" charset="0"/>
                <a:ea typeface="Calibri Light" panose="020F0302020204030204" pitchFamily="34" charset="0"/>
                <a:cs typeface="Calibri Light" panose="020F0302020204030204" pitchFamily="34" charset="0"/>
              </a:rPr>
              <a:t>triển</a:t>
            </a:r>
            <a:r>
              <a:rPr lang="en-AU" sz="2500" b="1" dirty="0">
                <a:latin typeface="Calibri Light" panose="020F0302020204030204" pitchFamily="34" charset="0"/>
                <a:ea typeface="Calibri Light" panose="020F0302020204030204" pitchFamily="34" charset="0"/>
                <a:cs typeface="Calibri Light" panose="020F0302020204030204" pitchFamily="34" charset="0"/>
              </a:rPr>
              <a:t> </a:t>
            </a:r>
            <a:r>
              <a:rPr lang="en-AU" sz="2500" b="1" dirty="0" err="1">
                <a:latin typeface="Calibri Light" panose="020F0302020204030204" pitchFamily="34" charset="0"/>
                <a:ea typeface="Calibri Light" panose="020F0302020204030204" pitchFamily="34" charset="0"/>
                <a:cs typeface="Calibri Light" panose="020F0302020204030204" pitchFamily="34" charset="0"/>
              </a:rPr>
              <a:t>của</a:t>
            </a:r>
            <a:r>
              <a:rPr lang="en-AU" sz="2500" b="1" dirty="0">
                <a:latin typeface="Calibri Light" panose="020F0302020204030204" pitchFamily="34" charset="0"/>
                <a:ea typeface="Calibri Light" panose="020F0302020204030204" pitchFamily="34" charset="0"/>
                <a:cs typeface="Calibri Light" panose="020F0302020204030204" pitchFamily="34" charset="0"/>
              </a:rPr>
              <a:t> vi </a:t>
            </a:r>
            <a:r>
              <a:rPr lang="en-AU" sz="2500" b="1" dirty="0" err="1">
                <a:latin typeface="Calibri Light" panose="020F0302020204030204" pitchFamily="34" charset="0"/>
                <a:ea typeface="Calibri Light" panose="020F0302020204030204" pitchFamily="34" charset="0"/>
                <a:cs typeface="Calibri Light" panose="020F0302020204030204" pitchFamily="34" charset="0"/>
              </a:rPr>
              <a:t>khuẩn</a:t>
            </a:r>
            <a:r>
              <a:rPr lang="en-AU" sz="2500" b="1" dirty="0">
                <a:latin typeface="Calibri Light" panose="020F0302020204030204" pitchFamily="34" charset="0"/>
                <a:ea typeface="Calibri Light" panose="020F0302020204030204" pitchFamily="34" charset="0"/>
                <a:cs typeface="Calibri Light" panose="020F0302020204030204" pitchFamily="34" charset="0"/>
              </a:rPr>
              <a:t> E. coli </a:t>
            </a:r>
            <a:r>
              <a:rPr lang="en-AU" sz="2500" b="1" dirty="0" err="1">
                <a:latin typeface="Calibri Light" panose="020F0302020204030204" pitchFamily="34" charset="0"/>
                <a:ea typeface="Calibri Light" panose="020F0302020204030204" pitchFamily="34" charset="0"/>
                <a:cs typeface="Calibri Light" panose="020F0302020204030204" pitchFamily="34" charset="0"/>
              </a:rPr>
              <a:t>trong</a:t>
            </a:r>
            <a:r>
              <a:rPr lang="en-AU" sz="2500" b="1" dirty="0">
                <a:latin typeface="Calibri Light" panose="020F0302020204030204" pitchFamily="34" charset="0"/>
                <a:ea typeface="Calibri Light" panose="020F0302020204030204" pitchFamily="34" charset="0"/>
                <a:cs typeface="Calibri Light" panose="020F0302020204030204" pitchFamily="34" charset="0"/>
              </a:rPr>
              <a:t> 2 </a:t>
            </a:r>
            <a:r>
              <a:rPr lang="en-AU" sz="2500" b="1" dirty="0" err="1">
                <a:latin typeface="Calibri Light" panose="020F0302020204030204" pitchFamily="34" charset="0"/>
                <a:ea typeface="Calibri Light" panose="020F0302020204030204" pitchFamily="34" charset="0"/>
                <a:cs typeface="Calibri Light" panose="020F0302020204030204" pitchFamily="34" charset="0"/>
              </a:rPr>
              <a:t>giờ</a:t>
            </a:r>
            <a:r>
              <a:rPr lang="en-AU" sz="2500" b="1" dirty="0">
                <a:latin typeface="Calibri Light" panose="020F0302020204030204" pitchFamily="34" charset="0"/>
                <a:ea typeface="Calibri Light" panose="020F0302020204030204" pitchFamily="34" charset="0"/>
                <a:cs typeface="Calibri Light" panose="020F0302020204030204" pitchFamily="34" charset="0"/>
              </a:rPr>
              <a:t>.“</a:t>
            </a:r>
          </a:p>
          <a:p>
            <a:pPr algn="just">
              <a:lnSpc>
                <a:spcPct val="120000"/>
              </a:lnSpc>
            </a:pPr>
            <a:r>
              <a:rPr lang="vi-VN" sz="2500" b="1" dirty="0">
                <a:latin typeface="Calibri Light" panose="020F0302020204030204" pitchFamily="34" charset="0"/>
                <a:ea typeface="Calibri Light" panose="020F0302020204030204" pitchFamily="34" charset="0"/>
                <a:cs typeface="Calibri Light" panose="020F0302020204030204" pitchFamily="34" charset="0"/>
              </a:rPr>
              <a:t>Giả thuyết là một lời giải thích tạm thời, có tính dự đoán về mối quan hệ giữa các biến số.</a:t>
            </a:r>
            <a:endParaRPr lang="en-GB" sz="2500" b="1" dirty="0">
              <a:latin typeface="Calibri Light" panose="020F0302020204030204" pitchFamily="34" charset="0"/>
              <a:ea typeface="Calibri Light" panose="020F0302020204030204" pitchFamily="34" charset="0"/>
              <a:cs typeface="Calibri Light" panose="020F0302020204030204" pitchFamily="34" charset="0"/>
            </a:endParaRPr>
          </a:p>
          <a:p>
            <a:pPr algn="just">
              <a:lnSpc>
                <a:spcPct val="120000"/>
              </a:lnSpc>
            </a:pPr>
            <a:r>
              <a:rPr lang="vi-VN" sz="2500" b="1" dirty="0">
                <a:latin typeface="Calibri Light" panose="020F0302020204030204" pitchFamily="34" charset="0"/>
                <a:ea typeface="Calibri Light" panose="020F0302020204030204" pitchFamily="34" charset="0"/>
                <a:cs typeface="Calibri Light" panose="020F0302020204030204" pitchFamily="34" charset="0"/>
              </a:rPr>
              <a:t>Ví dụ: "Nếu tăng nồng độ Cytokinin trong môi trường MS lên 2.5 mg/L, thì tỉ lệ nảy chồi của mô sẹo sâm Ngọc Linh sẽ tăng thêm 30% so với nồng độ chuẩn."</a:t>
            </a:r>
            <a:endParaRPr lang="en-AU" sz="2500" b="1" dirty="0">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10881997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455F0-6A23-D5B2-3EC2-5E898468DB57}"/>
              </a:ext>
            </a:extLst>
          </p:cNvPr>
          <p:cNvSpPr>
            <a:spLocks noGrp="1"/>
          </p:cNvSpPr>
          <p:nvPr>
            <p:ph type="title"/>
          </p:nvPr>
        </p:nvSpPr>
        <p:spPr/>
        <p:txBody>
          <a:bodyPr>
            <a:noAutofit/>
          </a:bodyPr>
          <a:lstStyle/>
          <a:p>
            <a:r>
              <a:rPr lang="vi-VN" sz="4400" b="1" dirty="0">
                <a:latin typeface="Calibri Light" panose="020F0302020204030204" pitchFamily="34" charset="0"/>
                <a:ea typeface="Calibri Light" panose="020F0302020204030204" pitchFamily="34" charset="0"/>
                <a:cs typeface="Calibri Light" panose="020F0302020204030204" pitchFamily="34" charset="0"/>
              </a:rPr>
              <a:t>Bài tập ứng dụng 1</a:t>
            </a:r>
            <a:endParaRPr lang="en-AU" sz="14900" b="1"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3" name="Content Placeholder 2">
            <a:extLst>
              <a:ext uri="{FF2B5EF4-FFF2-40B4-BE49-F238E27FC236}">
                <a16:creationId xmlns:a16="http://schemas.microsoft.com/office/drawing/2014/main" id="{F10B2092-036B-85C5-5D03-9AC32C8303AB}"/>
              </a:ext>
            </a:extLst>
          </p:cNvPr>
          <p:cNvSpPr>
            <a:spLocks noGrp="1"/>
          </p:cNvSpPr>
          <p:nvPr>
            <p:ph idx="1"/>
          </p:nvPr>
        </p:nvSpPr>
        <p:spPr/>
        <p:txBody>
          <a:bodyPr>
            <a:normAutofit/>
          </a:bodyPr>
          <a:lstStyle/>
          <a:p>
            <a:pPr algn="just"/>
            <a:r>
              <a:rPr lang="vi-VN" sz="4000" b="1" dirty="0">
                <a:latin typeface="Calibri Light" panose="020F0302020204030204" pitchFamily="34" charset="0"/>
                <a:ea typeface="Calibri Light" panose="020F0302020204030204" pitchFamily="34" charset="0"/>
                <a:cs typeface="Calibri Light" panose="020F0302020204030204" pitchFamily="34" charset="0"/>
              </a:rPr>
              <a:t>Chia nhóm </a:t>
            </a:r>
            <a:r>
              <a:rPr lang="en-GB" sz="4000" b="1" dirty="0">
                <a:latin typeface="Calibri Light" panose="020F0302020204030204" pitchFamily="34" charset="0"/>
                <a:ea typeface="Calibri Light" panose="020F0302020204030204" pitchFamily="34" charset="0"/>
                <a:cs typeface="Calibri Light" panose="020F0302020204030204" pitchFamily="34" charset="0"/>
              </a:rPr>
              <a:t>2</a:t>
            </a:r>
            <a:r>
              <a:rPr lang="vi-VN" sz="4000" b="1" dirty="0">
                <a:latin typeface="Calibri Light" panose="020F0302020204030204" pitchFamily="34" charset="0"/>
                <a:ea typeface="Calibri Light" panose="020F0302020204030204" pitchFamily="34" charset="0"/>
                <a:cs typeface="Calibri Light" panose="020F0302020204030204" pitchFamily="34" charset="0"/>
              </a:rPr>
              <a:t> người. Quan sát một hiện tượng trong phòng Lab vi sinh</a:t>
            </a:r>
            <a:r>
              <a:rPr lang="en-GB" sz="4000" b="1" dirty="0">
                <a:latin typeface="Calibri Light" panose="020F0302020204030204" pitchFamily="34" charset="0"/>
                <a:ea typeface="Calibri Light" panose="020F0302020204030204" pitchFamily="34" charset="0"/>
                <a:cs typeface="Calibri Light" panose="020F0302020204030204" pitchFamily="34" charset="0"/>
              </a:rPr>
              <a:t>/</a:t>
            </a:r>
            <a:r>
              <a:rPr lang="en-GB" sz="4000" b="1" dirty="0" err="1">
                <a:latin typeface="Calibri Light" panose="020F0302020204030204" pitchFamily="34" charset="0"/>
                <a:ea typeface="Calibri Light" panose="020F0302020204030204" pitchFamily="34" charset="0"/>
                <a:cs typeface="Calibri Light" panose="020F0302020204030204" pitchFamily="34" charset="0"/>
              </a:rPr>
              <a:t>nuôi</a:t>
            </a:r>
            <a:r>
              <a:rPr lang="en-GB" sz="4000" b="1" dirty="0">
                <a:latin typeface="Calibri Light" panose="020F0302020204030204" pitchFamily="34" charset="0"/>
                <a:ea typeface="Calibri Light" panose="020F0302020204030204" pitchFamily="34" charset="0"/>
                <a:cs typeface="Calibri Light" panose="020F0302020204030204" pitchFamily="34" charset="0"/>
              </a:rPr>
              <a:t> </a:t>
            </a:r>
            <a:r>
              <a:rPr lang="en-GB" sz="4000" b="1" dirty="0" err="1">
                <a:latin typeface="Calibri Light" panose="020F0302020204030204" pitchFamily="34" charset="0"/>
                <a:ea typeface="Calibri Light" panose="020F0302020204030204" pitchFamily="34" charset="0"/>
                <a:cs typeface="Calibri Light" panose="020F0302020204030204" pitchFamily="34" charset="0"/>
              </a:rPr>
              <a:t>cấy</a:t>
            </a:r>
            <a:r>
              <a:rPr lang="en-GB" sz="4000" b="1" dirty="0">
                <a:latin typeface="Calibri Light" panose="020F0302020204030204" pitchFamily="34" charset="0"/>
                <a:ea typeface="Calibri Light" panose="020F0302020204030204" pitchFamily="34" charset="0"/>
                <a:cs typeface="Calibri Light" panose="020F0302020204030204" pitchFamily="34" charset="0"/>
              </a:rPr>
              <a:t> </a:t>
            </a:r>
            <a:r>
              <a:rPr lang="en-GB" sz="4000" b="1" dirty="0" err="1">
                <a:latin typeface="Calibri Light" panose="020F0302020204030204" pitchFamily="34" charset="0"/>
                <a:ea typeface="Calibri Light" panose="020F0302020204030204" pitchFamily="34" charset="0"/>
                <a:cs typeface="Calibri Light" panose="020F0302020204030204" pitchFamily="34" charset="0"/>
              </a:rPr>
              <a:t>mô</a:t>
            </a:r>
            <a:r>
              <a:rPr lang="en-GB" sz="4000" b="1" dirty="0">
                <a:latin typeface="Calibri Light" panose="020F0302020204030204" pitchFamily="34" charset="0"/>
                <a:ea typeface="Calibri Light" panose="020F0302020204030204" pitchFamily="34" charset="0"/>
                <a:cs typeface="Calibri Light" panose="020F0302020204030204" pitchFamily="34" charset="0"/>
              </a:rPr>
              <a:t> </a:t>
            </a:r>
            <a:r>
              <a:rPr lang="en-GB" sz="4000" b="1" dirty="0" err="1">
                <a:latin typeface="Calibri Light" panose="020F0302020204030204" pitchFamily="34" charset="0"/>
                <a:ea typeface="Calibri Light" panose="020F0302020204030204" pitchFamily="34" charset="0"/>
                <a:cs typeface="Calibri Light" panose="020F0302020204030204" pitchFamily="34" charset="0"/>
              </a:rPr>
              <a:t>mà</a:t>
            </a:r>
            <a:r>
              <a:rPr lang="en-GB" sz="4000" b="1" dirty="0">
                <a:latin typeface="Calibri Light" panose="020F0302020204030204" pitchFamily="34" charset="0"/>
                <a:ea typeface="Calibri Light" panose="020F0302020204030204" pitchFamily="34" charset="0"/>
                <a:cs typeface="Calibri Light" panose="020F0302020204030204" pitchFamily="34" charset="0"/>
              </a:rPr>
              <a:t> </a:t>
            </a:r>
            <a:r>
              <a:rPr lang="en-GB" sz="4000" b="1" dirty="0" err="1">
                <a:latin typeface="Calibri Light" panose="020F0302020204030204" pitchFamily="34" charset="0"/>
                <a:ea typeface="Calibri Light" panose="020F0302020204030204" pitchFamily="34" charset="0"/>
                <a:cs typeface="Calibri Light" panose="020F0302020204030204" pitchFamily="34" charset="0"/>
              </a:rPr>
              <a:t>nhóm</a:t>
            </a:r>
            <a:r>
              <a:rPr lang="en-GB" sz="4000" b="1" dirty="0">
                <a:latin typeface="Calibri Light" panose="020F0302020204030204" pitchFamily="34" charset="0"/>
                <a:ea typeface="Calibri Light" panose="020F0302020204030204" pitchFamily="34" charset="0"/>
                <a:cs typeface="Calibri Light" panose="020F0302020204030204" pitchFamily="34" charset="0"/>
              </a:rPr>
              <a:t> </a:t>
            </a:r>
            <a:r>
              <a:rPr lang="en-GB" sz="4000" b="1" dirty="0" err="1">
                <a:latin typeface="Calibri Light" panose="020F0302020204030204" pitchFamily="34" charset="0"/>
                <a:ea typeface="Calibri Light" panose="020F0302020204030204" pitchFamily="34" charset="0"/>
                <a:cs typeface="Calibri Light" panose="020F0302020204030204" pitchFamily="34" charset="0"/>
              </a:rPr>
              <a:t>quan</a:t>
            </a:r>
            <a:r>
              <a:rPr lang="en-GB" sz="4000" b="1" dirty="0">
                <a:latin typeface="Calibri Light" panose="020F0302020204030204" pitchFamily="34" charset="0"/>
                <a:ea typeface="Calibri Light" panose="020F0302020204030204" pitchFamily="34" charset="0"/>
                <a:cs typeface="Calibri Light" panose="020F0302020204030204" pitchFamily="34" charset="0"/>
              </a:rPr>
              <a:t> </a:t>
            </a:r>
            <a:r>
              <a:rPr lang="en-GB" sz="4000" b="1" dirty="0" err="1">
                <a:latin typeface="Calibri Light" panose="020F0302020204030204" pitchFamily="34" charset="0"/>
                <a:ea typeface="Calibri Light" panose="020F0302020204030204" pitchFamily="34" charset="0"/>
                <a:cs typeface="Calibri Light" panose="020F0302020204030204" pitchFamily="34" charset="0"/>
              </a:rPr>
              <a:t>sát</a:t>
            </a:r>
            <a:r>
              <a:rPr lang="en-GB" sz="4000" b="1" dirty="0">
                <a:latin typeface="Calibri Light" panose="020F0302020204030204" pitchFamily="34" charset="0"/>
                <a:ea typeface="Calibri Light" panose="020F0302020204030204" pitchFamily="34" charset="0"/>
                <a:cs typeface="Calibri Light" panose="020F0302020204030204" pitchFamily="34" charset="0"/>
              </a:rPr>
              <a:t> </a:t>
            </a:r>
            <a:r>
              <a:rPr lang="en-GB" sz="4000" b="1" dirty="0" err="1">
                <a:latin typeface="Calibri Light" panose="020F0302020204030204" pitchFamily="34" charset="0"/>
                <a:ea typeface="Calibri Light" panose="020F0302020204030204" pitchFamily="34" charset="0"/>
                <a:cs typeface="Calibri Light" panose="020F0302020204030204" pitchFamily="34" charset="0"/>
              </a:rPr>
              <a:t>được</a:t>
            </a:r>
            <a:r>
              <a:rPr lang="en-GB" sz="4000" b="1" dirty="0">
                <a:latin typeface="Calibri Light" panose="020F0302020204030204" pitchFamily="34" charset="0"/>
                <a:ea typeface="Calibri Light" panose="020F0302020204030204" pitchFamily="34" charset="0"/>
                <a:cs typeface="Calibri Light" panose="020F0302020204030204" pitchFamily="34" charset="0"/>
              </a:rPr>
              <a:t> </a:t>
            </a:r>
            <a:r>
              <a:rPr lang="vi-VN" sz="4000" b="1" dirty="0">
                <a:latin typeface="Calibri Light" panose="020F0302020204030204" pitchFamily="34" charset="0"/>
                <a:ea typeface="Calibri Light" panose="020F0302020204030204" pitchFamily="34" charset="0"/>
                <a:cs typeface="Calibri Light" panose="020F0302020204030204" pitchFamily="34" charset="0"/>
              </a:rPr>
              <a:t>và phát biểu thành một "Vấn đề nghiên cứu".</a:t>
            </a:r>
            <a:endParaRPr lang="en-AU" sz="3600" b="1" dirty="0">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12303272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455F0-6A23-D5B2-3EC2-5E898468DB57}"/>
              </a:ext>
            </a:extLst>
          </p:cNvPr>
          <p:cNvSpPr>
            <a:spLocks noGrp="1"/>
          </p:cNvSpPr>
          <p:nvPr>
            <p:ph type="title"/>
          </p:nvPr>
        </p:nvSpPr>
        <p:spPr/>
        <p:txBody>
          <a:bodyPr>
            <a:noAutofit/>
          </a:bodyPr>
          <a:lstStyle/>
          <a:p>
            <a:r>
              <a:rPr lang="vi-VN" sz="4400" b="1" dirty="0">
                <a:latin typeface="Calibri Light" panose="020F0302020204030204" pitchFamily="34" charset="0"/>
                <a:ea typeface="Calibri Light" panose="020F0302020204030204" pitchFamily="34" charset="0"/>
                <a:cs typeface="Calibri Light" panose="020F0302020204030204" pitchFamily="34" charset="0"/>
              </a:rPr>
              <a:t>Tổng kết kỹ thuật xác định vấn đề</a:t>
            </a:r>
            <a:endParaRPr lang="en-AU" sz="14900" b="1"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3" name="Content Placeholder 2">
            <a:extLst>
              <a:ext uri="{FF2B5EF4-FFF2-40B4-BE49-F238E27FC236}">
                <a16:creationId xmlns:a16="http://schemas.microsoft.com/office/drawing/2014/main" id="{F10B2092-036B-85C5-5D03-9AC32C8303AB}"/>
              </a:ext>
            </a:extLst>
          </p:cNvPr>
          <p:cNvSpPr>
            <a:spLocks noGrp="1"/>
          </p:cNvSpPr>
          <p:nvPr>
            <p:ph idx="1"/>
          </p:nvPr>
        </p:nvSpPr>
        <p:spPr/>
        <p:txBody>
          <a:bodyPr>
            <a:normAutofit/>
          </a:bodyPr>
          <a:lstStyle/>
          <a:p>
            <a:pPr algn="just"/>
            <a:r>
              <a:rPr lang="vi-VN" sz="3200" dirty="0">
                <a:latin typeface="Calibri Light" panose="020F0302020204030204" pitchFamily="34" charset="0"/>
              </a:rPr>
              <a:t>Sơ đồ phễu thu hẹp vấn đề.</a:t>
            </a:r>
            <a:endParaRPr lang="en-AU" sz="3600" b="1" dirty="0">
              <a:latin typeface="Calibri Light" panose="020F0302020204030204" pitchFamily="34" charset="0"/>
              <a:ea typeface="Calibri Light" panose="020F0302020204030204" pitchFamily="34" charset="0"/>
              <a:cs typeface="Calibri Light" panose="020F0302020204030204" pitchFamily="34" charset="0"/>
            </a:endParaRPr>
          </a:p>
        </p:txBody>
      </p:sp>
      <p:pic>
        <p:nvPicPr>
          <p:cNvPr id="5" name="Picture 4">
            <a:extLst>
              <a:ext uri="{FF2B5EF4-FFF2-40B4-BE49-F238E27FC236}">
                <a16:creationId xmlns:a16="http://schemas.microsoft.com/office/drawing/2014/main" id="{8B756B18-0A3D-72B2-6BEF-564ED356D286}"/>
              </a:ext>
            </a:extLst>
          </p:cNvPr>
          <p:cNvPicPr>
            <a:picLocks noChangeAspect="1"/>
          </p:cNvPicPr>
          <p:nvPr/>
        </p:nvPicPr>
        <p:blipFill>
          <a:blip r:embed="rId2"/>
          <a:stretch>
            <a:fillRect/>
          </a:stretch>
        </p:blipFill>
        <p:spPr>
          <a:xfrm>
            <a:off x="6318907" y="2272661"/>
            <a:ext cx="5690214" cy="3887070"/>
          </a:xfrm>
          <a:prstGeom prst="rect">
            <a:avLst/>
          </a:prstGeom>
        </p:spPr>
      </p:pic>
    </p:spTree>
    <p:extLst>
      <p:ext uri="{BB962C8B-B14F-4D97-AF65-F5344CB8AC3E}">
        <p14:creationId xmlns:p14="http://schemas.microsoft.com/office/powerpoint/2010/main" val="23898746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455F0-6A23-D5B2-3EC2-5E898468DB57}"/>
              </a:ext>
            </a:extLst>
          </p:cNvPr>
          <p:cNvSpPr>
            <a:spLocks noGrp="1"/>
          </p:cNvSpPr>
          <p:nvPr>
            <p:ph type="title"/>
          </p:nvPr>
        </p:nvSpPr>
        <p:spPr/>
        <p:txBody>
          <a:bodyPr>
            <a:noAutofit/>
          </a:bodyPr>
          <a:lstStyle/>
          <a:p>
            <a:r>
              <a:rPr lang="pt-BR" sz="4400" b="1" dirty="0">
                <a:latin typeface="Calibri Light" panose="020F0302020204030204" pitchFamily="34" charset="0"/>
                <a:ea typeface="Calibri Light" panose="020F0302020204030204" pitchFamily="34" charset="0"/>
                <a:cs typeface="Calibri Light" panose="020F0302020204030204" pitchFamily="34" charset="0"/>
              </a:rPr>
              <a:t>Quiz Phần 1 (Câu 1)</a:t>
            </a:r>
            <a:endParaRPr lang="en-AU" sz="14900" b="1"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3" name="Content Placeholder 2">
            <a:extLst>
              <a:ext uri="{FF2B5EF4-FFF2-40B4-BE49-F238E27FC236}">
                <a16:creationId xmlns:a16="http://schemas.microsoft.com/office/drawing/2014/main" id="{F10B2092-036B-85C5-5D03-9AC32C8303AB}"/>
              </a:ext>
            </a:extLst>
          </p:cNvPr>
          <p:cNvSpPr>
            <a:spLocks noGrp="1"/>
          </p:cNvSpPr>
          <p:nvPr>
            <p:ph idx="1"/>
          </p:nvPr>
        </p:nvSpPr>
        <p:spPr/>
        <p:txBody>
          <a:bodyPr>
            <a:normAutofit/>
          </a:bodyPr>
          <a:lstStyle/>
          <a:p>
            <a:pPr algn="just"/>
            <a:r>
              <a:rPr lang="vi-VN" sz="3200" dirty="0">
                <a:latin typeface="Calibri Light" panose="020F0302020204030204" pitchFamily="34" charset="0"/>
              </a:rPr>
              <a:t>Câu hỏi: Bước nào là quan trọng nhất để tránh "tái phát minh lại cái bánh xe"? </a:t>
            </a:r>
            <a:endParaRPr lang="en-GB" sz="3200" dirty="0"/>
          </a:p>
          <a:p>
            <a:pPr algn="just"/>
            <a:r>
              <a:rPr lang="vi-VN" sz="3200" dirty="0">
                <a:latin typeface="Calibri Light" panose="020F0302020204030204" pitchFamily="34" charset="0"/>
              </a:rPr>
              <a:t>A. Thu mẫu; </a:t>
            </a:r>
            <a:endParaRPr lang="en-GB" sz="3200" dirty="0"/>
          </a:p>
          <a:p>
            <a:pPr algn="just"/>
            <a:r>
              <a:rPr lang="vi-VN" sz="3200" dirty="0">
                <a:latin typeface="Calibri Light" panose="020F0302020204030204" pitchFamily="34" charset="0"/>
              </a:rPr>
              <a:t>B. Rà soát tài liệu; </a:t>
            </a:r>
            <a:endParaRPr lang="en-GB" sz="3200" dirty="0"/>
          </a:p>
          <a:p>
            <a:pPr algn="just"/>
            <a:r>
              <a:rPr lang="vi-VN" sz="3200" dirty="0">
                <a:latin typeface="Calibri Light" panose="020F0302020204030204" pitchFamily="34" charset="0"/>
              </a:rPr>
              <a:t>C. Mua hóa chất</a:t>
            </a:r>
            <a:r>
              <a:rPr lang="en-GB" sz="3200" dirty="0"/>
              <a:t>;</a:t>
            </a:r>
          </a:p>
          <a:p>
            <a:pPr algn="just"/>
            <a:r>
              <a:rPr lang="en-GB" sz="3200" dirty="0">
                <a:latin typeface="Calibri Light" panose="020F0302020204030204" pitchFamily="34" charset="0"/>
                <a:ea typeface="Calibri Light" panose="020F0302020204030204" pitchFamily="34" charset="0"/>
                <a:cs typeface="Calibri Light" panose="020F0302020204030204" pitchFamily="34" charset="0"/>
              </a:rPr>
              <a:t>D. </a:t>
            </a:r>
            <a:r>
              <a:rPr lang="en-GB" sz="3200" dirty="0" err="1">
                <a:latin typeface="Calibri Light" panose="020F0302020204030204" pitchFamily="34" charset="0"/>
                <a:ea typeface="Calibri Light" panose="020F0302020204030204" pitchFamily="34" charset="0"/>
                <a:cs typeface="Calibri Light" panose="020F0302020204030204" pitchFamily="34" charset="0"/>
              </a:rPr>
              <a:t>Tất</a:t>
            </a:r>
            <a:r>
              <a:rPr lang="en-GB" sz="3200" dirty="0">
                <a:latin typeface="Calibri Light" panose="020F0302020204030204" pitchFamily="34" charset="0"/>
                <a:ea typeface="Calibri Light" panose="020F0302020204030204" pitchFamily="34" charset="0"/>
                <a:cs typeface="Calibri Light" panose="020F0302020204030204" pitchFamily="34" charset="0"/>
              </a:rPr>
              <a:t> </a:t>
            </a:r>
            <a:r>
              <a:rPr lang="en-GB" sz="3200" dirty="0" err="1">
                <a:latin typeface="Calibri Light" panose="020F0302020204030204" pitchFamily="34" charset="0"/>
                <a:ea typeface="Calibri Light" panose="020F0302020204030204" pitchFamily="34" charset="0"/>
                <a:cs typeface="Calibri Light" panose="020F0302020204030204" pitchFamily="34" charset="0"/>
              </a:rPr>
              <a:t>cả</a:t>
            </a:r>
            <a:r>
              <a:rPr lang="en-GB" sz="3200" dirty="0">
                <a:latin typeface="Calibri Light" panose="020F0302020204030204" pitchFamily="34" charset="0"/>
                <a:ea typeface="Calibri Light" panose="020F0302020204030204" pitchFamily="34" charset="0"/>
                <a:cs typeface="Calibri Light" panose="020F0302020204030204" pitchFamily="34" charset="0"/>
              </a:rPr>
              <a:t> </a:t>
            </a:r>
            <a:r>
              <a:rPr lang="en-GB" sz="3200" dirty="0" err="1">
                <a:latin typeface="Calibri Light" panose="020F0302020204030204" pitchFamily="34" charset="0"/>
                <a:ea typeface="Calibri Light" panose="020F0302020204030204" pitchFamily="34" charset="0"/>
                <a:cs typeface="Calibri Light" panose="020F0302020204030204" pitchFamily="34" charset="0"/>
              </a:rPr>
              <a:t>đều</a:t>
            </a:r>
            <a:r>
              <a:rPr lang="en-GB" sz="3200" dirty="0">
                <a:latin typeface="Calibri Light" panose="020F0302020204030204" pitchFamily="34" charset="0"/>
                <a:ea typeface="Calibri Light" panose="020F0302020204030204" pitchFamily="34" charset="0"/>
                <a:cs typeface="Calibri Light" panose="020F0302020204030204" pitchFamily="34" charset="0"/>
              </a:rPr>
              <a:t> </a:t>
            </a:r>
            <a:r>
              <a:rPr lang="en-GB" sz="3200" dirty="0" err="1">
                <a:latin typeface="Calibri Light" panose="020F0302020204030204" pitchFamily="34" charset="0"/>
                <a:ea typeface="Calibri Light" panose="020F0302020204030204" pitchFamily="34" charset="0"/>
                <a:cs typeface="Calibri Light" panose="020F0302020204030204" pitchFamily="34" charset="0"/>
              </a:rPr>
              <a:t>đúng</a:t>
            </a:r>
            <a:r>
              <a:rPr lang="en-GB" sz="3200" dirty="0">
                <a:latin typeface="Calibri Light" panose="020F0302020204030204" pitchFamily="34" charset="0"/>
                <a:ea typeface="Calibri Light" panose="020F0302020204030204" pitchFamily="34" charset="0"/>
                <a:cs typeface="Calibri Light" panose="020F0302020204030204" pitchFamily="34" charset="0"/>
              </a:rPr>
              <a:t>.</a:t>
            </a:r>
            <a:endParaRPr lang="en-AU" sz="3200" dirty="0">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14462473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455F0-6A23-D5B2-3EC2-5E898468DB57}"/>
              </a:ext>
            </a:extLst>
          </p:cNvPr>
          <p:cNvSpPr>
            <a:spLocks noGrp="1"/>
          </p:cNvSpPr>
          <p:nvPr>
            <p:ph type="title"/>
          </p:nvPr>
        </p:nvSpPr>
        <p:spPr/>
        <p:txBody>
          <a:bodyPr>
            <a:noAutofit/>
          </a:bodyPr>
          <a:lstStyle/>
          <a:p>
            <a:r>
              <a:rPr lang="pt-BR" sz="4400" b="1" dirty="0">
                <a:latin typeface="Calibri Light" panose="020F0302020204030204" pitchFamily="34" charset="0"/>
                <a:ea typeface="Calibri Light" panose="020F0302020204030204" pitchFamily="34" charset="0"/>
                <a:cs typeface="Calibri Light" panose="020F0302020204030204" pitchFamily="34" charset="0"/>
              </a:rPr>
              <a:t>Quiz Phần 1 (Câu 1)</a:t>
            </a:r>
            <a:endParaRPr lang="en-AU" sz="14900" b="1"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3" name="Content Placeholder 2">
            <a:extLst>
              <a:ext uri="{FF2B5EF4-FFF2-40B4-BE49-F238E27FC236}">
                <a16:creationId xmlns:a16="http://schemas.microsoft.com/office/drawing/2014/main" id="{F10B2092-036B-85C5-5D03-9AC32C8303AB}"/>
              </a:ext>
            </a:extLst>
          </p:cNvPr>
          <p:cNvSpPr>
            <a:spLocks noGrp="1"/>
          </p:cNvSpPr>
          <p:nvPr>
            <p:ph idx="1"/>
          </p:nvPr>
        </p:nvSpPr>
        <p:spPr/>
        <p:txBody>
          <a:bodyPr>
            <a:normAutofit lnSpcReduction="10000"/>
          </a:bodyPr>
          <a:lstStyle/>
          <a:p>
            <a:pPr algn="just"/>
            <a:r>
              <a:rPr lang="vi-VN" sz="3200" dirty="0">
                <a:latin typeface="Calibri Light" panose="020F0302020204030204" pitchFamily="34" charset="0"/>
              </a:rPr>
              <a:t>Câu hỏi: Bước nào là quan trọng nhất để tránh "tái phát minh lại cái bánh xe"? </a:t>
            </a:r>
            <a:endParaRPr lang="en-GB" sz="3200" dirty="0"/>
          </a:p>
          <a:p>
            <a:pPr algn="just"/>
            <a:r>
              <a:rPr lang="vi-VN" sz="3200" dirty="0">
                <a:latin typeface="Calibri Light" panose="020F0302020204030204" pitchFamily="34" charset="0"/>
              </a:rPr>
              <a:t>A. Thu mẫu; </a:t>
            </a:r>
            <a:endParaRPr lang="en-GB" sz="3200" dirty="0"/>
          </a:p>
          <a:p>
            <a:pPr algn="just"/>
            <a:r>
              <a:rPr lang="vi-VN" sz="3200" dirty="0">
                <a:latin typeface="Calibri Light" panose="020F0302020204030204" pitchFamily="34" charset="0"/>
              </a:rPr>
              <a:t>B. Rà soát tài liệu; </a:t>
            </a:r>
            <a:endParaRPr lang="en-GB" sz="3200" dirty="0"/>
          </a:p>
          <a:p>
            <a:pPr algn="just"/>
            <a:r>
              <a:rPr lang="vi-VN" sz="3200" dirty="0">
                <a:latin typeface="Calibri Light" panose="020F0302020204030204" pitchFamily="34" charset="0"/>
              </a:rPr>
              <a:t>C. Mua hóa chất</a:t>
            </a:r>
            <a:r>
              <a:rPr lang="en-GB" sz="3200" dirty="0"/>
              <a:t>;</a:t>
            </a:r>
          </a:p>
          <a:p>
            <a:pPr algn="just"/>
            <a:r>
              <a:rPr lang="en-GB" sz="3200" dirty="0">
                <a:latin typeface="Calibri Light" panose="020F0302020204030204" pitchFamily="34" charset="0"/>
                <a:ea typeface="Calibri Light" panose="020F0302020204030204" pitchFamily="34" charset="0"/>
                <a:cs typeface="Calibri Light" panose="020F0302020204030204" pitchFamily="34" charset="0"/>
              </a:rPr>
              <a:t>D. </a:t>
            </a:r>
            <a:r>
              <a:rPr lang="en-GB" sz="3200" dirty="0" err="1">
                <a:latin typeface="Calibri Light" panose="020F0302020204030204" pitchFamily="34" charset="0"/>
                <a:ea typeface="Calibri Light" panose="020F0302020204030204" pitchFamily="34" charset="0"/>
                <a:cs typeface="Calibri Light" panose="020F0302020204030204" pitchFamily="34" charset="0"/>
              </a:rPr>
              <a:t>Tất</a:t>
            </a:r>
            <a:r>
              <a:rPr lang="en-GB" sz="3200" dirty="0">
                <a:latin typeface="Calibri Light" panose="020F0302020204030204" pitchFamily="34" charset="0"/>
                <a:ea typeface="Calibri Light" panose="020F0302020204030204" pitchFamily="34" charset="0"/>
                <a:cs typeface="Calibri Light" panose="020F0302020204030204" pitchFamily="34" charset="0"/>
              </a:rPr>
              <a:t> </a:t>
            </a:r>
            <a:r>
              <a:rPr lang="en-GB" sz="3200" dirty="0" err="1">
                <a:latin typeface="Calibri Light" panose="020F0302020204030204" pitchFamily="34" charset="0"/>
                <a:ea typeface="Calibri Light" panose="020F0302020204030204" pitchFamily="34" charset="0"/>
                <a:cs typeface="Calibri Light" panose="020F0302020204030204" pitchFamily="34" charset="0"/>
              </a:rPr>
              <a:t>cả</a:t>
            </a:r>
            <a:r>
              <a:rPr lang="en-GB" sz="3200" dirty="0">
                <a:latin typeface="Calibri Light" panose="020F0302020204030204" pitchFamily="34" charset="0"/>
                <a:ea typeface="Calibri Light" panose="020F0302020204030204" pitchFamily="34" charset="0"/>
                <a:cs typeface="Calibri Light" panose="020F0302020204030204" pitchFamily="34" charset="0"/>
              </a:rPr>
              <a:t> </a:t>
            </a:r>
            <a:r>
              <a:rPr lang="en-GB" sz="3200" dirty="0" err="1">
                <a:latin typeface="Calibri Light" panose="020F0302020204030204" pitchFamily="34" charset="0"/>
                <a:ea typeface="Calibri Light" panose="020F0302020204030204" pitchFamily="34" charset="0"/>
                <a:cs typeface="Calibri Light" panose="020F0302020204030204" pitchFamily="34" charset="0"/>
              </a:rPr>
              <a:t>đều</a:t>
            </a:r>
            <a:r>
              <a:rPr lang="en-GB" sz="3200" dirty="0">
                <a:latin typeface="Calibri Light" panose="020F0302020204030204" pitchFamily="34" charset="0"/>
                <a:ea typeface="Calibri Light" panose="020F0302020204030204" pitchFamily="34" charset="0"/>
                <a:cs typeface="Calibri Light" panose="020F0302020204030204" pitchFamily="34" charset="0"/>
              </a:rPr>
              <a:t> </a:t>
            </a:r>
            <a:r>
              <a:rPr lang="en-GB" sz="3200" dirty="0" err="1">
                <a:latin typeface="Calibri Light" panose="020F0302020204030204" pitchFamily="34" charset="0"/>
                <a:ea typeface="Calibri Light" panose="020F0302020204030204" pitchFamily="34" charset="0"/>
                <a:cs typeface="Calibri Light" panose="020F0302020204030204" pitchFamily="34" charset="0"/>
              </a:rPr>
              <a:t>đúng</a:t>
            </a:r>
            <a:r>
              <a:rPr lang="en-GB" sz="3200" dirty="0">
                <a:latin typeface="Calibri Light" panose="020F0302020204030204" pitchFamily="34" charset="0"/>
                <a:ea typeface="Calibri Light" panose="020F0302020204030204" pitchFamily="34" charset="0"/>
                <a:cs typeface="Calibri Light" panose="020F0302020204030204" pitchFamily="34" charset="0"/>
              </a:rPr>
              <a:t>.</a:t>
            </a:r>
            <a:endParaRPr lang="en-AU" sz="3200" dirty="0">
              <a:latin typeface="Calibri Light" panose="020F0302020204030204" pitchFamily="34" charset="0"/>
              <a:ea typeface="Calibri Light" panose="020F0302020204030204" pitchFamily="34" charset="0"/>
              <a:cs typeface="Calibri Light" panose="020F0302020204030204" pitchFamily="34" charset="0"/>
            </a:endParaRPr>
          </a:p>
          <a:p>
            <a:pPr algn="just"/>
            <a:r>
              <a:rPr lang="vi-VN" sz="3200" dirty="0">
                <a:latin typeface="Calibri Light" panose="020F0302020204030204" pitchFamily="34" charset="0"/>
              </a:rPr>
              <a:t>Đáp án: B.</a:t>
            </a:r>
            <a:endParaRPr lang="en-AU" sz="3600" b="1" dirty="0">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41500152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455F0-6A23-D5B2-3EC2-5E898468DB57}"/>
              </a:ext>
            </a:extLst>
          </p:cNvPr>
          <p:cNvSpPr>
            <a:spLocks noGrp="1"/>
          </p:cNvSpPr>
          <p:nvPr>
            <p:ph type="title"/>
          </p:nvPr>
        </p:nvSpPr>
        <p:spPr/>
        <p:txBody>
          <a:bodyPr>
            <a:noAutofit/>
          </a:bodyPr>
          <a:lstStyle/>
          <a:p>
            <a:r>
              <a:rPr lang="pt-BR" sz="4400" b="1" dirty="0">
                <a:latin typeface="Calibri Light" panose="020F0302020204030204" pitchFamily="34" charset="0"/>
                <a:ea typeface="Calibri Light" panose="020F0302020204030204" pitchFamily="34" charset="0"/>
                <a:cs typeface="Calibri Light" panose="020F0302020204030204" pitchFamily="34" charset="0"/>
              </a:rPr>
              <a:t>Quiz Phần 1 (Câu 2)</a:t>
            </a:r>
            <a:endParaRPr lang="en-AU" sz="14900" b="1"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3" name="Content Placeholder 2">
            <a:extLst>
              <a:ext uri="{FF2B5EF4-FFF2-40B4-BE49-F238E27FC236}">
                <a16:creationId xmlns:a16="http://schemas.microsoft.com/office/drawing/2014/main" id="{F10B2092-036B-85C5-5D03-9AC32C8303AB}"/>
              </a:ext>
            </a:extLst>
          </p:cNvPr>
          <p:cNvSpPr>
            <a:spLocks noGrp="1"/>
          </p:cNvSpPr>
          <p:nvPr>
            <p:ph idx="1"/>
          </p:nvPr>
        </p:nvSpPr>
        <p:spPr/>
        <p:txBody>
          <a:bodyPr>
            <a:normAutofit/>
          </a:bodyPr>
          <a:lstStyle/>
          <a:p>
            <a:pPr algn="just"/>
            <a:r>
              <a:rPr lang="vi-VN" sz="3200" b="1" dirty="0">
                <a:latin typeface="Calibri Light" panose="020F0302020204030204" pitchFamily="34" charset="0"/>
              </a:rPr>
              <a:t>Một vấn đề nghiên cứu tốt cần đảm bảo tính chất gì? </a:t>
            </a:r>
            <a:endParaRPr lang="en-GB" sz="3200" b="1" dirty="0"/>
          </a:p>
          <a:p>
            <a:pPr algn="just"/>
            <a:r>
              <a:rPr lang="vi-VN" sz="3200" b="1" dirty="0">
                <a:latin typeface="Calibri Light" panose="020F0302020204030204" pitchFamily="34" charset="0"/>
              </a:rPr>
              <a:t>A. Rộng lớn; </a:t>
            </a:r>
            <a:endParaRPr lang="en-GB" sz="3200" b="1" dirty="0"/>
          </a:p>
          <a:p>
            <a:pPr algn="just"/>
            <a:r>
              <a:rPr lang="vi-VN" sz="3200" b="1" dirty="0">
                <a:latin typeface="Calibri Light" panose="020F0302020204030204" pitchFamily="34" charset="0"/>
              </a:rPr>
              <a:t>B. Khả thi và cụ thể; </a:t>
            </a:r>
            <a:endParaRPr lang="en-GB" sz="3200" b="1" dirty="0"/>
          </a:p>
          <a:p>
            <a:pPr algn="just"/>
            <a:r>
              <a:rPr lang="vi-VN" sz="3200" b="1" dirty="0">
                <a:latin typeface="Calibri Light" panose="020F0302020204030204" pitchFamily="34" charset="0"/>
              </a:rPr>
              <a:t>C. Dễ làm</a:t>
            </a:r>
            <a:r>
              <a:rPr lang="en-GB" sz="3200" b="1" dirty="0"/>
              <a:t>;</a:t>
            </a:r>
          </a:p>
          <a:p>
            <a:pPr algn="just"/>
            <a:r>
              <a:rPr lang="en-GB" sz="3200" b="1" dirty="0"/>
              <a:t>D. </a:t>
            </a:r>
            <a:r>
              <a:rPr lang="en-GB" sz="3200" b="1" dirty="0" err="1"/>
              <a:t>Tất</a:t>
            </a:r>
            <a:r>
              <a:rPr lang="en-GB" sz="3200" b="1" dirty="0"/>
              <a:t> </a:t>
            </a:r>
            <a:r>
              <a:rPr lang="en-GB" sz="3200" b="1" dirty="0" err="1"/>
              <a:t>cả</a:t>
            </a:r>
            <a:r>
              <a:rPr lang="en-GB" sz="3200" b="1" dirty="0"/>
              <a:t> </a:t>
            </a:r>
            <a:r>
              <a:rPr lang="en-GB" sz="3200" b="1" dirty="0" err="1"/>
              <a:t>đều</a:t>
            </a:r>
            <a:r>
              <a:rPr lang="en-GB" sz="3200" b="1" dirty="0"/>
              <a:t> </a:t>
            </a:r>
            <a:r>
              <a:rPr lang="en-GB" sz="3200" b="1" dirty="0" err="1"/>
              <a:t>đúng</a:t>
            </a:r>
            <a:r>
              <a:rPr lang="en-GB" sz="3200" b="1" dirty="0"/>
              <a:t>.</a:t>
            </a:r>
          </a:p>
        </p:txBody>
      </p:sp>
    </p:spTree>
    <p:extLst>
      <p:ext uri="{BB962C8B-B14F-4D97-AF65-F5344CB8AC3E}">
        <p14:creationId xmlns:p14="http://schemas.microsoft.com/office/powerpoint/2010/main" val="5516427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455F0-6A23-D5B2-3EC2-5E898468DB57}"/>
              </a:ext>
            </a:extLst>
          </p:cNvPr>
          <p:cNvSpPr>
            <a:spLocks noGrp="1"/>
          </p:cNvSpPr>
          <p:nvPr>
            <p:ph type="title"/>
          </p:nvPr>
        </p:nvSpPr>
        <p:spPr/>
        <p:txBody>
          <a:bodyPr>
            <a:noAutofit/>
          </a:bodyPr>
          <a:lstStyle/>
          <a:p>
            <a:r>
              <a:rPr lang="pt-BR" sz="4400" b="1" dirty="0">
                <a:latin typeface="Calibri Light" panose="020F0302020204030204" pitchFamily="34" charset="0"/>
                <a:ea typeface="Calibri Light" panose="020F0302020204030204" pitchFamily="34" charset="0"/>
                <a:cs typeface="Calibri Light" panose="020F0302020204030204" pitchFamily="34" charset="0"/>
              </a:rPr>
              <a:t>Quiz Phần 1 (Câu 2)</a:t>
            </a:r>
            <a:endParaRPr lang="en-AU" sz="14900" b="1"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3" name="Content Placeholder 2">
            <a:extLst>
              <a:ext uri="{FF2B5EF4-FFF2-40B4-BE49-F238E27FC236}">
                <a16:creationId xmlns:a16="http://schemas.microsoft.com/office/drawing/2014/main" id="{F10B2092-036B-85C5-5D03-9AC32C8303AB}"/>
              </a:ext>
            </a:extLst>
          </p:cNvPr>
          <p:cNvSpPr>
            <a:spLocks noGrp="1"/>
          </p:cNvSpPr>
          <p:nvPr>
            <p:ph idx="1"/>
          </p:nvPr>
        </p:nvSpPr>
        <p:spPr/>
        <p:txBody>
          <a:bodyPr>
            <a:normAutofit/>
          </a:bodyPr>
          <a:lstStyle/>
          <a:p>
            <a:pPr algn="just"/>
            <a:r>
              <a:rPr lang="vi-VN" sz="3200" b="1" dirty="0">
                <a:latin typeface="Calibri Light" panose="020F0302020204030204" pitchFamily="34" charset="0"/>
              </a:rPr>
              <a:t>Một vấn đề nghiên cứu tốt cần đảm bảo tính chất gì? </a:t>
            </a:r>
            <a:endParaRPr lang="en-GB" sz="3200" b="1" dirty="0"/>
          </a:p>
          <a:p>
            <a:pPr algn="just"/>
            <a:r>
              <a:rPr lang="vi-VN" sz="3200" b="1" dirty="0">
                <a:latin typeface="Calibri Light" panose="020F0302020204030204" pitchFamily="34" charset="0"/>
              </a:rPr>
              <a:t>A. Rộng lớn; </a:t>
            </a:r>
            <a:endParaRPr lang="en-GB" sz="3200" b="1" dirty="0"/>
          </a:p>
          <a:p>
            <a:pPr algn="just"/>
            <a:r>
              <a:rPr lang="vi-VN" sz="3200" b="1" dirty="0">
                <a:latin typeface="Calibri Light" panose="020F0302020204030204" pitchFamily="34" charset="0"/>
              </a:rPr>
              <a:t>B. Khả thi và cụ thể; </a:t>
            </a:r>
            <a:endParaRPr lang="en-GB" sz="3200" b="1" dirty="0"/>
          </a:p>
          <a:p>
            <a:pPr algn="just"/>
            <a:r>
              <a:rPr lang="vi-VN" sz="3200" b="1" dirty="0">
                <a:latin typeface="Calibri Light" panose="020F0302020204030204" pitchFamily="34" charset="0"/>
              </a:rPr>
              <a:t>C. Dễ làm</a:t>
            </a:r>
            <a:r>
              <a:rPr lang="en-GB" sz="3200" b="1" dirty="0"/>
              <a:t>;</a:t>
            </a:r>
          </a:p>
          <a:p>
            <a:pPr algn="just"/>
            <a:r>
              <a:rPr lang="en-GB" sz="3200" b="1" dirty="0"/>
              <a:t>D. </a:t>
            </a:r>
            <a:r>
              <a:rPr lang="en-GB" sz="3200" b="1" dirty="0" err="1"/>
              <a:t>Tất</a:t>
            </a:r>
            <a:r>
              <a:rPr lang="en-GB" sz="3200" b="1" dirty="0"/>
              <a:t> </a:t>
            </a:r>
            <a:r>
              <a:rPr lang="en-GB" sz="3200" b="1" dirty="0" err="1"/>
              <a:t>cả</a:t>
            </a:r>
            <a:r>
              <a:rPr lang="en-GB" sz="3200" b="1" dirty="0"/>
              <a:t> </a:t>
            </a:r>
            <a:r>
              <a:rPr lang="en-GB" sz="3200" b="1" dirty="0" err="1"/>
              <a:t>đều</a:t>
            </a:r>
            <a:r>
              <a:rPr lang="en-GB" sz="3200" b="1" dirty="0"/>
              <a:t> </a:t>
            </a:r>
            <a:r>
              <a:rPr lang="en-GB" sz="3200" b="1" dirty="0" err="1"/>
              <a:t>đúng</a:t>
            </a:r>
            <a:r>
              <a:rPr lang="en-GB" sz="3200" b="1" dirty="0"/>
              <a:t>.</a:t>
            </a:r>
          </a:p>
          <a:p>
            <a:pPr algn="just"/>
            <a:r>
              <a:rPr lang="vi-VN" sz="3200" b="1" dirty="0">
                <a:latin typeface="Calibri Light" panose="020F0302020204030204" pitchFamily="34" charset="0"/>
              </a:rPr>
              <a:t>Đáp án: B.</a:t>
            </a:r>
            <a:endParaRPr lang="en-AU" sz="3600" b="1" dirty="0">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5364881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455F0-6A23-D5B2-3EC2-5E898468DB57}"/>
              </a:ext>
            </a:extLst>
          </p:cNvPr>
          <p:cNvSpPr>
            <a:spLocks noGrp="1"/>
          </p:cNvSpPr>
          <p:nvPr>
            <p:ph type="title"/>
          </p:nvPr>
        </p:nvSpPr>
        <p:spPr/>
        <p:txBody>
          <a:bodyPr>
            <a:noAutofit/>
          </a:bodyPr>
          <a:lstStyle/>
          <a:p>
            <a:r>
              <a:rPr lang="pt-BR" sz="3200" b="1" dirty="0">
                <a:latin typeface="Calibri Light" panose="020F0302020204030204" pitchFamily="34" charset="0"/>
                <a:ea typeface="Calibri Light" panose="020F0302020204030204" pitchFamily="34" charset="0"/>
                <a:cs typeface="Calibri Light" panose="020F0302020204030204" pitchFamily="34" charset="0"/>
              </a:rPr>
              <a:t>PHẦN 2: Ý NGHĨA &amp; ĐẶC ĐIỂM THIẾT KẾ NGHIÊN CỨU</a:t>
            </a:r>
            <a:endParaRPr lang="en-AU" sz="9600" b="1" dirty="0">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39259717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455F0-6A23-D5B2-3EC2-5E898468DB57}"/>
              </a:ext>
            </a:extLst>
          </p:cNvPr>
          <p:cNvSpPr>
            <a:spLocks noGrp="1"/>
          </p:cNvSpPr>
          <p:nvPr>
            <p:ph type="title"/>
          </p:nvPr>
        </p:nvSpPr>
        <p:spPr/>
        <p:txBody>
          <a:bodyPr>
            <a:noAutofit/>
          </a:bodyPr>
          <a:lstStyle/>
          <a:p>
            <a:r>
              <a:rPr lang="pt-BR" sz="5400" b="1" dirty="0">
                <a:latin typeface="Calibri Light" panose="020F0302020204030204" pitchFamily="34" charset="0"/>
                <a:ea typeface="Calibri Light" panose="020F0302020204030204" pitchFamily="34" charset="0"/>
                <a:cs typeface="Calibri Light" panose="020F0302020204030204" pitchFamily="34" charset="0"/>
              </a:rPr>
              <a:t>Khái niệm Thiết kế nghiên cứu</a:t>
            </a:r>
            <a:endParaRPr lang="en-AU" sz="23900" b="1"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3" name="Content Placeholder 2">
            <a:extLst>
              <a:ext uri="{FF2B5EF4-FFF2-40B4-BE49-F238E27FC236}">
                <a16:creationId xmlns:a16="http://schemas.microsoft.com/office/drawing/2014/main" id="{F10B2092-036B-85C5-5D03-9AC32C8303AB}"/>
              </a:ext>
            </a:extLst>
          </p:cNvPr>
          <p:cNvSpPr>
            <a:spLocks noGrp="1"/>
          </p:cNvSpPr>
          <p:nvPr>
            <p:ph idx="1"/>
          </p:nvPr>
        </p:nvSpPr>
        <p:spPr/>
        <p:txBody>
          <a:bodyPr>
            <a:normAutofit/>
          </a:bodyPr>
          <a:lstStyle/>
          <a:p>
            <a:pPr algn="just"/>
            <a:r>
              <a:rPr lang="vi-VN" sz="3200" b="1" dirty="0">
                <a:latin typeface="Calibri Light" panose="020F0302020204030204" pitchFamily="34" charset="0"/>
              </a:rPr>
              <a:t>Là "Bản vẽ kỹ thuật" mô tả cách lấy mẫu, đo lường và phân tích (IIMM, 2024).</a:t>
            </a:r>
            <a:endParaRPr lang="en-GB" sz="3200" b="1" dirty="0">
              <a:latin typeface="Calibri Light" panose="020F0302020204030204" pitchFamily="34" charset="0"/>
            </a:endParaRPr>
          </a:p>
          <a:p>
            <a:pPr algn="just"/>
            <a:r>
              <a:rPr lang="vi-VN" sz="3200" b="1" dirty="0">
                <a:latin typeface="Calibri Light" panose="020F0302020204030204" pitchFamily="34" charset="0"/>
                <a:ea typeface="Calibri Light" panose="020F0302020204030204" pitchFamily="34" charset="0"/>
                <a:cs typeface="Calibri Light" panose="020F0302020204030204" pitchFamily="34" charset="0"/>
              </a:rPr>
              <a:t>Ví dụ: Trong CNSH, thiết kế nghiên cứu giống như một "quy trình thao tác chuẩn" (SOP). Nếu em muốn chiết xuất DNA, thiết kế sẽ quy định em dùng hóa chất nào, liều lượng bao nhiêu, quay ly tâm ở tốc độ nào để thu được kết quả sạch nhất.</a:t>
            </a:r>
            <a:endParaRPr lang="en-AU" sz="3200" b="1" dirty="0">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3705170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455F0-6A23-D5B2-3EC2-5E898468DB57}"/>
              </a:ext>
            </a:extLst>
          </p:cNvPr>
          <p:cNvSpPr>
            <a:spLocks noGrp="1"/>
          </p:cNvSpPr>
          <p:nvPr>
            <p:ph type="title"/>
          </p:nvPr>
        </p:nvSpPr>
        <p:spPr/>
        <p:txBody>
          <a:bodyPr>
            <a:noAutofit/>
          </a:bodyPr>
          <a:lstStyle/>
          <a:p>
            <a:r>
              <a:rPr lang="pt-BR" sz="5400" b="1" dirty="0">
                <a:latin typeface="Calibri Light" panose="020F0302020204030204" pitchFamily="34" charset="0"/>
                <a:ea typeface="Calibri Light" panose="020F0302020204030204" pitchFamily="34" charset="0"/>
                <a:cs typeface="Calibri Light" panose="020F0302020204030204" pitchFamily="34" charset="0"/>
              </a:rPr>
              <a:t>Ý nghĩa của thiết kế</a:t>
            </a:r>
            <a:endParaRPr lang="en-AU" sz="23900" b="1"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3" name="Content Placeholder 2">
            <a:extLst>
              <a:ext uri="{FF2B5EF4-FFF2-40B4-BE49-F238E27FC236}">
                <a16:creationId xmlns:a16="http://schemas.microsoft.com/office/drawing/2014/main" id="{F10B2092-036B-85C5-5D03-9AC32C8303AB}"/>
              </a:ext>
            </a:extLst>
          </p:cNvPr>
          <p:cNvSpPr>
            <a:spLocks noGrp="1"/>
          </p:cNvSpPr>
          <p:nvPr>
            <p:ph idx="1"/>
          </p:nvPr>
        </p:nvSpPr>
        <p:spPr/>
        <p:txBody>
          <a:bodyPr>
            <a:normAutofit/>
          </a:bodyPr>
          <a:lstStyle/>
          <a:p>
            <a:pPr algn="just"/>
            <a:r>
              <a:rPr lang="vi-VN" sz="3200" b="1" dirty="0">
                <a:latin typeface="Calibri Light" panose="020F0302020204030204" pitchFamily="34" charset="0"/>
              </a:rPr>
              <a:t>Tối đa hóa độ tin cậy của kết quả với sai số tối thiểu.</a:t>
            </a:r>
            <a:endParaRPr lang="en-AU" sz="3600" b="1" dirty="0">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12787873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455F0-6A23-D5B2-3EC2-5E898468DB57}"/>
              </a:ext>
            </a:extLst>
          </p:cNvPr>
          <p:cNvSpPr>
            <a:spLocks noGrp="1"/>
          </p:cNvSpPr>
          <p:nvPr>
            <p:ph type="title"/>
          </p:nvPr>
        </p:nvSpPr>
        <p:spPr/>
        <p:txBody>
          <a:bodyPr>
            <a:noAutofit/>
          </a:bodyPr>
          <a:lstStyle/>
          <a:p>
            <a:r>
              <a:rPr lang="pt-BR" sz="5400" b="1" dirty="0">
                <a:latin typeface="Calibri Light" panose="020F0302020204030204" pitchFamily="34" charset="0"/>
                <a:ea typeface="Calibri Light" panose="020F0302020204030204" pitchFamily="34" charset="0"/>
                <a:cs typeface="Calibri Light" panose="020F0302020204030204" pitchFamily="34" charset="0"/>
              </a:rPr>
              <a:t>Các biến số trong nghiên cứu</a:t>
            </a:r>
            <a:endParaRPr lang="en-AU" sz="23900" b="1"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3" name="Content Placeholder 2">
            <a:extLst>
              <a:ext uri="{FF2B5EF4-FFF2-40B4-BE49-F238E27FC236}">
                <a16:creationId xmlns:a16="http://schemas.microsoft.com/office/drawing/2014/main" id="{F10B2092-036B-85C5-5D03-9AC32C8303AB}"/>
              </a:ext>
            </a:extLst>
          </p:cNvPr>
          <p:cNvSpPr>
            <a:spLocks noGrp="1"/>
          </p:cNvSpPr>
          <p:nvPr>
            <p:ph idx="1"/>
          </p:nvPr>
        </p:nvSpPr>
        <p:spPr/>
        <p:txBody>
          <a:bodyPr>
            <a:normAutofit/>
          </a:bodyPr>
          <a:lstStyle/>
          <a:p>
            <a:pPr algn="just"/>
            <a:r>
              <a:rPr lang="vi-VN" sz="3200" b="1" dirty="0">
                <a:latin typeface="Calibri Light" panose="020F0302020204030204" pitchFamily="34" charset="0"/>
              </a:rPr>
              <a:t>Ví dụ thực tế: Nghiên cứu ảnh hưởng của nhiệt độ đến sự lên men của nấm men.</a:t>
            </a:r>
            <a:endParaRPr lang="en-GB" sz="3200" b="1" dirty="0">
              <a:latin typeface="Calibri Light" panose="020F0302020204030204" pitchFamily="34" charset="0"/>
            </a:endParaRPr>
          </a:p>
          <a:p>
            <a:pPr lvl="1" algn="just">
              <a:buFont typeface="Wingdings" panose="05000000000000000000" pitchFamily="2" charset="2"/>
              <a:buChar char="§"/>
            </a:pPr>
            <a:r>
              <a:rPr lang="vi-VN" sz="2800" b="1" dirty="0">
                <a:latin typeface="Calibri Light" panose="020F0302020204030204" pitchFamily="34" charset="0"/>
              </a:rPr>
              <a:t>Biến độc lập (X): Nhiệt độ (25°C, 30°C, 35°C).</a:t>
            </a:r>
            <a:endParaRPr lang="en-GB" sz="2800" b="1" dirty="0">
              <a:latin typeface="Calibri Light" panose="020F0302020204030204" pitchFamily="34" charset="0"/>
            </a:endParaRPr>
          </a:p>
          <a:p>
            <a:pPr lvl="1" algn="just">
              <a:buFont typeface="Wingdings" panose="05000000000000000000" pitchFamily="2" charset="2"/>
              <a:buChar char="§"/>
            </a:pPr>
            <a:r>
              <a:rPr lang="vi-VN" sz="2800" b="1" dirty="0">
                <a:latin typeface="Calibri Light" panose="020F0302020204030204" pitchFamily="34" charset="0"/>
              </a:rPr>
              <a:t>Biến phụ thuộc (Y): Lượng khí CO2 sinh ra.</a:t>
            </a:r>
            <a:endParaRPr lang="en-GB" sz="2800" b="1" dirty="0">
              <a:latin typeface="Calibri Light" panose="020F0302020204030204" pitchFamily="34" charset="0"/>
            </a:endParaRPr>
          </a:p>
          <a:p>
            <a:pPr lvl="1" algn="just">
              <a:buFont typeface="Wingdings" panose="05000000000000000000" pitchFamily="2" charset="2"/>
              <a:buChar char="§"/>
            </a:pPr>
            <a:r>
              <a:rPr lang="vi-VN" sz="2800" b="1" dirty="0">
                <a:latin typeface="Calibri Light" panose="020F0302020204030204" pitchFamily="34" charset="0"/>
              </a:rPr>
              <a:t>Biến kiểm soát: Loại đường sử dụng, nồng độ nấm men ban đầu, độ pH môi trường.</a:t>
            </a:r>
            <a:endParaRPr lang="en-AU" sz="3200" b="1" dirty="0">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35955770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455F0-6A23-D5B2-3EC2-5E898468DB57}"/>
              </a:ext>
            </a:extLst>
          </p:cNvPr>
          <p:cNvSpPr>
            <a:spLocks noGrp="1"/>
          </p:cNvSpPr>
          <p:nvPr>
            <p:ph type="title"/>
          </p:nvPr>
        </p:nvSpPr>
        <p:spPr/>
        <p:txBody>
          <a:bodyPr>
            <a:noAutofit/>
          </a:bodyPr>
          <a:lstStyle/>
          <a:p>
            <a:r>
              <a:rPr lang="pt-BR" sz="5400" b="1" dirty="0">
                <a:latin typeface="Calibri Light" panose="020F0302020204030204" pitchFamily="34" charset="0"/>
                <a:ea typeface="Calibri Light" panose="020F0302020204030204" pitchFamily="34" charset="0"/>
                <a:cs typeface="Calibri Light" panose="020F0302020204030204" pitchFamily="34" charset="0"/>
              </a:rPr>
              <a:t>Các biến số trong nghiên cứu</a:t>
            </a:r>
            <a:endParaRPr lang="en-AU" sz="23900" b="1"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3" name="Content Placeholder 2">
            <a:extLst>
              <a:ext uri="{FF2B5EF4-FFF2-40B4-BE49-F238E27FC236}">
                <a16:creationId xmlns:a16="http://schemas.microsoft.com/office/drawing/2014/main" id="{F10B2092-036B-85C5-5D03-9AC32C8303AB}"/>
              </a:ext>
            </a:extLst>
          </p:cNvPr>
          <p:cNvSpPr>
            <a:spLocks noGrp="1"/>
          </p:cNvSpPr>
          <p:nvPr>
            <p:ph idx="1"/>
          </p:nvPr>
        </p:nvSpPr>
        <p:spPr/>
        <p:txBody>
          <a:bodyPr>
            <a:normAutofit/>
          </a:bodyPr>
          <a:lstStyle/>
          <a:p>
            <a:pPr algn="just"/>
            <a:r>
              <a:rPr lang="vi-VN" sz="3200" b="1" dirty="0">
                <a:latin typeface="Calibri Light" panose="020F0302020204030204" pitchFamily="34" charset="0"/>
                <a:ea typeface="Calibri Light" panose="020F0302020204030204" pitchFamily="34" charset="0"/>
                <a:cs typeface="Calibri Light" panose="020F0302020204030204" pitchFamily="34" charset="0"/>
              </a:rPr>
              <a:t>Bài tập: "Hãy thiết kế một thí nghiệm để kiểm chứng giả thuyết: Ánh sáng xanh giúp tăng hàm lượng Anthocyanin trong rau muống tím. Hãy chỉ rõ biến độc lập, biến phụ thuộc và các biến cần kiểm soát."</a:t>
            </a:r>
            <a:endParaRPr lang="en-AU" sz="3200" b="1" dirty="0">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16939510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455F0-6A23-D5B2-3EC2-5E898468DB57}"/>
              </a:ext>
            </a:extLst>
          </p:cNvPr>
          <p:cNvSpPr>
            <a:spLocks noGrp="1"/>
          </p:cNvSpPr>
          <p:nvPr>
            <p:ph type="title"/>
          </p:nvPr>
        </p:nvSpPr>
        <p:spPr/>
        <p:txBody>
          <a:bodyPr>
            <a:noAutofit/>
          </a:bodyPr>
          <a:lstStyle/>
          <a:p>
            <a:r>
              <a:rPr lang="pt-BR" sz="5400" b="1" dirty="0">
                <a:latin typeface="Calibri Light" panose="020F0302020204030204" pitchFamily="34" charset="0"/>
                <a:ea typeface="Calibri Light" panose="020F0302020204030204" pitchFamily="34" charset="0"/>
                <a:cs typeface="Calibri Light" panose="020F0302020204030204" pitchFamily="34" charset="0"/>
              </a:rPr>
              <a:t>Đặc điểm của thiết kế</a:t>
            </a:r>
            <a:endParaRPr lang="en-AU" sz="23900" b="1"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3" name="Content Placeholder 2">
            <a:extLst>
              <a:ext uri="{FF2B5EF4-FFF2-40B4-BE49-F238E27FC236}">
                <a16:creationId xmlns:a16="http://schemas.microsoft.com/office/drawing/2014/main" id="{F10B2092-036B-85C5-5D03-9AC32C8303AB}"/>
              </a:ext>
            </a:extLst>
          </p:cNvPr>
          <p:cNvSpPr>
            <a:spLocks noGrp="1"/>
          </p:cNvSpPr>
          <p:nvPr>
            <p:ph idx="1"/>
          </p:nvPr>
        </p:nvSpPr>
        <p:spPr>
          <a:xfrm>
            <a:off x="680321" y="2336873"/>
            <a:ext cx="10813410" cy="3599316"/>
          </a:xfrm>
        </p:spPr>
        <p:txBody>
          <a:bodyPr>
            <a:noAutofit/>
          </a:bodyPr>
          <a:lstStyle/>
          <a:p>
            <a:pPr algn="just"/>
            <a:r>
              <a:rPr lang="en-GB" sz="2000" b="1" dirty="0" err="1">
                <a:latin typeface="Calibri Light" panose="020F0302020204030204" pitchFamily="34" charset="0"/>
              </a:rPr>
              <a:t>Đặc</a:t>
            </a:r>
            <a:r>
              <a:rPr lang="en-GB" sz="2000" b="1" dirty="0">
                <a:latin typeface="Calibri Light" panose="020F0302020204030204" pitchFamily="34" charset="0"/>
              </a:rPr>
              <a:t> </a:t>
            </a:r>
            <a:r>
              <a:rPr lang="en-GB" sz="2000" b="1" dirty="0" err="1">
                <a:latin typeface="Calibri Light" panose="020F0302020204030204" pitchFamily="34" charset="0"/>
              </a:rPr>
              <a:t>điểm</a:t>
            </a:r>
            <a:r>
              <a:rPr lang="en-GB" sz="2000" b="1" dirty="0">
                <a:latin typeface="Calibri Light" panose="020F0302020204030204" pitchFamily="34" charset="0"/>
              </a:rPr>
              <a:t> 1: </a:t>
            </a:r>
            <a:r>
              <a:rPr lang="en-GB" sz="2000" b="1" dirty="0" err="1">
                <a:latin typeface="Calibri Light" panose="020F0302020204030204" pitchFamily="34" charset="0"/>
              </a:rPr>
              <a:t>Tính</a:t>
            </a:r>
            <a:r>
              <a:rPr lang="en-GB" sz="2000" b="1" dirty="0">
                <a:latin typeface="Calibri Light" panose="020F0302020204030204" pitchFamily="34" charset="0"/>
              </a:rPr>
              <a:t> </a:t>
            </a:r>
            <a:r>
              <a:rPr lang="en-GB" sz="2000" b="1" dirty="0" err="1">
                <a:latin typeface="Calibri Light" panose="020F0302020204030204" pitchFamily="34" charset="0"/>
              </a:rPr>
              <a:t>khách</a:t>
            </a:r>
            <a:r>
              <a:rPr lang="en-GB" sz="2000" b="1" dirty="0">
                <a:latin typeface="Calibri Light" panose="020F0302020204030204" pitchFamily="34" charset="0"/>
              </a:rPr>
              <a:t> </a:t>
            </a:r>
            <a:r>
              <a:rPr lang="en-GB" sz="2000" b="1" dirty="0" err="1">
                <a:latin typeface="Calibri Light" panose="020F0302020204030204" pitchFamily="34" charset="0"/>
              </a:rPr>
              <a:t>quan</a:t>
            </a:r>
            <a:r>
              <a:rPr lang="en-GB" sz="2000" b="1" dirty="0">
                <a:latin typeface="Calibri Light" panose="020F0302020204030204" pitchFamily="34" charset="0"/>
              </a:rPr>
              <a:t> (Objectivity)</a:t>
            </a:r>
          </a:p>
          <a:p>
            <a:pPr marL="0" indent="0" algn="just">
              <a:buNone/>
            </a:pPr>
            <a:r>
              <a:rPr lang="en-GB" sz="2000" b="1" dirty="0">
                <a:ea typeface="Calibri Light" panose="020F0302020204030204" pitchFamily="34" charset="0"/>
                <a:cs typeface="Calibri Light" panose="020F0302020204030204" pitchFamily="34" charset="0"/>
              </a:rPr>
              <a:t>   </a:t>
            </a:r>
            <a:r>
              <a:rPr lang="vi-VN" sz="2000" b="1" dirty="0">
                <a:latin typeface="Calibri Light" panose="020F0302020204030204" pitchFamily="34" charset="0"/>
                <a:ea typeface="Calibri Light" panose="020F0302020204030204" pitchFamily="34" charset="0"/>
                <a:cs typeface="Calibri Light" panose="020F0302020204030204" pitchFamily="34" charset="0"/>
              </a:rPr>
              <a:t>Ví dụ: Sử dụng máy đo OD600 để đo mật độ tế bào thay vì dùng mắt thường quan sát độ đục.</a:t>
            </a:r>
            <a:endParaRPr lang="en-GB" sz="2000" b="1" dirty="0">
              <a:latin typeface="Calibri Light" panose="020F0302020204030204" pitchFamily="34" charset="0"/>
              <a:ea typeface="Calibri Light" panose="020F0302020204030204" pitchFamily="34" charset="0"/>
              <a:cs typeface="Calibri Light" panose="020F0302020204030204" pitchFamily="34" charset="0"/>
            </a:endParaRPr>
          </a:p>
          <a:p>
            <a:pPr marL="0" indent="0" algn="just">
              <a:buNone/>
            </a:pPr>
            <a:r>
              <a:rPr lang="en-GB" sz="2000" b="1" dirty="0">
                <a:latin typeface="Calibri Light" panose="020F0302020204030204" pitchFamily="34" charset="0"/>
                <a:ea typeface="Calibri Light" panose="020F0302020204030204" pitchFamily="34" charset="0"/>
                <a:cs typeface="Calibri Light" panose="020F0302020204030204" pitchFamily="34" charset="0"/>
              </a:rPr>
              <a:t>   </a:t>
            </a:r>
            <a:r>
              <a:rPr lang="vi-VN" sz="2000" b="1" dirty="0">
                <a:latin typeface="Calibri Light" panose="020F0302020204030204" pitchFamily="34" charset="0"/>
                <a:ea typeface="Calibri Light" panose="020F0302020204030204" pitchFamily="34" charset="0"/>
                <a:cs typeface="Calibri Light" panose="020F0302020204030204" pitchFamily="34" charset="0"/>
              </a:rPr>
              <a:t>Ví dụ: Khi đánh giá tác động của thuốc kháng ung thư mới lên tế bào, thay vì để nghiên cứu viên quan sát màu sắc rồi đoán tế bào chết hay sống (dễ cảm tính), thiết kế tốt sẽ yêu cầu dùng máy đo dòng chảy tế bào (Flow Cytometry) để lấy số liệu định lượng chính xác.</a:t>
            </a:r>
            <a:endParaRPr lang="en-GB" sz="2000" b="1" dirty="0">
              <a:latin typeface="Calibri Light" panose="020F0302020204030204" pitchFamily="34" charset="0"/>
              <a:ea typeface="Calibri Light" panose="020F0302020204030204" pitchFamily="34" charset="0"/>
              <a:cs typeface="Calibri Light" panose="020F0302020204030204" pitchFamily="34" charset="0"/>
            </a:endParaRPr>
          </a:p>
          <a:p>
            <a:pPr algn="just"/>
            <a:r>
              <a:rPr lang="vi-VN" sz="2000" b="1" dirty="0">
                <a:latin typeface="Calibri Light" panose="020F0302020204030204" pitchFamily="34" charset="0"/>
                <a:ea typeface="Calibri Light" panose="020F0302020204030204" pitchFamily="34" charset="0"/>
                <a:cs typeface="Calibri Light" panose="020F0302020204030204" pitchFamily="34" charset="0"/>
              </a:rPr>
              <a:t>Đặc điểm 2: Độ tin cậy (Reliability)</a:t>
            </a:r>
            <a:endParaRPr lang="en-GB" sz="2000" b="1" dirty="0">
              <a:latin typeface="Calibri Light" panose="020F0302020204030204" pitchFamily="34" charset="0"/>
              <a:ea typeface="Calibri Light" panose="020F0302020204030204" pitchFamily="34" charset="0"/>
              <a:cs typeface="Calibri Light" panose="020F0302020204030204" pitchFamily="34" charset="0"/>
            </a:endParaRPr>
          </a:p>
          <a:p>
            <a:pPr marL="0" indent="0" algn="just">
              <a:buNone/>
            </a:pPr>
            <a:r>
              <a:rPr lang="en-GB" sz="2000" b="1" dirty="0">
                <a:ea typeface="Calibri Light" panose="020F0302020204030204" pitchFamily="34" charset="0"/>
                <a:cs typeface="Calibri Light" panose="020F0302020204030204" pitchFamily="34" charset="0"/>
              </a:rPr>
              <a:t>   </a:t>
            </a:r>
            <a:r>
              <a:rPr lang="en-GB" sz="2000" b="1" dirty="0" err="1">
                <a:latin typeface="Calibri Light" panose="020F0302020204030204" pitchFamily="34" charset="0"/>
                <a:ea typeface="Calibri Light" panose="020F0302020204030204" pitchFamily="34" charset="0"/>
                <a:cs typeface="Calibri Light" panose="020F0302020204030204" pitchFamily="34" charset="0"/>
              </a:rPr>
              <a:t>Ví</a:t>
            </a:r>
            <a:r>
              <a:rPr lang="en-GB" sz="2000" b="1" dirty="0">
                <a:latin typeface="Calibri Light" panose="020F0302020204030204" pitchFamily="34" charset="0"/>
                <a:ea typeface="Calibri Light" panose="020F0302020204030204" pitchFamily="34" charset="0"/>
                <a:cs typeface="Calibri Light" panose="020F0302020204030204" pitchFamily="34" charset="0"/>
              </a:rPr>
              <a:t> </a:t>
            </a:r>
            <a:r>
              <a:rPr lang="en-GB" sz="2000" b="1" dirty="0" err="1">
                <a:latin typeface="Calibri Light" panose="020F0302020204030204" pitchFamily="34" charset="0"/>
                <a:ea typeface="Calibri Light" panose="020F0302020204030204" pitchFamily="34" charset="0"/>
                <a:cs typeface="Calibri Light" panose="020F0302020204030204" pitchFamily="34" charset="0"/>
              </a:rPr>
              <a:t>dụ</a:t>
            </a:r>
            <a:r>
              <a:rPr lang="vi-VN" sz="2000" b="1" dirty="0">
                <a:latin typeface="Calibri Light" panose="020F0302020204030204" pitchFamily="34" charset="0"/>
                <a:ea typeface="Calibri Light" panose="020F0302020204030204" pitchFamily="34" charset="0"/>
                <a:cs typeface="Calibri Light" panose="020F0302020204030204" pitchFamily="34" charset="0"/>
              </a:rPr>
              <a:t>: Nếu em lặp lại thí nghiệm vào ngày mai, kết quả phải tương đồng.</a:t>
            </a:r>
            <a:endParaRPr lang="en-GB" sz="2000" b="1" dirty="0">
              <a:latin typeface="Calibri Light" panose="020F0302020204030204" pitchFamily="34" charset="0"/>
              <a:ea typeface="Calibri Light" panose="020F0302020204030204" pitchFamily="34" charset="0"/>
              <a:cs typeface="Calibri Light" panose="020F0302020204030204" pitchFamily="34" charset="0"/>
            </a:endParaRPr>
          </a:p>
          <a:p>
            <a:pPr algn="just"/>
            <a:r>
              <a:rPr lang="vi-VN" sz="2000" b="1" dirty="0">
                <a:latin typeface="Calibri Light" panose="020F0302020204030204" pitchFamily="34" charset="0"/>
                <a:ea typeface="Calibri Light" panose="020F0302020204030204" pitchFamily="34" charset="0"/>
                <a:cs typeface="Calibri Light" panose="020F0302020204030204" pitchFamily="34" charset="0"/>
              </a:rPr>
              <a:t>Đặc điểm 3: Tính hợp lệ (Validity)</a:t>
            </a:r>
            <a:endParaRPr lang="en-GB" sz="2000" b="1" dirty="0">
              <a:latin typeface="Calibri Light" panose="020F0302020204030204" pitchFamily="34" charset="0"/>
              <a:ea typeface="Calibri Light" panose="020F0302020204030204" pitchFamily="34" charset="0"/>
              <a:cs typeface="Calibri Light" panose="020F0302020204030204" pitchFamily="34" charset="0"/>
            </a:endParaRPr>
          </a:p>
          <a:p>
            <a:pPr marL="0" indent="0" algn="just">
              <a:buNone/>
            </a:pPr>
            <a:r>
              <a:rPr lang="en-GB" sz="2000" b="1" dirty="0">
                <a:latin typeface="Calibri Light" panose="020F0302020204030204" pitchFamily="34" charset="0"/>
                <a:ea typeface="Calibri Light" panose="020F0302020204030204" pitchFamily="34" charset="0"/>
                <a:cs typeface="Calibri Light" panose="020F0302020204030204" pitchFamily="34" charset="0"/>
              </a:rPr>
              <a:t>   </a:t>
            </a:r>
            <a:r>
              <a:rPr lang="vi-VN" sz="2000" b="1" dirty="0">
                <a:latin typeface="Calibri Light" panose="020F0302020204030204" pitchFamily="34" charset="0"/>
                <a:ea typeface="Calibri Light" panose="020F0302020204030204" pitchFamily="34" charset="0"/>
                <a:cs typeface="Calibri Light" panose="020F0302020204030204" pitchFamily="34" charset="0"/>
              </a:rPr>
              <a:t>Ví dụ: Để đo khả năng kháng kháng sinh, phải dùng đúng phương pháp đĩa thạch khuếch tán chuẩn CLSI.</a:t>
            </a:r>
            <a:endParaRPr lang="en-GB" sz="2000" b="1" dirty="0">
              <a:latin typeface="Calibri Light" panose="020F0302020204030204" pitchFamily="34" charset="0"/>
              <a:ea typeface="Calibri Light" panose="020F0302020204030204" pitchFamily="34" charset="0"/>
              <a:cs typeface="Calibri Light" panose="020F0302020204030204" pitchFamily="34" charset="0"/>
            </a:endParaRPr>
          </a:p>
          <a:p>
            <a:pPr marL="0" indent="0" algn="just">
              <a:buNone/>
            </a:pPr>
            <a:r>
              <a:rPr lang="en-GB" sz="2000" b="1" dirty="0">
                <a:latin typeface="Calibri Light" panose="020F0302020204030204" pitchFamily="34" charset="0"/>
                <a:ea typeface="Calibri Light" panose="020F0302020204030204" pitchFamily="34" charset="0"/>
                <a:cs typeface="Calibri Light" panose="020F0302020204030204" pitchFamily="34" charset="0"/>
              </a:rPr>
              <a:t>   </a:t>
            </a:r>
            <a:r>
              <a:rPr lang="vi-VN" sz="2000" b="1" dirty="0">
                <a:latin typeface="Calibri Light" panose="020F0302020204030204" pitchFamily="34" charset="0"/>
                <a:ea typeface="Calibri Light" panose="020F0302020204030204" pitchFamily="34" charset="0"/>
                <a:cs typeface="Calibri Light" panose="020F0302020204030204" pitchFamily="34" charset="0"/>
              </a:rPr>
              <a:t>Ví dụ: Em muốn nghiên cứu "Độ an toàn của thực phẩm biến đổi gene", nhưng em lại chỉ đi đo "Năng suất của cây". Như vậy thiết kế này sai tính hợp lệ vì năng suất không đại diện cho độ an toàn sinh học.</a:t>
            </a:r>
            <a:endParaRPr lang="en-AU" sz="2000" b="1" dirty="0">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26645821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455F0-6A23-D5B2-3EC2-5E898468DB57}"/>
              </a:ext>
            </a:extLst>
          </p:cNvPr>
          <p:cNvSpPr>
            <a:spLocks noGrp="1"/>
          </p:cNvSpPr>
          <p:nvPr>
            <p:ph type="title"/>
          </p:nvPr>
        </p:nvSpPr>
        <p:spPr/>
        <p:txBody>
          <a:bodyPr>
            <a:noAutofit/>
          </a:bodyPr>
          <a:lstStyle/>
          <a:p>
            <a:r>
              <a:rPr lang="pt-BR" sz="5400" b="1" dirty="0">
                <a:latin typeface="Calibri Light" panose="020F0302020204030204" pitchFamily="34" charset="0"/>
                <a:ea typeface="Calibri Light" panose="020F0302020204030204" pitchFamily="34" charset="0"/>
                <a:cs typeface="Calibri Light" panose="020F0302020204030204" pitchFamily="34" charset="0"/>
              </a:rPr>
              <a:t>Tính kinh tế trong thiết kế</a:t>
            </a:r>
            <a:endParaRPr lang="en-AU" sz="23900" b="1"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3" name="Content Placeholder 2">
            <a:extLst>
              <a:ext uri="{FF2B5EF4-FFF2-40B4-BE49-F238E27FC236}">
                <a16:creationId xmlns:a16="http://schemas.microsoft.com/office/drawing/2014/main" id="{F10B2092-036B-85C5-5D03-9AC32C8303AB}"/>
              </a:ext>
            </a:extLst>
          </p:cNvPr>
          <p:cNvSpPr>
            <a:spLocks noGrp="1"/>
          </p:cNvSpPr>
          <p:nvPr>
            <p:ph idx="1"/>
          </p:nvPr>
        </p:nvSpPr>
        <p:spPr/>
        <p:txBody>
          <a:bodyPr>
            <a:noAutofit/>
          </a:bodyPr>
          <a:lstStyle/>
          <a:p>
            <a:pPr algn="just"/>
            <a:r>
              <a:rPr lang="vi-VN" sz="2600" b="1" dirty="0">
                <a:latin typeface="Calibri Light" panose="020F0302020204030204" pitchFamily="34" charset="0"/>
              </a:rPr>
              <a:t>Thiết kế tốt giúp giảm số lượng mẫu thử </a:t>
            </a:r>
            <a:endParaRPr lang="en-GB" sz="2600" b="1" dirty="0">
              <a:latin typeface="Calibri Light" panose="020F0302020204030204" pitchFamily="34" charset="0"/>
            </a:endParaRPr>
          </a:p>
          <a:p>
            <a:pPr algn="just"/>
            <a:r>
              <a:rPr lang="vi-VN" sz="2600" b="1" dirty="0">
                <a:latin typeface="Calibri Light" panose="020F0302020204030204" pitchFamily="34" charset="0"/>
              </a:rPr>
              <a:t>Ví dụ: Giảm số lượng chuột thí nghiệm mà vẫn đạt ý nghĩa thống kê.</a:t>
            </a:r>
            <a:endParaRPr lang="en-AU" sz="2600" b="1" dirty="0">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34336012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455F0-6A23-D5B2-3EC2-5E898468DB57}"/>
              </a:ext>
            </a:extLst>
          </p:cNvPr>
          <p:cNvSpPr>
            <a:spLocks noGrp="1"/>
          </p:cNvSpPr>
          <p:nvPr>
            <p:ph type="title"/>
          </p:nvPr>
        </p:nvSpPr>
        <p:spPr/>
        <p:txBody>
          <a:bodyPr>
            <a:noAutofit/>
          </a:bodyPr>
          <a:lstStyle/>
          <a:p>
            <a:r>
              <a:rPr lang="pt-BR" sz="5400" b="1" dirty="0">
                <a:latin typeface="Calibri Light" panose="020F0302020204030204" pitchFamily="34" charset="0"/>
                <a:ea typeface="Calibri Light" panose="020F0302020204030204" pitchFamily="34" charset="0"/>
                <a:cs typeface="Calibri Light" panose="020F0302020204030204" pitchFamily="34" charset="0"/>
              </a:rPr>
              <a:t>Các thành phần của bản thiết kế</a:t>
            </a:r>
            <a:endParaRPr lang="en-AU" sz="23900" b="1"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3" name="Content Placeholder 2">
            <a:extLst>
              <a:ext uri="{FF2B5EF4-FFF2-40B4-BE49-F238E27FC236}">
                <a16:creationId xmlns:a16="http://schemas.microsoft.com/office/drawing/2014/main" id="{F10B2092-036B-85C5-5D03-9AC32C8303AB}"/>
              </a:ext>
            </a:extLst>
          </p:cNvPr>
          <p:cNvSpPr>
            <a:spLocks noGrp="1"/>
          </p:cNvSpPr>
          <p:nvPr>
            <p:ph idx="1"/>
          </p:nvPr>
        </p:nvSpPr>
        <p:spPr/>
        <p:txBody>
          <a:bodyPr>
            <a:noAutofit/>
          </a:bodyPr>
          <a:lstStyle/>
          <a:p>
            <a:pPr algn="just"/>
            <a:r>
              <a:rPr lang="vi-VN" sz="3600" b="1" dirty="0">
                <a:latin typeface="Calibri Light" panose="020F0302020204030204" pitchFamily="34" charset="0"/>
              </a:rPr>
              <a:t>Phương pháp lấy mẫu</a:t>
            </a:r>
            <a:endParaRPr lang="en-GB" sz="3600" b="1" dirty="0">
              <a:latin typeface="Calibri Light" panose="020F0302020204030204" pitchFamily="34" charset="0"/>
            </a:endParaRPr>
          </a:p>
          <a:p>
            <a:pPr algn="just"/>
            <a:r>
              <a:rPr lang="en-GB" sz="3600" b="1" dirty="0"/>
              <a:t>C</a:t>
            </a:r>
            <a:r>
              <a:rPr lang="vi-VN" sz="3600" b="1" dirty="0">
                <a:latin typeface="Calibri Light" panose="020F0302020204030204" pitchFamily="34" charset="0"/>
              </a:rPr>
              <a:t>ông cụ thu thập dữ liệu</a:t>
            </a:r>
            <a:endParaRPr lang="en-GB" sz="3600" b="1" dirty="0">
              <a:latin typeface="Calibri Light" panose="020F0302020204030204" pitchFamily="34" charset="0"/>
            </a:endParaRPr>
          </a:p>
          <a:p>
            <a:pPr algn="just"/>
            <a:r>
              <a:rPr lang="en-GB" sz="3600" b="1" dirty="0"/>
              <a:t>K</a:t>
            </a:r>
            <a:r>
              <a:rPr lang="vi-VN" sz="3600" b="1" dirty="0">
                <a:latin typeface="Calibri Light" panose="020F0302020204030204" pitchFamily="34" charset="0"/>
              </a:rPr>
              <a:t>ỹ thuật xử lý số liệu</a:t>
            </a:r>
            <a:endParaRPr lang="en-AU" sz="3600" b="1" dirty="0">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24368685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455F0-6A23-D5B2-3EC2-5E898468DB57}"/>
              </a:ext>
            </a:extLst>
          </p:cNvPr>
          <p:cNvSpPr>
            <a:spLocks noGrp="1"/>
          </p:cNvSpPr>
          <p:nvPr>
            <p:ph type="title"/>
          </p:nvPr>
        </p:nvSpPr>
        <p:spPr/>
        <p:txBody>
          <a:bodyPr>
            <a:noAutofit/>
          </a:bodyPr>
          <a:lstStyle/>
          <a:p>
            <a:r>
              <a:rPr lang="en-AU" sz="6000" b="1" dirty="0" err="1"/>
              <a:t>Bài</a:t>
            </a:r>
            <a:r>
              <a:rPr lang="en-AU" sz="6000" b="1" dirty="0"/>
              <a:t> </a:t>
            </a:r>
            <a:r>
              <a:rPr lang="en-AU" sz="6000" b="1" dirty="0" err="1"/>
              <a:t>tập</a:t>
            </a:r>
            <a:r>
              <a:rPr lang="en-AU" sz="6000" b="1" dirty="0"/>
              <a:t> </a:t>
            </a:r>
            <a:r>
              <a:rPr lang="en-AU" sz="6000" b="1" dirty="0" err="1"/>
              <a:t>ứng</a:t>
            </a:r>
            <a:r>
              <a:rPr lang="en-AU" sz="6000" b="1" dirty="0"/>
              <a:t> </a:t>
            </a:r>
            <a:r>
              <a:rPr lang="en-AU" sz="6000" b="1" dirty="0" err="1"/>
              <a:t>dụng</a:t>
            </a:r>
            <a:r>
              <a:rPr lang="en-AU" sz="6000" b="1" dirty="0"/>
              <a:t> 2</a:t>
            </a:r>
            <a:endParaRPr lang="en-AU" sz="71400" b="1"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3" name="Content Placeholder 2">
            <a:extLst>
              <a:ext uri="{FF2B5EF4-FFF2-40B4-BE49-F238E27FC236}">
                <a16:creationId xmlns:a16="http://schemas.microsoft.com/office/drawing/2014/main" id="{F10B2092-036B-85C5-5D03-9AC32C8303AB}"/>
              </a:ext>
            </a:extLst>
          </p:cNvPr>
          <p:cNvSpPr>
            <a:spLocks noGrp="1"/>
          </p:cNvSpPr>
          <p:nvPr>
            <p:ph idx="1"/>
          </p:nvPr>
        </p:nvSpPr>
        <p:spPr/>
        <p:txBody>
          <a:bodyPr>
            <a:noAutofit/>
          </a:bodyPr>
          <a:lstStyle/>
          <a:p>
            <a:pPr algn="just"/>
            <a:r>
              <a:rPr lang="vi-VN" sz="3600" b="1" dirty="0">
                <a:latin typeface="Calibri Light" panose="020F0302020204030204" pitchFamily="34" charset="0"/>
              </a:rPr>
              <a:t>Liệt kê các yếu tố có thể gây sai số (bias) trong một thí nghiệm nuôi cấy mô thực vật</a:t>
            </a:r>
            <a:r>
              <a:rPr lang="en-GB" sz="3600" b="1" dirty="0">
                <a:latin typeface="Calibri Light" panose="020F0302020204030204" pitchFamily="34" charset="0"/>
              </a:rPr>
              <a:t>.</a:t>
            </a:r>
            <a:r>
              <a:rPr lang="vi-VN" sz="3600" b="1" dirty="0">
                <a:latin typeface="Calibri Light" panose="020F0302020204030204" pitchFamily="34" charset="0"/>
              </a:rPr>
              <a:t> </a:t>
            </a:r>
            <a:endParaRPr lang="en-GB" sz="3600" b="1" dirty="0">
              <a:latin typeface="Calibri Light" panose="020F0302020204030204" pitchFamily="34" charset="0"/>
            </a:endParaRPr>
          </a:p>
          <a:p>
            <a:pPr algn="just"/>
            <a:r>
              <a:rPr lang="vi-VN" sz="3600" b="1" dirty="0">
                <a:latin typeface="Calibri Light" panose="020F0302020204030204" pitchFamily="34" charset="0"/>
              </a:rPr>
              <a:t>Ví dụ: Ánh sáng không đều, độ nhiễm khuẩn.</a:t>
            </a:r>
            <a:endParaRPr lang="en-AU" sz="3600" b="1" dirty="0">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30069935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455F0-6A23-D5B2-3EC2-5E898468DB57}"/>
              </a:ext>
            </a:extLst>
          </p:cNvPr>
          <p:cNvSpPr>
            <a:spLocks noGrp="1"/>
          </p:cNvSpPr>
          <p:nvPr>
            <p:ph type="title"/>
          </p:nvPr>
        </p:nvSpPr>
        <p:spPr/>
        <p:txBody>
          <a:bodyPr>
            <a:noAutofit/>
          </a:bodyPr>
          <a:lstStyle/>
          <a:p>
            <a:r>
              <a:rPr lang="en-AU" sz="6000" b="1" dirty="0" err="1"/>
              <a:t>Tổng</a:t>
            </a:r>
            <a:r>
              <a:rPr lang="en-AU" sz="6000" b="1" dirty="0"/>
              <a:t> </a:t>
            </a:r>
            <a:r>
              <a:rPr lang="en-AU" sz="6000" b="1" dirty="0" err="1"/>
              <a:t>kết</a:t>
            </a:r>
            <a:r>
              <a:rPr lang="en-AU" sz="6000" b="1" dirty="0"/>
              <a:t> </a:t>
            </a:r>
            <a:r>
              <a:rPr lang="en-AU" sz="6000" b="1" dirty="0" err="1"/>
              <a:t>đặc</a:t>
            </a:r>
            <a:r>
              <a:rPr lang="en-AU" sz="6000" b="1" dirty="0"/>
              <a:t> </a:t>
            </a:r>
            <a:r>
              <a:rPr lang="en-AU" sz="6000" b="1" dirty="0" err="1"/>
              <a:t>điểm</a:t>
            </a:r>
            <a:r>
              <a:rPr lang="en-AU" sz="6000" b="1" dirty="0"/>
              <a:t> </a:t>
            </a:r>
            <a:r>
              <a:rPr lang="en-AU" sz="6000" b="1" dirty="0" err="1"/>
              <a:t>thiết</a:t>
            </a:r>
            <a:r>
              <a:rPr lang="en-AU" sz="6000" b="1" dirty="0"/>
              <a:t> </a:t>
            </a:r>
            <a:r>
              <a:rPr lang="en-AU" sz="6000" b="1" dirty="0" err="1"/>
              <a:t>kế</a:t>
            </a:r>
            <a:r>
              <a:rPr lang="en-AU" sz="6000" b="1" dirty="0"/>
              <a:t> </a:t>
            </a:r>
            <a:r>
              <a:rPr lang="en-AU" sz="6000" b="1" dirty="0" err="1"/>
              <a:t>tốt</a:t>
            </a:r>
            <a:endParaRPr lang="en-AU" sz="71400" b="1"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3" name="Content Placeholder 2">
            <a:extLst>
              <a:ext uri="{FF2B5EF4-FFF2-40B4-BE49-F238E27FC236}">
                <a16:creationId xmlns:a16="http://schemas.microsoft.com/office/drawing/2014/main" id="{F10B2092-036B-85C5-5D03-9AC32C8303AB}"/>
              </a:ext>
            </a:extLst>
          </p:cNvPr>
          <p:cNvSpPr>
            <a:spLocks noGrp="1"/>
          </p:cNvSpPr>
          <p:nvPr>
            <p:ph idx="1"/>
          </p:nvPr>
        </p:nvSpPr>
        <p:spPr/>
        <p:txBody>
          <a:bodyPr>
            <a:noAutofit/>
          </a:bodyPr>
          <a:lstStyle/>
          <a:p>
            <a:pPr algn="just"/>
            <a:r>
              <a:rPr lang="vi-VN" sz="3600" b="1" dirty="0">
                <a:latin typeface="Calibri Light" panose="020F0302020204030204" pitchFamily="34" charset="0"/>
              </a:rPr>
              <a:t>Bảng kiểm (Checklist) cho một bản thiết kế chuẩn.</a:t>
            </a:r>
            <a:endParaRPr lang="en-AU" sz="3600" b="1" dirty="0">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15213000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455F0-6A23-D5B2-3EC2-5E898468DB57}"/>
              </a:ext>
            </a:extLst>
          </p:cNvPr>
          <p:cNvSpPr>
            <a:spLocks noGrp="1"/>
          </p:cNvSpPr>
          <p:nvPr>
            <p:ph type="title"/>
          </p:nvPr>
        </p:nvSpPr>
        <p:spPr/>
        <p:txBody>
          <a:bodyPr>
            <a:noAutofit/>
          </a:bodyPr>
          <a:lstStyle/>
          <a:p>
            <a:r>
              <a:rPr lang="en-AU" sz="6000" b="1" dirty="0"/>
              <a:t>Quiz </a:t>
            </a:r>
            <a:r>
              <a:rPr lang="en-AU" sz="6000" b="1" dirty="0" err="1"/>
              <a:t>Phần</a:t>
            </a:r>
            <a:r>
              <a:rPr lang="en-AU" sz="6000" b="1" dirty="0"/>
              <a:t> 2</a:t>
            </a:r>
            <a:endParaRPr lang="en-AU" sz="71400" b="1"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3" name="Content Placeholder 2">
            <a:extLst>
              <a:ext uri="{FF2B5EF4-FFF2-40B4-BE49-F238E27FC236}">
                <a16:creationId xmlns:a16="http://schemas.microsoft.com/office/drawing/2014/main" id="{F10B2092-036B-85C5-5D03-9AC32C8303AB}"/>
              </a:ext>
            </a:extLst>
          </p:cNvPr>
          <p:cNvSpPr>
            <a:spLocks noGrp="1"/>
          </p:cNvSpPr>
          <p:nvPr>
            <p:ph idx="1"/>
          </p:nvPr>
        </p:nvSpPr>
        <p:spPr/>
        <p:txBody>
          <a:bodyPr>
            <a:noAutofit/>
          </a:bodyPr>
          <a:lstStyle/>
          <a:p>
            <a:pPr algn="just"/>
            <a:r>
              <a:rPr lang="vi-VN" sz="3600" b="1" dirty="0">
                <a:latin typeface="Calibri Light" panose="020F0302020204030204" pitchFamily="34" charset="0"/>
              </a:rPr>
              <a:t>Câu hỏi: Thiết kế nghiên cứu giúp ích gì nhất cho nhà khoa học? </a:t>
            </a:r>
            <a:endParaRPr lang="en-GB" sz="3600" b="1" dirty="0">
              <a:latin typeface="Calibri Light" panose="020F0302020204030204" pitchFamily="34" charset="0"/>
            </a:endParaRPr>
          </a:p>
          <a:p>
            <a:pPr algn="just"/>
            <a:r>
              <a:rPr lang="vi-VN" sz="3600" b="1" dirty="0">
                <a:latin typeface="Calibri Light" panose="020F0302020204030204" pitchFamily="34" charset="0"/>
              </a:rPr>
              <a:t>A. Tiết kiệm tiền; </a:t>
            </a:r>
            <a:endParaRPr lang="en-GB" sz="3600" b="1" dirty="0">
              <a:latin typeface="Calibri Light" panose="020F0302020204030204" pitchFamily="34" charset="0"/>
            </a:endParaRPr>
          </a:p>
          <a:p>
            <a:pPr algn="just"/>
            <a:r>
              <a:rPr lang="vi-VN" sz="3600" b="1" dirty="0">
                <a:latin typeface="Calibri Light" panose="020F0302020204030204" pitchFamily="34" charset="0"/>
              </a:rPr>
              <a:t>B. Đảm bảo dữ liệu đáng tin cậy; </a:t>
            </a:r>
            <a:endParaRPr lang="en-GB" sz="3600" b="1" dirty="0">
              <a:latin typeface="Calibri Light" panose="020F0302020204030204" pitchFamily="34" charset="0"/>
            </a:endParaRPr>
          </a:p>
          <a:p>
            <a:pPr algn="just"/>
            <a:r>
              <a:rPr lang="vi-VN" sz="3600" b="1" dirty="0">
                <a:latin typeface="Calibri Light" panose="020F0302020204030204" pitchFamily="34" charset="0"/>
              </a:rPr>
              <a:t>C. Cả A và B</a:t>
            </a:r>
            <a:r>
              <a:rPr lang="en-GB" sz="3600" b="1" dirty="0">
                <a:latin typeface="Calibri Light" panose="020F0302020204030204" pitchFamily="34" charset="0"/>
              </a:rPr>
              <a:t>;</a:t>
            </a:r>
          </a:p>
          <a:p>
            <a:pPr algn="just"/>
            <a:r>
              <a:rPr lang="en-GB" sz="3600" b="1" dirty="0"/>
              <a:t>D. </a:t>
            </a:r>
            <a:r>
              <a:rPr lang="en-GB" sz="3600" b="1" dirty="0" err="1"/>
              <a:t>Cả</a:t>
            </a:r>
            <a:r>
              <a:rPr lang="en-GB" sz="3600" b="1" dirty="0"/>
              <a:t> A </a:t>
            </a:r>
            <a:r>
              <a:rPr lang="en-GB" sz="3600" b="1" dirty="0" err="1"/>
              <a:t>và</a:t>
            </a:r>
            <a:r>
              <a:rPr lang="en-GB" sz="3600" b="1" dirty="0"/>
              <a:t> B </a:t>
            </a:r>
            <a:r>
              <a:rPr lang="en-GB" sz="3600" b="1" dirty="0" err="1"/>
              <a:t>điều</a:t>
            </a:r>
            <a:r>
              <a:rPr lang="en-GB" sz="3600" b="1" dirty="0"/>
              <a:t> </a:t>
            </a:r>
            <a:r>
              <a:rPr lang="en-GB" sz="3600" b="1" dirty="0" err="1"/>
              <a:t>sai</a:t>
            </a:r>
            <a:r>
              <a:rPr lang="en-AU" sz="3600" b="1" dirty="0">
                <a:ea typeface="Calibri Light" panose="020F0302020204030204" pitchFamily="34" charset="0"/>
                <a:cs typeface="Calibri Light" panose="020F0302020204030204" pitchFamily="34" charset="0"/>
              </a:rPr>
              <a:t>.</a:t>
            </a:r>
            <a:endParaRPr lang="en-GB" sz="3600" b="1" dirty="0">
              <a:latin typeface="Calibri Light" panose="020F0302020204030204" pitchFamily="34" charset="0"/>
            </a:endParaRPr>
          </a:p>
        </p:txBody>
      </p:sp>
    </p:spTree>
    <p:extLst>
      <p:ext uri="{BB962C8B-B14F-4D97-AF65-F5344CB8AC3E}">
        <p14:creationId xmlns:p14="http://schemas.microsoft.com/office/powerpoint/2010/main" val="26249724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455F0-6A23-D5B2-3EC2-5E898468DB57}"/>
              </a:ext>
            </a:extLst>
          </p:cNvPr>
          <p:cNvSpPr>
            <a:spLocks noGrp="1"/>
          </p:cNvSpPr>
          <p:nvPr>
            <p:ph type="title"/>
          </p:nvPr>
        </p:nvSpPr>
        <p:spPr/>
        <p:txBody>
          <a:bodyPr>
            <a:noAutofit/>
          </a:bodyPr>
          <a:lstStyle/>
          <a:p>
            <a:r>
              <a:rPr lang="en-AU" sz="6000" b="1" dirty="0"/>
              <a:t>Quiz </a:t>
            </a:r>
            <a:r>
              <a:rPr lang="en-AU" sz="6000" b="1" dirty="0" err="1"/>
              <a:t>Phần</a:t>
            </a:r>
            <a:r>
              <a:rPr lang="en-AU" sz="6000" b="1" dirty="0"/>
              <a:t> 2</a:t>
            </a:r>
            <a:endParaRPr lang="en-AU" sz="71400" b="1"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3" name="Content Placeholder 2">
            <a:extLst>
              <a:ext uri="{FF2B5EF4-FFF2-40B4-BE49-F238E27FC236}">
                <a16:creationId xmlns:a16="http://schemas.microsoft.com/office/drawing/2014/main" id="{F10B2092-036B-85C5-5D03-9AC32C8303AB}"/>
              </a:ext>
            </a:extLst>
          </p:cNvPr>
          <p:cNvSpPr>
            <a:spLocks noGrp="1"/>
          </p:cNvSpPr>
          <p:nvPr>
            <p:ph idx="1"/>
          </p:nvPr>
        </p:nvSpPr>
        <p:spPr/>
        <p:txBody>
          <a:bodyPr>
            <a:noAutofit/>
          </a:bodyPr>
          <a:lstStyle/>
          <a:p>
            <a:pPr algn="just"/>
            <a:r>
              <a:rPr lang="vi-VN" sz="3600" b="1" dirty="0">
                <a:latin typeface="Calibri Light" panose="020F0302020204030204" pitchFamily="34" charset="0"/>
              </a:rPr>
              <a:t>Câu hỏi: Thiết kế nghiên cứu giúp ích gì nhất cho nhà khoa học? </a:t>
            </a:r>
            <a:endParaRPr lang="en-GB" sz="3600" b="1" dirty="0">
              <a:latin typeface="Calibri Light" panose="020F0302020204030204" pitchFamily="34" charset="0"/>
            </a:endParaRPr>
          </a:p>
          <a:p>
            <a:pPr algn="just"/>
            <a:r>
              <a:rPr lang="vi-VN" sz="3600" b="1" dirty="0">
                <a:latin typeface="Calibri Light" panose="020F0302020204030204" pitchFamily="34" charset="0"/>
              </a:rPr>
              <a:t>A. Tiết kiệm tiền; </a:t>
            </a:r>
            <a:endParaRPr lang="en-GB" sz="3600" b="1" dirty="0">
              <a:latin typeface="Calibri Light" panose="020F0302020204030204" pitchFamily="34" charset="0"/>
            </a:endParaRPr>
          </a:p>
          <a:p>
            <a:pPr algn="just"/>
            <a:r>
              <a:rPr lang="vi-VN" sz="3600" b="1" dirty="0">
                <a:latin typeface="Calibri Light" panose="020F0302020204030204" pitchFamily="34" charset="0"/>
              </a:rPr>
              <a:t>B. Đảm bảo dữ liệu đáng tin cậy; </a:t>
            </a:r>
            <a:endParaRPr lang="en-GB" sz="3600" b="1" dirty="0">
              <a:latin typeface="Calibri Light" panose="020F0302020204030204" pitchFamily="34" charset="0"/>
            </a:endParaRPr>
          </a:p>
          <a:p>
            <a:pPr algn="just"/>
            <a:r>
              <a:rPr lang="vi-VN" sz="3600" b="1" dirty="0">
                <a:latin typeface="Calibri Light" panose="020F0302020204030204" pitchFamily="34" charset="0"/>
              </a:rPr>
              <a:t>C. Cả A và B</a:t>
            </a:r>
            <a:r>
              <a:rPr lang="en-GB" sz="3600" b="1" dirty="0">
                <a:latin typeface="Calibri Light" panose="020F0302020204030204" pitchFamily="34" charset="0"/>
              </a:rPr>
              <a:t>;</a:t>
            </a:r>
          </a:p>
          <a:p>
            <a:pPr algn="just"/>
            <a:r>
              <a:rPr lang="en-GB" sz="3600" b="1" dirty="0"/>
              <a:t>D. </a:t>
            </a:r>
            <a:r>
              <a:rPr lang="en-GB" sz="3600" b="1" dirty="0" err="1"/>
              <a:t>Cả</a:t>
            </a:r>
            <a:r>
              <a:rPr lang="en-GB" sz="3600" b="1" dirty="0"/>
              <a:t> A </a:t>
            </a:r>
            <a:r>
              <a:rPr lang="en-GB" sz="3600" b="1" dirty="0" err="1"/>
              <a:t>và</a:t>
            </a:r>
            <a:r>
              <a:rPr lang="en-GB" sz="3600" b="1" dirty="0"/>
              <a:t> B </a:t>
            </a:r>
            <a:r>
              <a:rPr lang="en-GB" sz="3600" b="1" dirty="0" err="1"/>
              <a:t>điều</a:t>
            </a:r>
            <a:r>
              <a:rPr lang="en-GB" sz="3600" b="1" dirty="0"/>
              <a:t> </a:t>
            </a:r>
            <a:r>
              <a:rPr lang="en-GB" sz="3600" b="1" dirty="0" err="1"/>
              <a:t>sai</a:t>
            </a:r>
            <a:r>
              <a:rPr lang="en-GB" sz="3600" b="1" dirty="0"/>
              <a:t>.</a:t>
            </a:r>
            <a:endParaRPr lang="en-GB" sz="3600" b="1" dirty="0">
              <a:latin typeface="Calibri Light" panose="020F0302020204030204" pitchFamily="34" charset="0"/>
            </a:endParaRPr>
          </a:p>
          <a:p>
            <a:pPr algn="just"/>
            <a:r>
              <a:rPr lang="vi-VN" sz="3600" b="1" dirty="0">
                <a:latin typeface="Calibri Light" panose="020F0302020204030204" pitchFamily="34" charset="0"/>
              </a:rPr>
              <a:t>Đáp án: C.</a:t>
            </a:r>
            <a:endParaRPr lang="en-AU" sz="3600" b="1" dirty="0">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15776280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455F0-6A23-D5B2-3EC2-5E898468DB57}"/>
              </a:ext>
            </a:extLst>
          </p:cNvPr>
          <p:cNvSpPr>
            <a:spLocks noGrp="1"/>
          </p:cNvSpPr>
          <p:nvPr>
            <p:ph type="title"/>
          </p:nvPr>
        </p:nvSpPr>
        <p:spPr/>
        <p:txBody>
          <a:bodyPr>
            <a:noAutofit/>
          </a:bodyPr>
          <a:lstStyle/>
          <a:p>
            <a:r>
              <a:rPr lang="en-AU" sz="4400" b="1" dirty="0"/>
              <a:t>PHẦN 3: CÁC LOẠI THIẾT KẾ NGHIÊN CỨU</a:t>
            </a:r>
            <a:endParaRPr lang="en-AU" sz="41300" b="1" dirty="0">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24396297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455F0-6A23-D5B2-3EC2-5E898468DB57}"/>
              </a:ext>
            </a:extLst>
          </p:cNvPr>
          <p:cNvSpPr>
            <a:spLocks noGrp="1"/>
          </p:cNvSpPr>
          <p:nvPr>
            <p:ph type="title"/>
          </p:nvPr>
        </p:nvSpPr>
        <p:spPr/>
        <p:txBody>
          <a:bodyPr>
            <a:noAutofit/>
          </a:bodyPr>
          <a:lstStyle/>
          <a:p>
            <a:r>
              <a:rPr lang="en-AU" sz="4400" b="1" dirty="0" err="1"/>
              <a:t>Tổng</a:t>
            </a:r>
            <a:r>
              <a:rPr lang="en-AU" sz="4400" b="1" dirty="0"/>
              <a:t> </a:t>
            </a:r>
            <a:r>
              <a:rPr lang="en-AU" sz="4400" b="1" dirty="0" err="1"/>
              <a:t>quan</a:t>
            </a:r>
            <a:r>
              <a:rPr lang="en-AU" sz="4400" b="1" dirty="0"/>
              <a:t> </a:t>
            </a:r>
            <a:r>
              <a:rPr lang="en-AU" sz="4400" b="1" dirty="0" err="1"/>
              <a:t>phân</a:t>
            </a:r>
            <a:r>
              <a:rPr lang="en-AU" sz="4400" b="1" dirty="0"/>
              <a:t> </a:t>
            </a:r>
            <a:r>
              <a:rPr lang="en-AU" sz="4400" b="1" dirty="0" err="1"/>
              <a:t>loại</a:t>
            </a:r>
            <a:r>
              <a:rPr lang="en-AU" sz="4400" b="1" dirty="0"/>
              <a:t> </a:t>
            </a:r>
            <a:r>
              <a:rPr lang="en-AU" sz="4400" b="1" dirty="0" err="1"/>
              <a:t>thiết</a:t>
            </a:r>
            <a:r>
              <a:rPr lang="en-AU" sz="4400" b="1" dirty="0"/>
              <a:t> </a:t>
            </a:r>
            <a:r>
              <a:rPr lang="en-AU" sz="4400" b="1" dirty="0" err="1"/>
              <a:t>kế</a:t>
            </a:r>
            <a:r>
              <a:rPr lang="en-AU" sz="4400" b="1" dirty="0"/>
              <a:t> </a:t>
            </a:r>
            <a:r>
              <a:rPr lang="en-AU" sz="4400" b="1" dirty="0" err="1"/>
              <a:t>nghiên</a:t>
            </a:r>
            <a:r>
              <a:rPr lang="en-AU" sz="4400" b="1" dirty="0"/>
              <a:t> </a:t>
            </a:r>
            <a:r>
              <a:rPr lang="en-AU" sz="4400" b="1" dirty="0" err="1"/>
              <a:t>cứu</a:t>
            </a:r>
            <a:r>
              <a:rPr lang="en-AU" sz="4400" b="1" dirty="0"/>
              <a:t> (Singh, 2006)</a:t>
            </a:r>
            <a:endParaRPr lang="en-AU" sz="41300" b="1"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3" name="Content Placeholder 2">
            <a:extLst>
              <a:ext uri="{FF2B5EF4-FFF2-40B4-BE49-F238E27FC236}">
                <a16:creationId xmlns:a16="http://schemas.microsoft.com/office/drawing/2014/main" id="{F10B2092-036B-85C5-5D03-9AC32C8303AB}"/>
              </a:ext>
            </a:extLst>
          </p:cNvPr>
          <p:cNvSpPr>
            <a:spLocks noGrp="1"/>
          </p:cNvSpPr>
          <p:nvPr>
            <p:ph idx="1"/>
          </p:nvPr>
        </p:nvSpPr>
        <p:spPr/>
        <p:txBody>
          <a:bodyPr>
            <a:noAutofit/>
          </a:bodyPr>
          <a:lstStyle/>
          <a:p>
            <a:pPr algn="just"/>
            <a:r>
              <a:rPr lang="vi-VN" sz="3600" b="1" dirty="0">
                <a:latin typeface="Calibri Light" panose="020F0302020204030204" pitchFamily="34" charset="0"/>
              </a:rPr>
              <a:t>Thăm dò</a:t>
            </a:r>
            <a:endParaRPr lang="en-GB" sz="3600" b="1" dirty="0">
              <a:latin typeface="Calibri Light" panose="020F0302020204030204" pitchFamily="34" charset="0"/>
            </a:endParaRPr>
          </a:p>
          <a:p>
            <a:pPr algn="just"/>
            <a:r>
              <a:rPr lang="vi-VN" sz="3600" b="1" dirty="0">
                <a:latin typeface="Calibri Light" panose="020F0302020204030204" pitchFamily="34" charset="0"/>
              </a:rPr>
              <a:t>Mô tả</a:t>
            </a:r>
            <a:endParaRPr lang="en-GB" sz="3600" b="1" dirty="0">
              <a:latin typeface="Calibri Light" panose="020F0302020204030204" pitchFamily="34" charset="0"/>
            </a:endParaRPr>
          </a:p>
          <a:p>
            <a:pPr algn="just"/>
            <a:r>
              <a:rPr lang="vi-VN" sz="3600" b="1" dirty="0">
                <a:latin typeface="Calibri Light" panose="020F0302020204030204" pitchFamily="34" charset="0"/>
              </a:rPr>
              <a:t>Chẩn đoán </a:t>
            </a:r>
            <a:endParaRPr lang="en-GB" sz="3600" b="1" dirty="0">
              <a:latin typeface="Calibri Light" panose="020F0302020204030204" pitchFamily="34" charset="0"/>
            </a:endParaRPr>
          </a:p>
          <a:p>
            <a:pPr algn="just"/>
            <a:r>
              <a:rPr lang="vi-VN" sz="3600" b="1" dirty="0">
                <a:latin typeface="Calibri Light" panose="020F0302020204030204" pitchFamily="34" charset="0"/>
              </a:rPr>
              <a:t>và Kiểm định giả thuyết.</a:t>
            </a:r>
            <a:endParaRPr lang="en-AU" sz="3600" b="1" dirty="0">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12685842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455F0-6A23-D5B2-3EC2-5E898468DB57}"/>
              </a:ext>
            </a:extLst>
          </p:cNvPr>
          <p:cNvSpPr>
            <a:spLocks noGrp="1"/>
          </p:cNvSpPr>
          <p:nvPr>
            <p:ph type="title"/>
          </p:nvPr>
        </p:nvSpPr>
        <p:spPr/>
        <p:txBody>
          <a:bodyPr>
            <a:noAutofit/>
          </a:bodyPr>
          <a:lstStyle/>
          <a:p>
            <a:r>
              <a:rPr lang="en-AU" sz="4400" b="1" dirty="0" err="1"/>
              <a:t>Thiết</a:t>
            </a:r>
            <a:r>
              <a:rPr lang="en-AU" sz="4400" b="1" dirty="0"/>
              <a:t> </a:t>
            </a:r>
            <a:r>
              <a:rPr lang="en-AU" sz="4400" b="1" dirty="0" err="1"/>
              <a:t>kế</a:t>
            </a:r>
            <a:r>
              <a:rPr lang="en-AU" sz="4400" b="1" dirty="0"/>
              <a:t> </a:t>
            </a:r>
            <a:r>
              <a:rPr lang="en-AU" sz="4400" b="1" dirty="0" err="1"/>
              <a:t>nghiên</a:t>
            </a:r>
            <a:r>
              <a:rPr lang="en-AU" sz="4400" b="1" dirty="0"/>
              <a:t> </a:t>
            </a:r>
            <a:r>
              <a:rPr lang="en-AU" sz="4400" b="1" dirty="0" err="1"/>
              <a:t>cứu</a:t>
            </a:r>
            <a:r>
              <a:rPr lang="en-AU" sz="4400" b="1" dirty="0"/>
              <a:t> </a:t>
            </a:r>
            <a:r>
              <a:rPr lang="en-AU" sz="4400" b="1" dirty="0" err="1"/>
              <a:t>thăm</a:t>
            </a:r>
            <a:r>
              <a:rPr lang="en-AU" sz="4400" b="1" dirty="0"/>
              <a:t> </a:t>
            </a:r>
            <a:r>
              <a:rPr lang="en-AU" sz="4400" b="1" dirty="0" err="1"/>
              <a:t>dò</a:t>
            </a:r>
            <a:r>
              <a:rPr lang="en-AU" sz="4400" b="1" dirty="0"/>
              <a:t> (Exploratory)</a:t>
            </a:r>
            <a:endParaRPr lang="en-AU" sz="41300" b="1"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3" name="Content Placeholder 2">
            <a:extLst>
              <a:ext uri="{FF2B5EF4-FFF2-40B4-BE49-F238E27FC236}">
                <a16:creationId xmlns:a16="http://schemas.microsoft.com/office/drawing/2014/main" id="{F10B2092-036B-85C5-5D03-9AC32C8303AB}"/>
              </a:ext>
            </a:extLst>
          </p:cNvPr>
          <p:cNvSpPr>
            <a:spLocks noGrp="1"/>
          </p:cNvSpPr>
          <p:nvPr>
            <p:ph idx="1"/>
          </p:nvPr>
        </p:nvSpPr>
        <p:spPr/>
        <p:txBody>
          <a:bodyPr>
            <a:noAutofit/>
          </a:bodyPr>
          <a:lstStyle/>
          <a:p>
            <a:pPr algn="just"/>
            <a:r>
              <a:rPr lang="vi-VN" sz="3600" b="1" dirty="0">
                <a:latin typeface="Calibri Light" panose="020F0302020204030204" pitchFamily="34" charset="0"/>
              </a:rPr>
              <a:t>Ví dụ: Khảo sát các chủng vi khuẩn lạ trong trầm tích dưới đáy biển sâu (vùng chưa ai nghiên cứu).</a:t>
            </a:r>
            <a:endParaRPr lang="en-GB" sz="3600" b="1" dirty="0">
              <a:latin typeface="Calibri Light" panose="020F0302020204030204" pitchFamily="34" charset="0"/>
            </a:endParaRPr>
          </a:p>
          <a:p>
            <a:pPr algn="just"/>
            <a:r>
              <a:rPr lang="vi-VN" sz="3600" b="1" dirty="0">
                <a:latin typeface="Calibri Light" panose="020F0302020204030204" pitchFamily="34" charset="0"/>
                <a:ea typeface="Calibri Light" panose="020F0302020204030204" pitchFamily="34" charset="0"/>
                <a:cs typeface="Calibri Light" panose="020F0302020204030204" pitchFamily="34" charset="0"/>
              </a:rPr>
              <a:t>Ví dụ: Một đợt dịch bệnh lạ làm chết tôm hàng loạt ở miền Tây năm 2026. Nhà khoa học thực hiện thiết kế thăm dò bằng cách lấy mẫu nước và mô tôm, soi kính hiển vi và giải trình tự gene để "dò tìm" xem thủ phạm là virus, vi khuẩn hay do môi trường.</a:t>
            </a:r>
            <a:endParaRPr lang="en-AU" sz="3600" b="1" dirty="0">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161295808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455F0-6A23-D5B2-3EC2-5E898468DB57}"/>
              </a:ext>
            </a:extLst>
          </p:cNvPr>
          <p:cNvSpPr>
            <a:spLocks noGrp="1"/>
          </p:cNvSpPr>
          <p:nvPr>
            <p:ph type="title"/>
          </p:nvPr>
        </p:nvSpPr>
        <p:spPr/>
        <p:txBody>
          <a:bodyPr>
            <a:noAutofit/>
          </a:bodyPr>
          <a:lstStyle/>
          <a:p>
            <a:r>
              <a:rPr lang="en-AU" sz="4400" b="1" dirty="0" err="1"/>
              <a:t>Thiết</a:t>
            </a:r>
            <a:r>
              <a:rPr lang="en-AU" sz="4400" b="1" dirty="0"/>
              <a:t> </a:t>
            </a:r>
            <a:r>
              <a:rPr lang="en-AU" sz="4400" b="1" dirty="0" err="1"/>
              <a:t>kế</a:t>
            </a:r>
            <a:r>
              <a:rPr lang="en-AU" sz="4400" b="1" dirty="0"/>
              <a:t> </a:t>
            </a:r>
            <a:r>
              <a:rPr lang="en-AU" sz="4400" b="1" dirty="0" err="1"/>
              <a:t>nghiên</a:t>
            </a:r>
            <a:r>
              <a:rPr lang="en-AU" sz="4400" b="1" dirty="0"/>
              <a:t> </a:t>
            </a:r>
            <a:r>
              <a:rPr lang="en-AU" sz="4400" b="1" dirty="0" err="1"/>
              <a:t>cứu</a:t>
            </a:r>
            <a:r>
              <a:rPr lang="en-AU" sz="4400" b="1" dirty="0"/>
              <a:t> </a:t>
            </a:r>
            <a:r>
              <a:rPr lang="en-AU" sz="4400" b="1" dirty="0" err="1"/>
              <a:t>mô</a:t>
            </a:r>
            <a:r>
              <a:rPr lang="en-AU" sz="4400" b="1" dirty="0"/>
              <a:t> </a:t>
            </a:r>
            <a:r>
              <a:rPr lang="en-AU" sz="4400" b="1" dirty="0" err="1"/>
              <a:t>tả</a:t>
            </a:r>
            <a:r>
              <a:rPr lang="en-AU" sz="4400" b="1" dirty="0"/>
              <a:t> (Descriptive)</a:t>
            </a:r>
            <a:endParaRPr lang="en-AU" sz="41300" b="1"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3" name="Content Placeholder 2">
            <a:extLst>
              <a:ext uri="{FF2B5EF4-FFF2-40B4-BE49-F238E27FC236}">
                <a16:creationId xmlns:a16="http://schemas.microsoft.com/office/drawing/2014/main" id="{F10B2092-036B-85C5-5D03-9AC32C8303AB}"/>
              </a:ext>
            </a:extLst>
          </p:cNvPr>
          <p:cNvSpPr>
            <a:spLocks noGrp="1"/>
          </p:cNvSpPr>
          <p:nvPr>
            <p:ph idx="1"/>
          </p:nvPr>
        </p:nvSpPr>
        <p:spPr/>
        <p:txBody>
          <a:bodyPr>
            <a:noAutofit/>
          </a:bodyPr>
          <a:lstStyle/>
          <a:p>
            <a:pPr algn="just"/>
            <a:r>
              <a:rPr lang="vi-VN" sz="3600" b="1" dirty="0">
                <a:latin typeface="Calibri Light" panose="020F0302020204030204" pitchFamily="34" charset="0"/>
              </a:rPr>
              <a:t>Ví dụ: Thống kê tỉ lệ các giống lúa biến đổi gene đang được trồng tại ĐBSCL năm 2026.</a:t>
            </a:r>
            <a:endParaRPr lang="en-GB" sz="3600" b="1" dirty="0">
              <a:latin typeface="Calibri Light" panose="020F0302020204030204" pitchFamily="34" charset="0"/>
            </a:endParaRPr>
          </a:p>
          <a:p>
            <a:pPr algn="just"/>
            <a:r>
              <a:rPr lang="vi-VN" sz="3600" b="1" dirty="0">
                <a:latin typeface="Calibri Light" panose="020F0302020204030204" pitchFamily="34" charset="0"/>
                <a:ea typeface="Calibri Light" panose="020F0302020204030204" pitchFamily="34" charset="0"/>
                <a:cs typeface="Calibri Light" panose="020F0302020204030204" pitchFamily="34" charset="0"/>
              </a:rPr>
              <a:t>Ví dụ: Khảo sát sự phân bố các loài phong lan rừng tại vườn quốc gia Cát Tiên. Kết quả chỉ đưa ra danh mục loài, tỉ lệ % phân bố, môi trường sống... mà không can thiệp hay thay đổi gì vào chúng.</a:t>
            </a:r>
            <a:endParaRPr lang="en-AU" sz="3600" b="1" dirty="0">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35718040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455F0-6A23-D5B2-3EC2-5E898468DB57}"/>
              </a:ext>
            </a:extLst>
          </p:cNvPr>
          <p:cNvSpPr>
            <a:spLocks noGrp="1"/>
          </p:cNvSpPr>
          <p:nvPr>
            <p:ph type="title"/>
          </p:nvPr>
        </p:nvSpPr>
        <p:spPr/>
        <p:txBody>
          <a:bodyPr>
            <a:noAutofit/>
          </a:bodyPr>
          <a:lstStyle/>
          <a:p>
            <a:r>
              <a:rPr lang="en-AU" sz="4000" b="1" dirty="0" err="1"/>
              <a:t>Thiết</a:t>
            </a:r>
            <a:r>
              <a:rPr lang="en-AU" sz="4000" b="1" dirty="0"/>
              <a:t> </a:t>
            </a:r>
            <a:r>
              <a:rPr lang="en-AU" sz="4000" b="1" dirty="0" err="1"/>
              <a:t>kế</a:t>
            </a:r>
            <a:r>
              <a:rPr lang="en-AU" sz="4000" b="1" dirty="0"/>
              <a:t> </a:t>
            </a:r>
            <a:r>
              <a:rPr lang="en-AU" sz="4000" b="1" dirty="0" err="1"/>
              <a:t>nghiên</a:t>
            </a:r>
            <a:r>
              <a:rPr lang="en-AU" sz="4000" b="1" dirty="0"/>
              <a:t> </a:t>
            </a:r>
            <a:r>
              <a:rPr lang="en-AU" sz="4000" b="1" dirty="0" err="1"/>
              <a:t>cứu</a:t>
            </a:r>
            <a:r>
              <a:rPr lang="en-AU" sz="4000" b="1" dirty="0"/>
              <a:t> </a:t>
            </a:r>
            <a:r>
              <a:rPr lang="en-AU" sz="4000" b="1" dirty="0" err="1"/>
              <a:t>chẩn</a:t>
            </a:r>
            <a:r>
              <a:rPr lang="en-AU" sz="4000" b="1" dirty="0"/>
              <a:t> </a:t>
            </a:r>
            <a:r>
              <a:rPr lang="en-AU" sz="4000" b="1" dirty="0" err="1"/>
              <a:t>đoán</a:t>
            </a:r>
            <a:r>
              <a:rPr lang="en-AU" sz="4000" b="1" dirty="0"/>
              <a:t> (Diagnostic)</a:t>
            </a:r>
            <a:endParaRPr lang="en-AU" sz="34400" b="1"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3" name="Content Placeholder 2">
            <a:extLst>
              <a:ext uri="{FF2B5EF4-FFF2-40B4-BE49-F238E27FC236}">
                <a16:creationId xmlns:a16="http://schemas.microsoft.com/office/drawing/2014/main" id="{F10B2092-036B-85C5-5D03-9AC32C8303AB}"/>
              </a:ext>
            </a:extLst>
          </p:cNvPr>
          <p:cNvSpPr>
            <a:spLocks noGrp="1"/>
          </p:cNvSpPr>
          <p:nvPr>
            <p:ph idx="1"/>
          </p:nvPr>
        </p:nvSpPr>
        <p:spPr/>
        <p:txBody>
          <a:bodyPr>
            <a:noAutofit/>
          </a:bodyPr>
          <a:lstStyle/>
          <a:p>
            <a:pPr algn="just"/>
            <a:r>
              <a:rPr lang="vi-VN" sz="3600" b="1" dirty="0">
                <a:latin typeface="Calibri Light" panose="020F0302020204030204" pitchFamily="34" charset="0"/>
              </a:rPr>
              <a:t>Ví dụ: Xác định nguyên nhân gây bệnh chết nhanh trên cây hồ tiêu là do nấm hay do vi khuẩn.</a:t>
            </a:r>
            <a:endParaRPr lang="en-GB" sz="3600" b="1" dirty="0">
              <a:latin typeface="Calibri Light" panose="020F0302020204030204" pitchFamily="34" charset="0"/>
            </a:endParaRPr>
          </a:p>
          <a:p>
            <a:pPr algn="just"/>
            <a:r>
              <a:rPr lang="en-AU" sz="3600" b="1" dirty="0" err="1">
                <a:latin typeface="Calibri Light" panose="020F0302020204030204" pitchFamily="34" charset="0"/>
                <a:ea typeface="Calibri Light" panose="020F0302020204030204" pitchFamily="34" charset="0"/>
                <a:cs typeface="Calibri Light" panose="020F0302020204030204" pitchFamily="34" charset="0"/>
              </a:rPr>
              <a:t>Ví</a:t>
            </a:r>
            <a:r>
              <a:rPr lang="en-AU" sz="3600" b="1" dirty="0">
                <a:latin typeface="Calibri Light" panose="020F0302020204030204" pitchFamily="34" charset="0"/>
                <a:ea typeface="Calibri Light" panose="020F0302020204030204" pitchFamily="34" charset="0"/>
                <a:cs typeface="Calibri Light" panose="020F0302020204030204" pitchFamily="34" charset="0"/>
              </a:rPr>
              <a:t> </a:t>
            </a:r>
            <a:r>
              <a:rPr lang="en-AU" sz="3600" b="1" dirty="0" err="1">
                <a:latin typeface="Calibri Light" panose="020F0302020204030204" pitchFamily="34" charset="0"/>
                <a:ea typeface="Calibri Light" panose="020F0302020204030204" pitchFamily="34" charset="0"/>
                <a:cs typeface="Calibri Light" panose="020F0302020204030204" pitchFamily="34" charset="0"/>
              </a:rPr>
              <a:t>dụ</a:t>
            </a:r>
            <a:r>
              <a:rPr lang="en-AU" sz="3600" b="1" dirty="0">
                <a:latin typeface="Calibri Light" panose="020F0302020204030204" pitchFamily="34" charset="0"/>
                <a:ea typeface="Calibri Light" panose="020F0302020204030204" pitchFamily="34" charset="0"/>
                <a:cs typeface="Calibri Light" panose="020F0302020204030204" pitchFamily="34" charset="0"/>
              </a:rPr>
              <a:t>: </a:t>
            </a:r>
            <a:r>
              <a:rPr lang="en-AU" sz="3600" b="1" dirty="0" err="1">
                <a:latin typeface="Calibri Light" panose="020F0302020204030204" pitchFamily="34" charset="0"/>
                <a:ea typeface="Calibri Light" panose="020F0302020204030204" pitchFamily="34" charset="0"/>
                <a:cs typeface="Calibri Light" panose="020F0302020204030204" pitchFamily="34" charset="0"/>
              </a:rPr>
              <a:t>Tại</a:t>
            </a:r>
            <a:r>
              <a:rPr lang="en-AU" sz="3600" b="1" dirty="0">
                <a:latin typeface="Calibri Light" panose="020F0302020204030204" pitchFamily="34" charset="0"/>
                <a:ea typeface="Calibri Light" panose="020F0302020204030204" pitchFamily="34" charset="0"/>
                <a:cs typeface="Calibri Light" panose="020F0302020204030204" pitchFamily="34" charset="0"/>
              </a:rPr>
              <a:t> </a:t>
            </a:r>
            <a:r>
              <a:rPr lang="en-AU" sz="3600" b="1" dirty="0" err="1">
                <a:latin typeface="Calibri Light" panose="020F0302020204030204" pitchFamily="34" charset="0"/>
                <a:ea typeface="Calibri Light" panose="020F0302020204030204" pitchFamily="34" charset="0"/>
                <a:cs typeface="Calibri Light" panose="020F0302020204030204" pitchFamily="34" charset="0"/>
              </a:rPr>
              <a:t>sao</a:t>
            </a:r>
            <a:r>
              <a:rPr lang="en-AU" sz="3600" b="1" dirty="0">
                <a:latin typeface="Calibri Light" panose="020F0302020204030204" pitchFamily="34" charset="0"/>
                <a:ea typeface="Calibri Light" panose="020F0302020204030204" pitchFamily="34" charset="0"/>
                <a:cs typeface="Calibri Light" panose="020F0302020204030204" pitchFamily="34" charset="0"/>
              </a:rPr>
              <a:t> </a:t>
            </a:r>
            <a:r>
              <a:rPr lang="en-AU" sz="3600" b="1" dirty="0" err="1">
                <a:latin typeface="Calibri Light" panose="020F0302020204030204" pitchFamily="34" charset="0"/>
                <a:ea typeface="Calibri Light" panose="020F0302020204030204" pitchFamily="34" charset="0"/>
                <a:cs typeface="Calibri Light" panose="020F0302020204030204" pitchFamily="34" charset="0"/>
              </a:rPr>
              <a:t>một</a:t>
            </a:r>
            <a:r>
              <a:rPr lang="en-AU" sz="3600" b="1" dirty="0">
                <a:latin typeface="Calibri Light" panose="020F0302020204030204" pitchFamily="34" charset="0"/>
                <a:ea typeface="Calibri Light" panose="020F0302020204030204" pitchFamily="34" charset="0"/>
                <a:cs typeface="Calibri Light" panose="020F0302020204030204" pitchFamily="34" charset="0"/>
              </a:rPr>
              <a:t> </a:t>
            </a:r>
            <a:r>
              <a:rPr lang="en-AU" sz="3600" b="1" dirty="0" err="1">
                <a:latin typeface="Calibri Light" panose="020F0302020204030204" pitchFamily="34" charset="0"/>
                <a:ea typeface="Calibri Light" panose="020F0302020204030204" pitchFamily="34" charset="0"/>
                <a:cs typeface="Calibri Light" panose="020F0302020204030204" pitchFamily="34" charset="0"/>
              </a:rPr>
              <a:t>chủng</a:t>
            </a:r>
            <a:r>
              <a:rPr lang="en-AU" sz="3600" b="1" dirty="0">
                <a:latin typeface="Calibri Light" panose="020F0302020204030204" pitchFamily="34" charset="0"/>
                <a:ea typeface="Calibri Light" panose="020F0302020204030204" pitchFamily="34" charset="0"/>
                <a:cs typeface="Calibri Light" panose="020F0302020204030204" pitchFamily="34" charset="0"/>
              </a:rPr>
              <a:t> </a:t>
            </a:r>
            <a:r>
              <a:rPr lang="en-AU" sz="3600" b="1" dirty="0" err="1">
                <a:latin typeface="Calibri Light" panose="020F0302020204030204" pitchFamily="34" charset="0"/>
                <a:ea typeface="Calibri Light" panose="020F0302020204030204" pitchFamily="34" charset="0"/>
                <a:cs typeface="Calibri Light" panose="020F0302020204030204" pitchFamily="34" charset="0"/>
              </a:rPr>
              <a:t>nấm</a:t>
            </a:r>
            <a:r>
              <a:rPr lang="en-AU" sz="3600" b="1" dirty="0">
                <a:latin typeface="Calibri Light" panose="020F0302020204030204" pitchFamily="34" charset="0"/>
                <a:ea typeface="Calibri Light" panose="020F0302020204030204" pitchFamily="34" charset="0"/>
                <a:cs typeface="Calibri Light" panose="020F0302020204030204" pitchFamily="34" charset="0"/>
              </a:rPr>
              <a:t> men </a:t>
            </a:r>
            <a:r>
              <a:rPr lang="en-AU" sz="3600" b="1" dirty="0" err="1">
                <a:latin typeface="Calibri Light" panose="020F0302020204030204" pitchFamily="34" charset="0"/>
                <a:ea typeface="Calibri Light" panose="020F0302020204030204" pitchFamily="34" charset="0"/>
                <a:cs typeface="Calibri Light" panose="020F0302020204030204" pitchFamily="34" charset="0"/>
              </a:rPr>
              <a:t>vốn</a:t>
            </a:r>
            <a:r>
              <a:rPr lang="en-AU" sz="3600" b="1" dirty="0">
                <a:latin typeface="Calibri Light" panose="020F0302020204030204" pitchFamily="34" charset="0"/>
                <a:ea typeface="Calibri Light" panose="020F0302020204030204" pitchFamily="34" charset="0"/>
                <a:cs typeface="Calibri Light" panose="020F0302020204030204" pitchFamily="34" charset="0"/>
              </a:rPr>
              <a:t> </a:t>
            </a:r>
            <a:r>
              <a:rPr lang="en-AU" sz="3600" b="1" dirty="0" err="1">
                <a:latin typeface="Calibri Light" panose="020F0302020204030204" pitchFamily="34" charset="0"/>
                <a:ea typeface="Calibri Light" panose="020F0302020204030204" pitchFamily="34" charset="0"/>
                <a:cs typeface="Calibri Light" panose="020F0302020204030204" pitchFamily="34" charset="0"/>
              </a:rPr>
              <a:t>dĩ</a:t>
            </a:r>
            <a:r>
              <a:rPr lang="en-AU" sz="3600" b="1" dirty="0">
                <a:latin typeface="Calibri Light" panose="020F0302020204030204" pitchFamily="34" charset="0"/>
                <a:ea typeface="Calibri Light" panose="020F0302020204030204" pitchFamily="34" charset="0"/>
                <a:cs typeface="Calibri Light" panose="020F0302020204030204" pitchFamily="34" charset="0"/>
              </a:rPr>
              <a:t> </a:t>
            </a:r>
            <a:r>
              <a:rPr lang="en-AU" sz="3600" b="1" dirty="0" err="1">
                <a:latin typeface="Calibri Light" panose="020F0302020204030204" pitchFamily="34" charset="0"/>
                <a:ea typeface="Calibri Light" panose="020F0302020204030204" pitchFamily="34" charset="0"/>
                <a:cs typeface="Calibri Light" panose="020F0302020204030204" pitchFamily="34" charset="0"/>
              </a:rPr>
              <a:t>khỏe</a:t>
            </a:r>
            <a:r>
              <a:rPr lang="en-AU" sz="3600" b="1" dirty="0">
                <a:latin typeface="Calibri Light" panose="020F0302020204030204" pitchFamily="34" charset="0"/>
                <a:ea typeface="Calibri Light" panose="020F0302020204030204" pitchFamily="34" charset="0"/>
                <a:cs typeface="Calibri Light" panose="020F0302020204030204" pitchFamily="34" charset="0"/>
              </a:rPr>
              <a:t> </a:t>
            </a:r>
            <a:r>
              <a:rPr lang="en-AU" sz="3600" b="1" dirty="0" err="1">
                <a:latin typeface="Calibri Light" panose="020F0302020204030204" pitchFamily="34" charset="0"/>
                <a:ea typeface="Calibri Light" panose="020F0302020204030204" pitchFamily="34" charset="0"/>
                <a:cs typeface="Calibri Light" panose="020F0302020204030204" pitchFamily="34" charset="0"/>
              </a:rPr>
              <a:t>mạnh</a:t>
            </a:r>
            <a:r>
              <a:rPr lang="en-AU" sz="3600" b="1" dirty="0">
                <a:latin typeface="Calibri Light" panose="020F0302020204030204" pitchFamily="34" charset="0"/>
                <a:ea typeface="Calibri Light" panose="020F0302020204030204" pitchFamily="34" charset="0"/>
                <a:cs typeface="Calibri Light" panose="020F0302020204030204" pitchFamily="34" charset="0"/>
              </a:rPr>
              <a:t> </a:t>
            </a:r>
            <a:r>
              <a:rPr lang="en-AU" sz="3600" b="1" dirty="0" err="1">
                <a:latin typeface="Calibri Light" panose="020F0302020204030204" pitchFamily="34" charset="0"/>
                <a:ea typeface="Calibri Light" panose="020F0302020204030204" pitchFamily="34" charset="0"/>
                <a:cs typeface="Calibri Light" panose="020F0302020204030204" pitchFamily="34" charset="0"/>
              </a:rPr>
              <a:t>đột</a:t>
            </a:r>
            <a:r>
              <a:rPr lang="en-AU" sz="3600" b="1" dirty="0">
                <a:latin typeface="Calibri Light" panose="020F0302020204030204" pitchFamily="34" charset="0"/>
                <a:ea typeface="Calibri Light" panose="020F0302020204030204" pitchFamily="34" charset="0"/>
                <a:cs typeface="Calibri Light" panose="020F0302020204030204" pitchFamily="34" charset="0"/>
              </a:rPr>
              <a:t> </a:t>
            </a:r>
            <a:r>
              <a:rPr lang="en-AU" sz="3600" b="1" dirty="0" err="1">
                <a:latin typeface="Calibri Light" panose="020F0302020204030204" pitchFamily="34" charset="0"/>
                <a:ea typeface="Calibri Light" panose="020F0302020204030204" pitchFamily="34" charset="0"/>
                <a:cs typeface="Calibri Light" panose="020F0302020204030204" pitchFamily="34" charset="0"/>
              </a:rPr>
              <a:t>ngột</a:t>
            </a:r>
            <a:r>
              <a:rPr lang="en-AU" sz="3600" b="1" dirty="0">
                <a:latin typeface="Calibri Light" panose="020F0302020204030204" pitchFamily="34" charset="0"/>
                <a:ea typeface="Calibri Light" panose="020F0302020204030204" pitchFamily="34" charset="0"/>
                <a:cs typeface="Calibri Light" panose="020F0302020204030204" pitchFamily="34" charset="0"/>
              </a:rPr>
              <a:t> </a:t>
            </a:r>
            <a:r>
              <a:rPr lang="en-AU" sz="3600" b="1" dirty="0" err="1">
                <a:latin typeface="Calibri Light" panose="020F0302020204030204" pitchFamily="34" charset="0"/>
                <a:ea typeface="Calibri Light" panose="020F0302020204030204" pitchFamily="34" charset="0"/>
                <a:cs typeface="Calibri Light" panose="020F0302020204030204" pitchFamily="34" charset="0"/>
              </a:rPr>
              <a:t>bị</a:t>
            </a:r>
            <a:r>
              <a:rPr lang="en-AU" sz="3600" b="1" dirty="0">
                <a:latin typeface="Calibri Light" panose="020F0302020204030204" pitchFamily="34" charset="0"/>
                <a:ea typeface="Calibri Light" panose="020F0302020204030204" pitchFamily="34" charset="0"/>
                <a:cs typeface="Calibri Light" panose="020F0302020204030204" pitchFamily="34" charset="0"/>
              </a:rPr>
              <a:t> </a:t>
            </a:r>
            <a:r>
              <a:rPr lang="en-AU" sz="3600" b="1" dirty="0" err="1">
                <a:latin typeface="Calibri Light" panose="020F0302020204030204" pitchFamily="34" charset="0"/>
                <a:ea typeface="Calibri Light" panose="020F0302020204030204" pitchFamily="34" charset="0"/>
                <a:cs typeface="Calibri Light" panose="020F0302020204030204" pitchFamily="34" charset="0"/>
              </a:rPr>
              <a:t>nhiễm</a:t>
            </a:r>
            <a:r>
              <a:rPr lang="en-AU" sz="3600" b="1" dirty="0">
                <a:latin typeface="Calibri Light" panose="020F0302020204030204" pitchFamily="34" charset="0"/>
                <a:ea typeface="Calibri Light" panose="020F0302020204030204" pitchFamily="34" charset="0"/>
                <a:cs typeface="Calibri Light" panose="020F0302020204030204" pitchFamily="34" charset="0"/>
              </a:rPr>
              <a:t> bacteriophage (virus </a:t>
            </a:r>
            <a:r>
              <a:rPr lang="en-AU" sz="3600" b="1" dirty="0" err="1">
                <a:latin typeface="Calibri Light" panose="020F0302020204030204" pitchFamily="34" charset="0"/>
                <a:ea typeface="Calibri Light" panose="020F0302020204030204" pitchFamily="34" charset="0"/>
                <a:cs typeface="Calibri Light" panose="020F0302020204030204" pitchFamily="34" charset="0"/>
              </a:rPr>
              <a:t>ăn</a:t>
            </a:r>
            <a:r>
              <a:rPr lang="en-AU" sz="3600" b="1" dirty="0">
                <a:latin typeface="Calibri Light" panose="020F0302020204030204" pitchFamily="34" charset="0"/>
                <a:ea typeface="Calibri Light" panose="020F0302020204030204" pitchFamily="34" charset="0"/>
                <a:cs typeface="Calibri Light" panose="020F0302020204030204" pitchFamily="34" charset="0"/>
              </a:rPr>
              <a:t> vi </a:t>
            </a:r>
            <a:r>
              <a:rPr lang="en-AU" sz="3600" b="1" dirty="0" err="1">
                <a:latin typeface="Calibri Light" panose="020F0302020204030204" pitchFamily="34" charset="0"/>
                <a:ea typeface="Calibri Light" panose="020F0302020204030204" pitchFamily="34" charset="0"/>
                <a:cs typeface="Calibri Light" panose="020F0302020204030204" pitchFamily="34" charset="0"/>
              </a:rPr>
              <a:t>khuẩn</a:t>
            </a:r>
            <a:r>
              <a:rPr lang="en-AU" sz="3600" b="1" dirty="0">
                <a:latin typeface="Calibri Light" panose="020F0302020204030204" pitchFamily="34" charset="0"/>
                <a:ea typeface="Calibri Light" panose="020F0302020204030204" pitchFamily="34" charset="0"/>
                <a:cs typeface="Calibri Light" panose="020F0302020204030204" pitchFamily="34" charset="0"/>
              </a:rPr>
              <a:t>)? </a:t>
            </a:r>
            <a:r>
              <a:rPr lang="en-AU" sz="3600" b="1" dirty="0" err="1">
                <a:latin typeface="Calibri Light" panose="020F0302020204030204" pitchFamily="34" charset="0"/>
                <a:ea typeface="Calibri Light" panose="020F0302020204030204" pitchFamily="34" charset="0"/>
                <a:cs typeface="Calibri Light" panose="020F0302020204030204" pitchFamily="34" charset="0"/>
              </a:rPr>
              <a:t>Thiết</a:t>
            </a:r>
            <a:r>
              <a:rPr lang="en-AU" sz="3600" b="1" dirty="0">
                <a:latin typeface="Calibri Light" panose="020F0302020204030204" pitchFamily="34" charset="0"/>
                <a:ea typeface="Calibri Light" panose="020F0302020204030204" pitchFamily="34" charset="0"/>
                <a:cs typeface="Calibri Light" panose="020F0302020204030204" pitchFamily="34" charset="0"/>
              </a:rPr>
              <a:t> </a:t>
            </a:r>
            <a:r>
              <a:rPr lang="en-AU" sz="3600" b="1" dirty="0" err="1">
                <a:latin typeface="Calibri Light" panose="020F0302020204030204" pitchFamily="34" charset="0"/>
                <a:ea typeface="Calibri Light" panose="020F0302020204030204" pitchFamily="34" charset="0"/>
                <a:cs typeface="Calibri Light" panose="020F0302020204030204" pitchFamily="34" charset="0"/>
              </a:rPr>
              <a:t>kế</a:t>
            </a:r>
            <a:r>
              <a:rPr lang="en-AU" sz="3600" b="1" dirty="0">
                <a:latin typeface="Calibri Light" panose="020F0302020204030204" pitchFamily="34" charset="0"/>
                <a:ea typeface="Calibri Light" panose="020F0302020204030204" pitchFamily="34" charset="0"/>
                <a:cs typeface="Calibri Light" panose="020F0302020204030204" pitchFamily="34" charset="0"/>
              </a:rPr>
              <a:t> </a:t>
            </a:r>
            <a:r>
              <a:rPr lang="en-AU" sz="3600" b="1" dirty="0" err="1">
                <a:latin typeface="Calibri Light" panose="020F0302020204030204" pitchFamily="34" charset="0"/>
                <a:ea typeface="Calibri Light" panose="020F0302020204030204" pitchFamily="34" charset="0"/>
                <a:cs typeface="Calibri Light" panose="020F0302020204030204" pitchFamily="34" charset="0"/>
              </a:rPr>
              <a:t>chẩn</a:t>
            </a:r>
            <a:r>
              <a:rPr lang="en-AU" sz="3600" b="1" dirty="0">
                <a:latin typeface="Calibri Light" panose="020F0302020204030204" pitchFamily="34" charset="0"/>
                <a:ea typeface="Calibri Light" panose="020F0302020204030204" pitchFamily="34" charset="0"/>
                <a:cs typeface="Calibri Light" panose="020F0302020204030204" pitchFamily="34" charset="0"/>
              </a:rPr>
              <a:t> </a:t>
            </a:r>
            <a:r>
              <a:rPr lang="en-AU" sz="3600" b="1" dirty="0" err="1">
                <a:latin typeface="Calibri Light" panose="020F0302020204030204" pitchFamily="34" charset="0"/>
                <a:ea typeface="Calibri Light" panose="020F0302020204030204" pitchFamily="34" charset="0"/>
                <a:cs typeface="Calibri Light" panose="020F0302020204030204" pitchFamily="34" charset="0"/>
              </a:rPr>
              <a:t>đoán</a:t>
            </a:r>
            <a:r>
              <a:rPr lang="en-AU" sz="3600" b="1" dirty="0">
                <a:latin typeface="Calibri Light" panose="020F0302020204030204" pitchFamily="34" charset="0"/>
                <a:ea typeface="Calibri Light" panose="020F0302020204030204" pitchFamily="34" charset="0"/>
                <a:cs typeface="Calibri Light" panose="020F0302020204030204" pitchFamily="34" charset="0"/>
              </a:rPr>
              <a:t> </a:t>
            </a:r>
            <a:r>
              <a:rPr lang="en-AU" sz="3600" b="1" dirty="0" err="1">
                <a:latin typeface="Calibri Light" panose="020F0302020204030204" pitchFamily="34" charset="0"/>
                <a:ea typeface="Calibri Light" panose="020F0302020204030204" pitchFamily="34" charset="0"/>
                <a:cs typeface="Calibri Light" panose="020F0302020204030204" pitchFamily="34" charset="0"/>
              </a:rPr>
              <a:t>sẽ</a:t>
            </a:r>
            <a:r>
              <a:rPr lang="en-AU" sz="3600" b="1" dirty="0">
                <a:latin typeface="Calibri Light" panose="020F0302020204030204" pitchFamily="34" charset="0"/>
                <a:ea typeface="Calibri Light" panose="020F0302020204030204" pitchFamily="34" charset="0"/>
                <a:cs typeface="Calibri Light" panose="020F0302020204030204" pitchFamily="34" charset="0"/>
              </a:rPr>
              <a:t> </a:t>
            </a:r>
            <a:r>
              <a:rPr lang="en-AU" sz="3600" b="1" dirty="0" err="1">
                <a:latin typeface="Calibri Light" panose="020F0302020204030204" pitchFamily="34" charset="0"/>
                <a:ea typeface="Calibri Light" panose="020F0302020204030204" pitchFamily="34" charset="0"/>
                <a:cs typeface="Calibri Light" panose="020F0302020204030204" pitchFamily="34" charset="0"/>
              </a:rPr>
              <a:t>đi</a:t>
            </a:r>
            <a:r>
              <a:rPr lang="en-AU" sz="3600" b="1" dirty="0">
                <a:latin typeface="Calibri Light" panose="020F0302020204030204" pitchFamily="34" charset="0"/>
                <a:ea typeface="Calibri Light" panose="020F0302020204030204" pitchFamily="34" charset="0"/>
                <a:cs typeface="Calibri Light" panose="020F0302020204030204" pitchFamily="34" charset="0"/>
              </a:rPr>
              <a:t> </a:t>
            </a:r>
            <a:r>
              <a:rPr lang="en-AU" sz="3600" b="1" dirty="0" err="1">
                <a:latin typeface="Calibri Light" panose="020F0302020204030204" pitchFamily="34" charset="0"/>
                <a:ea typeface="Calibri Light" panose="020F0302020204030204" pitchFamily="34" charset="0"/>
                <a:cs typeface="Calibri Light" panose="020F0302020204030204" pitchFamily="34" charset="0"/>
              </a:rPr>
              <a:t>tìm</a:t>
            </a:r>
            <a:r>
              <a:rPr lang="en-AU" sz="3600" b="1" dirty="0">
                <a:latin typeface="Calibri Light" panose="020F0302020204030204" pitchFamily="34" charset="0"/>
                <a:ea typeface="Calibri Light" panose="020F0302020204030204" pitchFamily="34" charset="0"/>
                <a:cs typeface="Calibri Light" panose="020F0302020204030204" pitchFamily="34" charset="0"/>
              </a:rPr>
              <a:t> </a:t>
            </a:r>
            <a:r>
              <a:rPr lang="en-AU" sz="3600" b="1" dirty="0" err="1">
                <a:latin typeface="Calibri Light" panose="020F0302020204030204" pitchFamily="34" charset="0"/>
                <a:ea typeface="Calibri Light" panose="020F0302020204030204" pitchFamily="34" charset="0"/>
                <a:cs typeface="Calibri Light" panose="020F0302020204030204" pitchFamily="34" charset="0"/>
              </a:rPr>
              <a:t>mối</a:t>
            </a:r>
            <a:r>
              <a:rPr lang="en-AU" sz="3600" b="1" dirty="0">
                <a:latin typeface="Calibri Light" panose="020F0302020204030204" pitchFamily="34" charset="0"/>
                <a:ea typeface="Calibri Light" panose="020F0302020204030204" pitchFamily="34" charset="0"/>
                <a:cs typeface="Calibri Light" panose="020F0302020204030204" pitchFamily="34" charset="0"/>
              </a:rPr>
              <a:t> </a:t>
            </a:r>
            <a:r>
              <a:rPr lang="en-AU" sz="3600" b="1" dirty="0" err="1">
                <a:latin typeface="Calibri Light" panose="020F0302020204030204" pitchFamily="34" charset="0"/>
                <a:ea typeface="Calibri Light" panose="020F0302020204030204" pitchFamily="34" charset="0"/>
                <a:cs typeface="Calibri Light" panose="020F0302020204030204" pitchFamily="34" charset="0"/>
              </a:rPr>
              <a:t>liên</a:t>
            </a:r>
            <a:r>
              <a:rPr lang="en-AU" sz="3600" b="1" dirty="0">
                <a:latin typeface="Calibri Light" panose="020F0302020204030204" pitchFamily="34" charset="0"/>
                <a:ea typeface="Calibri Light" panose="020F0302020204030204" pitchFamily="34" charset="0"/>
                <a:cs typeface="Calibri Light" panose="020F0302020204030204" pitchFamily="34" charset="0"/>
              </a:rPr>
              <a:t> </a:t>
            </a:r>
            <a:r>
              <a:rPr lang="en-AU" sz="3600" b="1" dirty="0" err="1">
                <a:latin typeface="Calibri Light" panose="020F0302020204030204" pitchFamily="34" charset="0"/>
                <a:ea typeface="Calibri Light" panose="020F0302020204030204" pitchFamily="34" charset="0"/>
                <a:cs typeface="Calibri Light" panose="020F0302020204030204" pitchFamily="34" charset="0"/>
              </a:rPr>
              <a:t>hệ</a:t>
            </a:r>
            <a:r>
              <a:rPr lang="en-AU" sz="3600" b="1" dirty="0">
                <a:latin typeface="Calibri Light" panose="020F0302020204030204" pitchFamily="34" charset="0"/>
                <a:ea typeface="Calibri Light" panose="020F0302020204030204" pitchFamily="34" charset="0"/>
                <a:cs typeface="Calibri Light" panose="020F0302020204030204" pitchFamily="34" charset="0"/>
              </a:rPr>
              <a:t> </a:t>
            </a:r>
            <a:r>
              <a:rPr lang="en-AU" sz="3600" b="1" dirty="0" err="1">
                <a:latin typeface="Calibri Light" panose="020F0302020204030204" pitchFamily="34" charset="0"/>
                <a:ea typeface="Calibri Light" panose="020F0302020204030204" pitchFamily="34" charset="0"/>
                <a:cs typeface="Calibri Light" panose="020F0302020204030204" pitchFamily="34" charset="0"/>
              </a:rPr>
              <a:t>giữa</a:t>
            </a:r>
            <a:r>
              <a:rPr lang="en-AU" sz="3600" b="1" dirty="0">
                <a:latin typeface="Calibri Light" panose="020F0302020204030204" pitchFamily="34" charset="0"/>
                <a:ea typeface="Calibri Light" panose="020F0302020204030204" pitchFamily="34" charset="0"/>
                <a:cs typeface="Calibri Light" panose="020F0302020204030204" pitchFamily="34" charset="0"/>
              </a:rPr>
              <a:t> </a:t>
            </a:r>
            <a:r>
              <a:rPr lang="en-AU" sz="3600" b="1" dirty="0" err="1">
                <a:latin typeface="Calibri Light" panose="020F0302020204030204" pitchFamily="34" charset="0"/>
                <a:ea typeface="Calibri Light" panose="020F0302020204030204" pitchFamily="34" charset="0"/>
                <a:cs typeface="Calibri Light" panose="020F0302020204030204" pitchFamily="34" charset="0"/>
              </a:rPr>
              <a:t>quy</a:t>
            </a:r>
            <a:r>
              <a:rPr lang="en-AU" sz="3600" b="1" dirty="0">
                <a:latin typeface="Calibri Light" panose="020F0302020204030204" pitchFamily="34" charset="0"/>
                <a:ea typeface="Calibri Light" panose="020F0302020204030204" pitchFamily="34" charset="0"/>
                <a:cs typeface="Calibri Light" panose="020F0302020204030204" pitchFamily="34" charset="0"/>
              </a:rPr>
              <a:t> </a:t>
            </a:r>
            <a:r>
              <a:rPr lang="en-AU" sz="3600" b="1" dirty="0" err="1">
                <a:latin typeface="Calibri Light" panose="020F0302020204030204" pitchFamily="34" charset="0"/>
                <a:ea typeface="Calibri Light" panose="020F0302020204030204" pitchFamily="34" charset="0"/>
                <a:cs typeface="Calibri Light" panose="020F0302020204030204" pitchFamily="34" charset="0"/>
              </a:rPr>
              <a:t>trình</a:t>
            </a:r>
            <a:r>
              <a:rPr lang="en-AU" sz="3600" b="1" dirty="0">
                <a:latin typeface="Calibri Light" panose="020F0302020204030204" pitchFamily="34" charset="0"/>
                <a:ea typeface="Calibri Light" panose="020F0302020204030204" pitchFamily="34" charset="0"/>
                <a:cs typeface="Calibri Light" panose="020F0302020204030204" pitchFamily="34" charset="0"/>
              </a:rPr>
              <a:t> </a:t>
            </a:r>
            <a:r>
              <a:rPr lang="en-AU" sz="3600" b="1" dirty="0" err="1">
                <a:latin typeface="Calibri Light" panose="020F0302020204030204" pitchFamily="34" charset="0"/>
                <a:ea typeface="Calibri Light" panose="020F0302020204030204" pitchFamily="34" charset="0"/>
                <a:cs typeface="Calibri Light" panose="020F0302020204030204" pitchFamily="34" charset="0"/>
              </a:rPr>
              <a:t>khử</a:t>
            </a:r>
            <a:r>
              <a:rPr lang="en-AU" sz="3600" b="1" dirty="0">
                <a:latin typeface="Calibri Light" panose="020F0302020204030204" pitchFamily="34" charset="0"/>
                <a:ea typeface="Calibri Light" panose="020F0302020204030204" pitchFamily="34" charset="0"/>
                <a:cs typeface="Calibri Light" panose="020F0302020204030204" pitchFamily="34" charset="0"/>
              </a:rPr>
              <a:t> </a:t>
            </a:r>
            <a:r>
              <a:rPr lang="en-AU" sz="3600" b="1" dirty="0" err="1">
                <a:latin typeface="Calibri Light" panose="020F0302020204030204" pitchFamily="34" charset="0"/>
                <a:ea typeface="Calibri Light" panose="020F0302020204030204" pitchFamily="34" charset="0"/>
                <a:cs typeface="Calibri Light" panose="020F0302020204030204" pitchFamily="34" charset="0"/>
              </a:rPr>
              <a:t>trùng</a:t>
            </a:r>
            <a:r>
              <a:rPr lang="en-AU" sz="3600" b="1" dirty="0">
                <a:latin typeface="Calibri Light" panose="020F0302020204030204" pitchFamily="34" charset="0"/>
                <a:ea typeface="Calibri Light" panose="020F0302020204030204" pitchFamily="34" charset="0"/>
                <a:cs typeface="Calibri Light" panose="020F0302020204030204" pitchFamily="34" charset="0"/>
              </a:rPr>
              <a:t> </a:t>
            </a:r>
            <a:r>
              <a:rPr lang="en-AU" sz="3600" b="1" dirty="0" err="1">
                <a:latin typeface="Calibri Light" panose="020F0302020204030204" pitchFamily="34" charset="0"/>
                <a:ea typeface="Calibri Light" panose="020F0302020204030204" pitchFamily="34" charset="0"/>
                <a:cs typeface="Calibri Light" panose="020F0302020204030204" pitchFamily="34" charset="0"/>
              </a:rPr>
              <a:t>thiết</a:t>
            </a:r>
            <a:r>
              <a:rPr lang="en-AU" sz="3600" b="1" dirty="0">
                <a:latin typeface="Calibri Light" panose="020F0302020204030204" pitchFamily="34" charset="0"/>
                <a:ea typeface="Calibri Light" panose="020F0302020204030204" pitchFamily="34" charset="0"/>
                <a:cs typeface="Calibri Light" panose="020F0302020204030204" pitchFamily="34" charset="0"/>
              </a:rPr>
              <a:t> </a:t>
            </a:r>
            <a:r>
              <a:rPr lang="en-AU" sz="3600" b="1" dirty="0" err="1">
                <a:latin typeface="Calibri Light" panose="020F0302020204030204" pitchFamily="34" charset="0"/>
                <a:ea typeface="Calibri Light" panose="020F0302020204030204" pitchFamily="34" charset="0"/>
                <a:cs typeface="Calibri Light" panose="020F0302020204030204" pitchFamily="34" charset="0"/>
              </a:rPr>
              <a:t>bị</a:t>
            </a:r>
            <a:r>
              <a:rPr lang="en-AU" sz="3600" b="1" dirty="0">
                <a:latin typeface="Calibri Light" panose="020F0302020204030204" pitchFamily="34" charset="0"/>
                <a:ea typeface="Calibri Light" panose="020F0302020204030204" pitchFamily="34" charset="0"/>
                <a:cs typeface="Calibri Light" panose="020F0302020204030204" pitchFamily="34" charset="0"/>
              </a:rPr>
              <a:t> </a:t>
            </a:r>
            <a:r>
              <a:rPr lang="en-AU" sz="3600" b="1" dirty="0" err="1">
                <a:latin typeface="Calibri Light" panose="020F0302020204030204" pitchFamily="34" charset="0"/>
                <a:ea typeface="Calibri Light" panose="020F0302020204030204" pitchFamily="34" charset="0"/>
                <a:cs typeface="Calibri Light" panose="020F0302020204030204" pitchFamily="34" charset="0"/>
              </a:rPr>
              <a:t>và</a:t>
            </a:r>
            <a:r>
              <a:rPr lang="en-AU" sz="3600" b="1" dirty="0">
                <a:latin typeface="Calibri Light" panose="020F0302020204030204" pitchFamily="34" charset="0"/>
                <a:ea typeface="Calibri Light" panose="020F0302020204030204" pitchFamily="34" charset="0"/>
                <a:cs typeface="Calibri Light" panose="020F0302020204030204" pitchFamily="34" charset="0"/>
              </a:rPr>
              <a:t> </a:t>
            </a:r>
            <a:r>
              <a:rPr lang="en-AU" sz="3600" b="1" dirty="0" err="1">
                <a:latin typeface="Calibri Light" panose="020F0302020204030204" pitchFamily="34" charset="0"/>
                <a:ea typeface="Calibri Light" panose="020F0302020204030204" pitchFamily="34" charset="0"/>
                <a:cs typeface="Calibri Light" panose="020F0302020204030204" pitchFamily="34" charset="0"/>
              </a:rPr>
              <a:t>tần</a:t>
            </a:r>
            <a:r>
              <a:rPr lang="en-AU" sz="3600" b="1" dirty="0">
                <a:latin typeface="Calibri Light" panose="020F0302020204030204" pitchFamily="34" charset="0"/>
                <a:ea typeface="Calibri Light" panose="020F0302020204030204" pitchFamily="34" charset="0"/>
                <a:cs typeface="Calibri Light" panose="020F0302020204030204" pitchFamily="34" charset="0"/>
              </a:rPr>
              <a:t> </a:t>
            </a:r>
            <a:r>
              <a:rPr lang="en-AU" sz="3600" b="1" dirty="0" err="1">
                <a:latin typeface="Calibri Light" panose="020F0302020204030204" pitchFamily="34" charset="0"/>
                <a:ea typeface="Calibri Light" panose="020F0302020204030204" pitchFamily="34" charset="0"/>
                <a:cs typeface="Calibri Light" panose="020F0302020204030204" pitchFamily="34" charset="0"/>
              </a:rPr>
              <a:t>suất</a:t>
            </a:r>
            <a:r>
              <a:rPr lang="en-AU" sz="3600" b="1" dirty="0">
                <a:latin typeface="Calibri Light" panose="020F0302020204030204" pitchFamily="34" charset="0"/>
                <a:ea typeface="Calibri Light" panose="020F0302020204030204" pitchFamily="34" charset="0"/>
                <a:cs typeface="Calibri Light" panose="020F0302020204030204" pitchFamily="34" charset="0"/>
              </a:rPr>
              <a:t> </a:t>
            </a:r>
            <a:r>
              <a:rPr lang="en-AU" sz="3600" b="1" dirty="0" err="1">
                <a:latin typeface="Calibri Light" panose="020F0302020204030204" pitchFamily="34" charset="0"/>
                <a:ea typeface="Calibri Light" panose="020F0302020204030204" pitchFamily="34" charset="0"/>
                <a:cs typeface="Calibri Light" panose="020F0302020204030204" pitchFamily="34" charset="0"/>
              </a:rPr>
              <a:t>nhiễm</a:t>
            </a:r>
            <a:r>
              <a:rPr lang="en-AU" sz="3600" b="1" dirty="0">
                <a:latin typeface="Calibri Light" panose="020F0302020204030204" pitchFamily="34" charset="0"/>
                <a:ea typeface="Calibri Light" panose="020F0302020204030204" pitchFamily="34" charset="0"/>
                <a:cs typeface="Calibri Light" panose="020F0302020204030204" pitchFamily="34" charset="0"/>
              </a:rPr>
              <a:t> </a:t>
            </a:r>
            <a:r>
              <a:rPr lang="en-AU" sz="3600" b="1" dirty="0" err="1">
                <a:latin typeface="Calibri Light" panose="020F0302020204030204" pitchFamily="34" charset="0"/>
                <a:ea typeface="Calibri Light" panose="020F0302020204030204" pitchFamily="34" charset="0"/>
                <a:cs typeface="Calibri Light" panose="020F0302020204030204" pitchFamily="34" charset="0"/>
              </a:rPr>
              <a:t>bệnh</a:t>
            </a:r>
            <a:r>
              <a:rPr lang="en-AU" sz="3600" b="1" dirty="0">
                <a:latin typeface="Calibri Light" panose="020F0302020204030204" pitchFamily="34" charset="0"/>
                <a:ea typeface="Calibri Light" panose="020F0302020204030204" pitchFamily="34" charset="0"/>
                <a:cs typeface="Calibri Light" panose="020F0302020204030204" pitchFamily="34" charset="0"/>
              </a:rPr>
              <a:t> </a:t>
            </a:r>
            <a:r>
              <a:rPr lang="en-AU" sz="3600" b="1" dirty="0" err="1">
                <a:latin typeface="Calibri Light" panose="020F0302020204030204" pitchFamily="34" charset="0"/>
                <a:ea typeface="Calibri Light" panose="020F0302020204030204" pitchFamily="34" charset="0"/>
                <a:cs typeface="Calibri Light" panose="020F0302020204030204" pitchFamily="34" charset="0"/>
              </a:rPr>
              <a:t>để</a:t>
            </a:r>
            <a:r>
              <a:rPr lang="en-AU" sz="3600" b="1" dirty="0">
                <a:latin typeface="Calibri Light" panose="020F0302020204030204" pitchFamily="34" charset="0"/>
                <a:ea typeface="Calibri Light" panose="020F0302020204030204" pitchFamily="34" charset="0"/>
                <a:cs typeface="Calibri Light" panose="020F0302020204030204" pitchFamily="34" charset="0"/>
              </a:rPr>
              <a:t> </a:t>
            </a:r>
            <a:r>
              <a:rPr lang="en-AU" sz="3600" b="1" dirty="0" err="1">
                <a:latin typeface="Calibri Light" panose="020F0302020204030204" pitchFamily="34" charset="0"/>
                <a:ea typeface="Calibri Light" panose="020F0302020204030204" pitchFamily="34" charset="0"/>
                <a:cs typeface="Calibri Light" panose="020F0302020204030204" pitchFamily="34" charset="0"/>
              </a:rPr>
              <a:t>xác</a:t>
            </a:r>
            <a:r>
              <a:rPr lang="en-AU" sz="3600" b="1" dirty="0">
                <a:latin typeface="Calibri Light" panose="020F0302020204030204" pitchFamily="34" charset="0"/>
                <a:ea typeface="Calibri Light" panose="020F0302020204030204" pitchFamily="34" charset="0"/>
                <a:cs typeface="Calibri Light" panose="020F0302020204030204" pitchFamily="34" charset="0"/>
              </a:rPr>
              <a:t> </a:t>
            </a:r>
            <a:r>
              <a:rPr lang="en-AU" sz="3600" b="1" dirty="0" err="1">
                <a:latin typeface="Calibri Light" panose="020F0302020204030204" pitchFamily="34" charset="0"/>
                <a:ea typeface="Calibri Light" panose="020F0302020204030204" pitchFamily="34" charset="0"/>
                <a:cs typeface="Calibri Light" panose="020F0302020204030204" pitchFamily="34" charset="0"/>
              </a:rPr>
              <a:t>định</a:t>
            </a:r>
            <a:r>
              <a:rPr lang="en-AU" sz="3600" b="1" dirty="0">
                <a:latin typeface="Calibri Light" panose="020F0302020204030204" pitchFamily="34" charset="0"/>
                <a:ea typeface="Calibri Light" panose="020F0302020204030204" pitchFamily="34" charset="0"/>
                <a:cs typeface="Calibri Light" panose="020F0302020204030204" pitchFamily="34" charset="0"/>
              </a:rPr>
              <a:t> </a:t>
            </a:r>
            <a:r>
              <a:rPr lang="en-AU" sz="3600" b="1" dirty="0" err="1">
                <a:latin typeface="Calibri Light" panose="020F0302020204030204" pitchFamily="34" charset="0"/>
                <a:ea typeface="Calibri Light" panose="020F0302020204030204" pitchFamily="34" charset="0"/>
                <a:cs typeface="Calibri Light" panose="020F0302020204030204" pitchFamily="34" charset="0"/>
              </a:rPr>
              <a:t>nguồn</a:t>
            </a:r>
            <a:r>
              <a:rPr lang="en-AU" sz="3600" b="1" dirty="0">
                <a:latin typeface="Calibri Light" panose="020F0302020204030204" pitchFamily="34" charset="0"/>
                <a:ea typeface="Calibri Light" panose="020F0302020204030204" pitchFamily="34" charset="0"/>
                <a:cs typeface="Calibri Light" panose="020F0302020204030204" pitchFamily="34" charset="0"/>
              </a:rPr>
              <a:t> </a:t>
            </a:r>
            <a:r>
              <a:rPr lang="en-AU" sz="3600" b="1" dirty="0" err="1">
                <a:latin typeface="Calibri Light" panose="020F0302020204030204" pitchFamily="34" charset="0"/>
                <a:ea typeface="Calibri Light" panose="020F0302020204030204" pitchFamily="34" charset="0"/>
                <a:cs typeface="Calibri Light" panose="020F0302020204030204" pitchFamily="34" charset="0"/>
              </a:rPr>
              <a:t>gốc</a:t>
            </a:r>
            <a:r>
              <a:rPr lang="en-AU" sz="3600" b="1" dirty="0">
                <a:latin typeface="Calibri Light" panose="020F0302020204030204" pitchFamily="34" charset="0"/>
                <a:ea typeface="Calibri Light" panose="020F0302020204030204" pitchFamily="34" charset="0"/>
                <a:cs typeface="Calibri Light" panose="020F0302020204030204" pitchFamily="34" charset="0"/>
              </a:rPr>
              <a:t> </a:t>
            </a:r>
            <a:r>
              <a:rPr lang="en-AU" sz="3600" b="1" dirty="0" err="1">
                <a:latin typeface="Calibri Light" panose="020F0302020204030204" pitchFamily="34" charset="0"/>
                <a:ea typeface="Calibri Light" panose="020F0302020204030204" pitchFamily="34" charset="0"/>
                <a:cs typeface="Calibri Light" panose="020F0302020204030204" pitchFamily="34" charset="0"/>
              </a:rPr>
              <a:t>lỗi</a:t>
            </a:r>
            <a:r>
              <a:rPr lang="en-AU" sz="3600" b="1" dirty="0">
                <a:latin typeface="Calibri Light" panose="020F0302020204030204" pitchFamily="34" charset="0"/>
                <a:ea typeface="Calibri Light" panose="020F0302020204030204" pitchFamily="34" charset="0"/>
                <a:cs typeface="Calibri Light" panose="020F0302020204030204" pitchFamily="34" charset="0"/>
              </a:rPr>
              <a:t>.</a:t>
            </a:r>
          </a:p>
        </p:txBody>
      </p:sp>
    </p:spTree>
    <p:extLst>
      <p:ext uri="{BB962C8B-B14F-4D97-AF65-F5344CB8AC3E}">
        <p14:creationId xmlns:p14="http://schemas.microsoft.com/office/powerpoint/2010/main" val="216523709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455F0-6A23-D5B2-3EC2-5E898468DB57}"/>
              </a:ext>
            </a:extLst>
          </p:cNvPr>
          <p:cNvSpPr>
            <a:spLocks noGrp="1"/>
          </p:cNvSpPr>
          <p:nvPr>
            <p:ph type="title"/>
          </p:nvPr>
        </p:nvSpPr>
        <p:spPr/>
        <p:txBody>
          <a:bodyPr>
            <a:noAutofit/>
          </a:bodyPr>
          <a:lstStyle/>
          <a:p>
            <a:r>
              <a:rPr lang="en-AU" b="1" dirty="0" err="1"/>
              <a:t>Thiết</a:t>
            </a:r>
            <a:r>
              <a:rPr lang="en-AU" b="1" dirty="0"/>
              <a:t> </a:t>
            </a:r>
            <a:r>
              <a:rPr lang="en-AU" b="1" dirty="0" err="1"/>
              <a:t>kế</a:t>
            </a:r>
            <a:r>
              <a:rPr lang="en-AU" b="1" dirty="0"/>
              <a:t> </a:t>
            </a:r>
            <a:r>
              <a:rPr lang="en-AU" b="1" dirty="0" err="1"/>
              <a:t>kiểm</a:t>
            </a:r>
            <a:r>
              <a:rPr lang="en-AU" b="1" dirty="0"/>
              <a:t> </a:t>
            </a:r>
            <a:r>
              <a:rPr lang="en-AU" b="1" dirty="0" err="1"/>
              <a:t>định</a:t>
            </a:r>
            <a:r>
              <a:rPr lang="en-AU" b="1" dirty="0"/>
              <a:t> </a:t>
            </a:r>
            <a:r>
              <a:rPr lang="en-AU" b="1" dirty="0" err="1"/>
              <a:t>giả</a:t>
            </a:r>
            <a:r>
              <a:rPr lang="en-AU" b="1" dirty="0"/>
              <a:t> </a:t>
            </a:r>
            <a:r>
              <a:rPr lang="en-AU" b="1" dirty="0" err="1"/>
              <a:t>thuyết</a:t>
            </a:r>
            <a:r>
              <a:rPr lang="en-AU" b="1" dirty="0"/>
              <a:t> (Hypothesis-testing)</a:t>
            </a:r>
            <a:endParaRPr lang="en-AU" sz="28700" b="1"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3" name="Content Placeholder 2">
            <a:extLst>
              <a:ext uri="{FF2B5EF4-FFF2-40B4-BE49-F238E27FC236}">
                <a16:creationId xmlns:a16="http://schemas.microsoft.com/office/drawing/2014/main" id="{F10B2092-036B-85C5-5D03-9AC32C8303AB}"/>
              </a:ext>
            </a:extLst>
          </p:cNvPr>
          <p:cNvSpPr>
            <a:spLocks noGrp="1"/>
          </p:cNvSpPr>
          <p:nvPr>
            <p:ph idx="1"/>
          </p:nvPr>
        </p:nvSpPr>
        <p:spPr/>
        <p:txBody>
          <a:bodyPr>
            <a:noAutofit/>
          </a:bodyPr>
          <a:lstStyle/>
          <a:p>
            <a:pPr algn="just"/>
            <a:r>
              <a:rPr lang="vi-VN" sz="3600" b="1" dirty="0">
                <a:latin typeface="Calibri Light" panose="020F0302020204030204" pitchFamily="34" charset="0"/>
              </a:rPr>
              <a:t>Nghiên cứu mối quan hệ nhân quả. </a:t>
            </a:r>
            <a:endParaRPr lang="en-GB" sz="3600" b="1" dirty="0">
              <a:latin typeface="Calibri Light" panose="020F0302020204030204" pitchFamily="34" charset="0"/>
            </a:endParaRPr>
          </a:p>
          <a:p>
            <a:pPr algn="just"/>
            <a:r>
              <a:rPr lang="en-GB" sz="3600" b="1" dirty="0" err="1"/>
              <a:t>Ví</a:t>
            </a:r>
            <a:r>
              <a:rPr lang="en-GB" sz="3600" b="1" dirty="0"/>
              <a:t> </a:t>
            </a:r>
            <a:r>
              <a:rPr lang="en-GB" sz="3600" b="1" dirty="0" err="1"/>
              <a:t>dụ</a:t>
            </a:r>
            <a:r>
              <a:rPr lang="en-GB" sz="3600" b="1" dirty="0"/>
              <a:t>: </a:t>
            </a:r>
            <a:r>
              <a:rPr lang="vi-VN" sz="3600" b="1" dirty="0">
                <a:latin typeface="Calibri Light" panose="020F0302020204030204" pitchFamily="34" charset="0"/>
              </a:rPr>
              <a:t>Nếu thêm chất A thì năng suất B tăng bao nhiêu?</a:t>
            </a:r>
            <a:endParaRPr lang="en-AU" sz="3600" b="1" dirty="0">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83316806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455F0-6A23-D5B2-3EC2-5E898468DB57}"/>
              </a:ext>
            </a:extLst>
          </p:cNvPr>
          <p:cNvSpPr>
            <a:spLocks noGrp="1"/>
          </p:cNvSpPr>
          <p:nvPr>
            <p:ph type="title"/>
          </p:nvPr>
        </p:nvSpPr>
        <p:spPr/>
        <p:txBody>
          <a:bodyPr>
            <a:noAutofit/>
          </a:bodyPr>
          <a:lstStyle/>
          <a:p>
            <a:r>
              <a:rPr lang="en-AU" b="1" dirty="0" err="1"/>
              <a:t>Thiết</a:t>
            </a:r>
            <a:r>
              <a:rPr lang="en-AU" b="1" dirty="0"/>
              <a:t> </a:t>
            </a:r>
            <a:r>
              <a:rPr lang="en-AU" b="1" dirty="0" err="1"/>
              <a:t>kế</a:t>
            </a:r>
            <a:r>
              <a:rPr lang="en-AU" b="1" dirty="0"/>
              <a:t> </a:t>
            </a:r>
            <a:r>
              <a:rPr lang="en-AU" b="1" dirty="0" err="1"/>
              <a:t>nghiên</a:t>
            </a:r>
            <a:r>
              <a:rPr lang="en-AU" b="1" dirty="0"/>
              <a:t> </a:t>
            </a:r>
            <a:r>
              <a:rPr lang="en-AU" b="1" dirty="0" err="1"/>
              <a:t>cứu</a:t>
            </a:r>
            <a:r>
              <a:rPr lang="en-AU" b="1" dirty="0"/>
              <a:t> </a:t>
            </a:r>
            <a:r>
              <a:rPr lang="en-AU" b="1" dirty="0" err="1"/>
              <a:t>thực</a:t>
            </a:r>
            <a:r>
              <a:rPr lang="en-AU" b="1" dirty="0"/>
              <a:t> </a:t>
            </a:r>
            <a:r>
              <a:rPr lang="en-AU" b="1" dirty="0" err="1"/>
              <a:t>nghiệm</a:t>
            </a:r>
            <a:r>
              <a:rPr lang="en-AU" b="1" dirty="0"/>
              <a:t> (Experimental)</a:t>
            </a:r>
            <a:endParaRPr lang="en-AU" sz="28700" b="1"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3" name="Content Placeholder 2">
            <a:extLst>
              <a:ext uri="{FF2B5EF4-FFF2-40B4-BE49-F238E27FC236}">
                <a16:creationId xmlns:a16="http://schemas.microsoft.com/office/drawing/2014/main" id="{F10B2092-036B-85C5-5D03-9AC32C8303AB}"/>
              </a:ext>
            </a:extLst>
          </p:cNvPr>
          <p:cNvSpPr>
            <a:spLocks noGrp="1"/>
          </p:cNvSpPr>
          <p:nvPr>
            <p:ph idx="1"/>
          </p:nvPr>
        </p:nvSpPr>
        <p:spPr/>
        <p:txBody>
          <a:bodyPr>
            <a:noAutofit/>
          </a:bodyPr>
          <a:lstStyle/>
          <a:p>
            <a:pPr algn="just"/>
            <a:r>
              <a:rPr lang="vi-VN" sz="3600" b="1" dirty="0">
                <a:latin typeface="Calibri Light" panose="020F0302020204030204" pitchFamily="34" charset="0"/>
              </a:rPr>
              <a:t>Đây là trọng tâm của CNSH (Thí nghiệm tại Lab).</a:t>
            </a:r>
            <a:endParaRPr lang="en-AU" sz="3600" b="1" dirty="0">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65198593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455F0-6A23-D5B2-3EC2-5E898468DB57}"/>
              </a:ext>
            </a:extLst>
          </p:cNvPr>
          <p:cNvSpPr>
            <a:spLocks noGrp="1"/>
          </p:cNvSpPr>
          <p:nvPr>
            <p:ph type="title"/>
          </p:nvPr>
        </p:nvSpPr>
        <p:spPr/>
        <p:txBody>
          <a:bodyPr>
            <a:noAutofit/>
          </a:bodyPr>
          <a:lstStyle/>
          <a:p>
            <a:r>
              <a:rPr lang="en-AU" sz="4800" b="1" dirty="0" err="1"/>
              <a:t>Sự</a:t>
            </a:r>
            <a:r>
              <a:rPr lang="en-AU" sz="4800" b="1" dirty="0"/>
              <a:t> </a:t>
            </a:r>
            <a:r>
              <a:rPr lang="en-AU" sz="4800" b="1" dirty="0" err="1"/>
              <a:t>khác</a:t>
            </a:r>
            <a:r>
              <a:rPr lang="en-AU" sz="4800" b="1" dirty="0"/>
              <a:t> </a:t>
            </a:r>
            <a:r>
              <a:rPr lang="en-AU" sz="4800" b="1" dirty="0" err="1"/>
              <a:t>biệt</a:t>
            </a:r>
            <a:r>
              <a:rPr lang="en-AU" sz="4800" b="1" dirty="0"/>
              <a:t> </a:t>
            </a:r>
            <a:r>
              <a:rPr lang="en-AU" sz="4800" b="1" dirty="0" err="1"/>
              <a:t>về</a:t>
            </a:r>
            <a:r>
              <a:rPr lang="en-AU" sz="4800" b="1" dirty="0"/>
              <a:t> </a:t>
            </a:r>
            <a:r>
              <a:rPr lang="en-AU" sz="4800" b="1" dirty="0" err="1"/>
              <a:t>cấu</a:t>
            </a:r>
            <a:r>
              <a:rPr lang="en-AU" sz="4800" b="1" dirty="0"/>
              <a:t> </a:t>
            </a:r>
            <a:r>
              <a:rPr lang="en-AU" sz="4800" b="1" dirty="0" err="1"/>
              <a:t>trúc</a:t>
            </a:r>
            <a:endParaRPr lang="en-AU" sz="49600" b="1"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3" name="Content Placeholder 2">
            <a:extLst>
              <a:ext uri="{FF2B5EF4-FFF2-40B4-BE49-F238E27FC236}">
                <a16:creationId xmlns:a16="http://schemas.microsoft.com/office/drawing/2014/main" id="{F10B2092-036B-85C5-5D03-9AC32C8303AB}"/>
              </a:ext>
            </a:extLst>
          </p:cNvPr>
          <p:cNvSpPr>
            <a:spLocks noGrp="1"/>
          </p:cNvSpPr>
          <p:nvPr>
            <p:ph idx="1"/>
          </p:nvPr>
        </p:nvSpPr>
        <p:spPr/>
        <p:txBody>
          <a:bodyPr>
            <a:noAutofit/>
          </a:bodyPr>
          <a:lstStyle/>
          <a:p>
            <a:pPr algn="just"/>
            <a:r>
              <a:rPr lang="vi-VN" sz="3600" b="1" dirty="0">
                <a:latin typeface="Calibri Light" panose="020F0302020204030204" pitchFamily="34" charset="0"/>
              </a:rPr>
              <a:t>Thăm dò cần linh hoạt</a:t>
            </a:r>
            <a:endParaRPr lang="en-GB" sz="3600" b="1" dirty="0">
              <a:latin typeface="Calibri Light" panose="020F0302020204030204" pitchFamily="34" charset="0"/>
            </a:endParaRPr>
          </a:p>
          <a:p>
            <a:pPr algn="just"/>
            <a:r>
              <a:rPr lang="vi-VN" sz="3600" b="1" dirty="0">
                <a:latin typeface="Calibri Light" panose="020F0302020204030204" pitchFamily="34" charset="0"/>
              </a:rPr>
              <a:t>Mô tả cần cứng nhắc và chính xác</a:t>
            </a:r>
            <a:endParaRPr lang="en-GB" sz="3600" b="1" dirty="0">
              <a:latin typeface="Calibri Light" panose="020F0302020204030204" pitchFamily="34" charset="0"/>
            </a:endParaRPr>
          </a:p>
          <a:p>
            <a:pPr algn="just"/>
            <a:endParaRPr lang="en-AU" sz="3600" b="1" dirty="0">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119034329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455F0-6A23-D5B2-3EC2-5E898468DB57}"/>
              </a:ext>
            </a:extLst>
          </p:cNvPr>
          <p:cNvSpPr>
            <a:spLocks noGrp="1"/>
          </p:cNvSpPr>
          <p:nvPr>
            <p:ph type="title"/>
          </p:nvPr>
        </p:nvSpPr>
        <p:spPr/>
        <p:txBody>
          <a:bodyPr>
            <a:noAutofit/>
          </a:bodyPr>
          <a:lstStyle/>
          <a:p>
            <a:r>
              <a:rPr lang="en-AU" sz="4800" b="1" dirty="0" err="1"/>
              <a:t>Bài</a:t>
            </a:r>
            <a:r>
              <a:rPr lang="en-AU" sz="4800" b="1" dirty="0"/>
              <a:t> </a:t>
            </a:r>
            <a:r>
              <a:rPr lang="en-AU" sz="4800" b="1" dirty="0" err="1"/>
              <a:t>tập</a:t>
            </a:r>
            <a:r>
              <a:rPr lang="en-AU" sz="4800" b="1" dirty="0"/>
              <a:t> </a:t>
            </a:r>
            <a:r>
              <a:rPr lang="en-AU" sz="4800" b="1" dirty="0" err="1"/>
              <a:t>ứng</a:t>
            </a:r>
            <a:r>
              <a:rPr lang="en-AU" sz="4800" b="1" dirty="0"/>
              <a:t> </a:t>
            </a:r>
            <a:r>
              <a:rPr lang="en-AU" sz="4800" b="1" dirty="0" err="1"/>
              <a:t>dụng</a:t>
            </a:r>
            <a:r>
              <a:rPr lang="en-AU" sz="4800" b="1" dirty="0"/>
              <a:t> 3</a:t>
            </a:r>
            <a:endParaRPr lang="en-AU" sz="49600" b="1"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3" name="Content Placeholder 2">
            <a:extLst>
              <a:ext uri="{FF2B5EF4-FFF2-40B4-BE49-F238E27FC236}">
                <a16:creationId xmlns:a16="http://schemas.microsoft.com/office/drawing/2014/main" id="{F10B2092-036B-85C5-5D03-9AC32C8303AB}"/>
              </a:ext>
            </a:extLst>
          </p:cNvPr>
          <p:cNvSpPr>
            <a:spLocks noGrp="1"/>
          </p:cNvSpPr>
          <p:nvPr>
            <p:ph idx="1"/>
          </p:nvPr>
        </p:nvSpPr>
        <p:spPr/>
        <p:txBody>
          <a:bodyPr>
            <a:noAutofit/>
          </a:bodyPr>
          <a:lstStyle/>
          <a:p>
            <a:pPr algn="just"/>
            <a:r>
              <a:rPr lang="vi-VN" sz="3200" b="1" dirty="0"/>
              <a:t>"Nếu em muốn khảo sát sự đa dạng di truyền của một loài cây quý hiếm mà chưa có ai từng nghiên cứu, thiết kế nào là tối ưu? (A. Thăm dò; B. Chẩn đoán; C. Kiểm định giả thuyết</a:t>
            </a:r>
            <a:r>
              <a:rPr lang="en-GB" sz="3200" b="1" dirty="0"/>
              <a:t>; D. </a:t>
            </a:r>
            <a:r>
              <a:rPr lang="en-GB" sz="3200" b="1" dirty="0" err="1"/>
              <a:t>Mô</a:t>
            </a:r>
            <a:r>
              <a:rPr lang="en-GB" sz="3200" b="1" dirty="0"/>
              <a:t> </a:t>
            </a:r>
            <a:r>
              <a:rPr lang="en-GB" sz="3200" b="1" dirty="0" err="1"/>
              <a:t>tả</a:t>
            </a:r>
            <a:r>
              <a:rPr lang="vi-VN" sz="3200" b="1" dirty="0"/>
              <a:t>)."</a:t>
            </a:r>
            <a:endParaRPr lang="en-GB" sz="3200" b="1" dirty="0"/>
          </a:p>
          <a:p>
            <a:pPr algn="just"/>
            <a:r>
              <a:rPr lang="en-GB" sz="3200" b="1" dirty="0" err="1"/>
              <a:t>Sinh</a:t>
            </a:r>
            <a:r>
              <a:rPr lang="en-GB" sz="3200" b="1" dirty="0"/>
              <a:t> </a:t>
            </a:r>
            <a:r>
              <a:rPr lang="en-GB" sz="3200" b="1" dirty="0" err="1"/>
              <a:t>viên</a:t>
            </a:r>
            <a:r>
              <a:rPr lang="en-GB" sz="3200" b="1" dirty="0"/>
              <a:t> 1</a:t>
            </a:r>
            <a:r>
              <a:rPr lang="vi-VN" sz="3200" b="1" dirty="0"/>
              <a:t> đưa ra </a:t>
            </a:r>
            <a:r>
              <a:rPr lang="en-GB" sz="3200" b="1" dirty="0"/>
              <a:t>1</a:t>
            </a:r>
            <a:r>
              <a:rPr lang="vi-VN" sz="3200" b="1" dirty="0"/>
              <a:t> đề tài, sinh viên</a:t>
            </a:r>
            <a:r>
              <a:rPr lang="en-GB" sz="3200" b="1" dirty="0"/>
              <a:t> 2</a:t>
            </a:r>
            <a:r>
              <a:rPr lang="vi-VN" sz="3200" b="1" dirty="0"/>
              <a:t> hãy phân loại chúng vào </a:t>
            </a:r>
            <a:r>
              <a:rPr lang="en-GB" sz="3200" b="1" dirty="0"/>
              <a:t>5</a:t>
            </a:r>
            <a:r>
              <a:rPr lang="vi-VN" sz="3200" b="1" dirty="0"/>
              <a:t> loại thiết kế trên.</a:t>
            </a:r>
            <a:endParaRPr lang="en-AU" sz="4000" b="1" dirty="0">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29229894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455F0-6A23-D5B2-3EC2-5E898468DB57}"/>
              </a:ext>
            </a:extLst>
          </p:cNvPr>
          <p:cNvSpPr>
            <a:spLocks noGrp="1"/>
          </p:cNvSpPr>
          <p:nvPr>
            <p:ph type="title"/>
          </p:nvPr>
        </p:nvSpPr>
        <p:spPr/>
        <p:txBody>
          <a:bodyPr>
            <a:noAutofit/>
          </a:bodyPr>
          <a:lstStyle/>
          <a:p>
            <a:r>
              <a:rPr lang="en-AU" sz="4800" b="1" dirty="0" err="1"/>
              <a:t>Bài</a:t>
            </a:r>
            <a:r>
              <a:rPr lang="en-AU" sz="4800" b="1" dirty="0"/>
              <a:t> </a:t>
            </a:r>
            <a:r>
              <a:rPr lang="en-AU" sz="4800" b="1" dirty="0" err="1"/>
              <a:t>tập</a:t>
            </a:r>
            <a:r>
              <a:rPr lang="en-AU" sz="4800" b="1" dirty="0"/>
              <a:t> </a:t>
            </a:r>
            <a:r>
              <a:rPr lang="en-AU" sz="4800" b="1" dirty="0" err="1"/>
              <a:t>ứng</a:t>
            </a:r>
            <a:r>
              <a:rPr lang="en-AU" sz="4800" b="1" dirty="0"/>
              <a:t> </a:t>
            </a:r>
            <a:r>
              <a:rPr lang="en-AU" sz="4800" b="1" dirty="0" err="1"/>
              <a:t>dụng</a:t>
            </a:r>
            <a:r>
              <a:rPr lang="en-AU" sz="4800" b="1" dirty="0"/>
              <a:t> 3</a:t>
            </a:r>
            <a:endParaRPr lang="en-AU" sz="49600" b="1"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3" name="Content Placeholder 2">
            <a:extLst>
              <a:ext uri="{FF2B5EF4-FFF2-40B4-BE49-F238E27FC236}">
                <a16:creationId xmlns:a16="http://schemas.microsoft.com/office/drawing/2014/main" id="{F10B2092-036B-85C5-5D03-9AC32C8303AB}"/>
              </a:ext>
            </a:extLst>
          </p:cNvPr>
          <p:cNvSpPr>
            <a:spLocks noGrp="1"/>
          </p:cNvSpPr>
          <p:nvPr>
            <p:ph idx="1"/>
          </p:nvPr>
        </p:nvSpPr>
        <p:spPr/>
        <p:txBody>
          <a:bodyPr>
            <a:noAutofit/>
          </a:bodyPr>
          <a:lstStyle/>
          <a:p>
            <a:pPr algn="just"/>
            <a:r>
              <a:rPr lang="vi-VN" sz="3200" b="1" dirty="0"/>
              <a:t>"Nếu em muốn khảo sát sự đa dạng di truyền của một loài cây quý hiếm mà chưa có ai từng nghiên cứu, thiết kế nào là tối ưu? (A. Thăm dò; B. Chẩn đoán; C. Kiểm định giả thuyết</a:t>
            </a:r>
            <a:r>
              <a:rPr lang="en-GB" sz="3200" b="1" dirty="0"/>
              <a:t>; D. </a:t>
            </a:r>
            <a:r>
              <a:rPr lang="en-GB" sz="3200" b="1" dirty="0" err="1"/>
              <a:t>Mô</a:t>
            </a:r>
            <a:r>
              <a:rPr lang="en-GB" sz="3200" b="1" dirty="0"/>
              <a:t> </a:t>
            </a:r>
            <a:r>
              <a:rPr lang="en-GB" sz="3200" b="1" dirty="0" err="1"/>
              <a:t>tả</a:t>
            </a:r>
            <a:r>
              <a:rPr lang="vi-VN" sz="3200" b="1" dirty="0"/>
              <a:t>)." Đáp án: A.</a:t>
            </a:r>
            <a:endParaRPr lang="en-GB" sz="3200" b="1" dirty="0"/>
          </a:p>
          <a:p>
            <a:pPr algn="just"/>
            <a:r>
              <a:rPr lang="en-GB" sz="3200" b="1" dirty="0" err="1"/>
              <a:t>Sinh</a:t>
            </a:r>
            <a:r>
              <a:rPr lang="en-GB" sz="3200" b="1" dirty="0"/>
              <a:t> </a:t>
            </a:r>
            <a:r>
              <a:rPr lang="en-GB" sz="3200" b="1" dirty="0" err="1"/>
              <a:t>viên</a:t>
            </a:r>
            <a:r>
              <a:rPr lang="en-GB" sz="3200" b="1" dirty="0"/>
              <a:t> 1</a:t>
            </a:r>
            <a:r>
              <a:rPr lang="vi-VN" sz="3200" b="1" dirty="0"/>
              <a:t> đưa ra </a:t>
            </a:r>
            <a:r>
              <a:rPr lang="en-GB" sz="3200" b="1" dirty="0"/>
              <a:t>1</a:t>
            </a:r>
            <a:r>
              <a:rPr lang="vi-VN" sz="3200" b="1" dirty="0"/>
              <a:t> đề tài, sinh viên</a:t>
            </a:r>
            <a:r>
              <a:rPr lang="en-GB" sz="3200" b="1" dirty="0"/>
              <a:t> 2</a:t>
            </a:r>
            <a:r>
              <a:rPr lang="vi-VN" sz="3200" b="1" dirty="0"/>
              <a:t> hãy phân loại chúng vào </a:t>
            </a:r>
            <a:r>
              <a:rPr lang="en-GB" sz="3200" b="1" dirty="0"/>
              <a:t>5</a:t>
            </a:r>
            <a:r>
              <a:rPr lang="vi-VN" sz="3200" b="1" dirty="0"/>
              <a:t> loại thiết kế trên.</a:t>
            </a:r>
            <a:endParaRPr lang="en-AU" sz="4000" b="1" dirty="0">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27358815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455F0-6A23-D5B2-3EC2-5E898468DB57}"/>
              </a:ext>
            </a:extLst>
          </p:cNvPr>
          <p:cNvSpPr>
            <a:spLocks noGrp="1"/>
          </p:cNvSpPr>
          <p:nvPr>
            <p:ph type="title"/>
          </p:nvPr>
        </p:nvSpPr>
        <p:spPr/>
        <p:txBody>
          <a:bodyPr>
            <a:noAutofit/>
          </a:bodyPr>
          <a:lstStyle/>
          <a:p>
            <a:r>
              <a:rPr lang="en-AU" sz="4800" b="1" dirty="0" err="1"/>
              <a:t>Bài</a:t>
            </a:r>
            <a:r>
              <a:rPr lang="en-AU" sz="4800" b="1" dirty="0"/>
              <a:t> </a:t>
            </a:r>
            <a:r>
              <a:rPr lang="en-AU" sz="4800" b="1" dirty="0" err="1"/>
              <a:t>tập</a:t>
            </a:r>
            <a:r>
              <a:rPr lang="en-AU" sz="4800" b="1" dirty="0"/>
              <a:t> </a:t>
            </a:r>
            <a:r>
              <a:rPr lang="en-AU" sz="4800" b="1" dirty="0" err="1"/>
              <a:t>ứng</a:t>
            </a:r>
            <a:r>
              <a:rPr lang="en-AU" sz="4800" b="1" dirty="0"/>
              <a:t> </a:t>
            </a:r>
            <a:r>
              <a:rPr lang="en-AU" sz="4800" b="1" dirty="0" err="1"/>
              <a:t>dụng</a:t>
            </a:r>
            <a:r>
              <a:rPr lang="en-AU" sz="4800" b="1" dirty="0"/>
              <a:t> 4</a:t>
            </a:r>
            <a:endParaRPr lang="en-AU" sz="49600" b="1"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3" name="Content Placeholder 2">
            <a:extLst>
              <a:ext uri="{FF2B5EF4-FFF2-40B4-BE49-F238E27FC236}">
                <a16:creationId xmlns:a16="http://schemas.microsoft.com/office/drawing/2014/main" id="{F10B2092-036B-85C5-5D03-9AC32C8303AB}"/>
              </a:ext>
            </a:extLst>
          </p:cNvPr>
          <p:cNvSpPr>
            <a:spLocks noGrp="1"/>
          </p:cNvSpPr>
          <p:nvPr>
            <p:ph idx="1"/>
          </p:nvPr>
        </p:nvSpPr>
        <p:spPr/>
        <p:txBody>
          <a:bodyPr>
            <a:noAutofit/>
          </a:bodyPr>
          <a:lstStyle/>
          <a:p>
            <a:pPr algn="just"/>
            <a:r>
              <a:rPr lang="en-GB" sz="3200" b="1" dirty="0" err="1"/>
              <a:t>Tổng</a:t>
            </a:r>
            <a:r>
              <a:rPr lang="en-GB" sz="3200" b="1" dirty="0"/>
              <a:t> </a:t>
            </a:r>
            <a:r>
              <a:rPr lang="en-GB" sz="3200" b="1" dirty="0" err="1"/>
              <a:t>kết</a:t>
            </a:r>
            <a:r>
              <a:rPr lang="en-GB" sz="3200" b="1" dirty="0"/>
              <a:t> </a:t>
            </a:r>
            <a:r>
              <a:rPr lang="en-GB" sz="3200" b="1" dirty="0" err="1"/>
              <a:t>các</a:t>
            </a:r>
            <a:r>
              <a:rPr lang="en-GB" sz="3200" b="1" dirty="0"/>
              <a:t> </a:t>
            </a:r>
            <a:r>
              <a:rPr lang="en-GB" sz="3200" b="1" dirty="0" err="1"/>
              <a:t>loại</a:t>
            </a:r>
            <a:r>
              <a:rPr lang="en-GB" sz="3200" b="1" dirty="0"/>
              <a:t> </a:t>
            </a:r>
            <a:r>
              <a:rPr lang="en-GB" sz="3200" b="1" dirty="0" err="1"/>
              <a:t>thiết</a:t>
            </a:r>
            <a:r>
              <a:rPr lang="en-GB" sz="3200" b="1" dirty="0"/>
              <a:t> </a:t>
            </a:r>
            <a:r>
              <a:rPr lang="en-GB" sz="3200" b="1" dirty="0" err="1"/>
              <a:t>kế</a:t>
            </a:r>
            <a:r>
              <a:rPr lang="en-GB" sz="3200" b="1" dirty="0"/>
              <a:t> </a:t>
            </a:r>
            <a:r>
              <a:rPr lang="en-GB" sz="3200" b="1" dirty="0" err="1"/>
              <a:t>bằng</a:t>
            </a:r>
            <a:r>
              <a:rPr lang="en-GB" sz="3200" b="1" dirty="0"/>
              <a:t> </a:t>
            </a:r>
            <a:r>
              <a:rPr lang="en-GB" sz="3200" b="1" dirty="0" err="1"/>
              <a:t>cách</a:t>
            </a:r>
            <a:r>
              <a:rPr lang="en-GB" sz="3200" b="1" dirty="0"/>
              <a:t> </a:t>
            </a:r>
            <a:r>
              <a:rPr lang="en-GB" sz="3200" b="1" dirty="0" err="1"/>
              <a:t>xây</a:t>
            </a:r>
            <a:r>
              <a:rPr lang="en-GB" sz="3200" b="1" dirty="0"/>
              <a:t> </a:t>
            </a:r>
            <a:r>
              <a:rPr lang="en-GB" sz="3200" b="1" dirty="0" err="1"/>
              <a:t>dựng</a:t>
            </a:r>
            <a:r>
              <a:rPr lang="en-GB" sz="3200" b="1" dirty="0"/>
              <a:t> s</a:t>
            </a:r>
            <a:r>
              <a:rPr lang="vi-VN" sz="3200" b="1" dirty="0"/>
              <a:t>ơ đồ tư duy so sánh </a:t>
            </a:r>
            <a:r>
              <a:rPr lang="en-GB" sz="3200" b="1" dirty="0"/>
              <a:t>5</a:t>
            </a:r>
            <a:r>
              <a:rPr lang="vi-VN" sz="3200" b="1" dirty="0"/>
              <a:t> loại thiết kế</a:t>
            </a:r>
            <a:r>
              <a:rPr lang="en-GB" sz="3200" b="1" dirty="0"/>
              <a:t> </a:t>
            </a:r>
            <a:r>
              <a:rPr lang="en-GB" sz="3200" b="1" dirty="0" err="1"/>
              <a:t>thí</a:t>
            </a:r>
            <a:r>
              <a:rPr lang="en-GB" sz="3200" b="1" dirty="0"/>
              <a:t> </a:t>
            </a:r>
            <a:r>
              <a:rPr lang="en-GB" sz="3200" b="1" dirty="0" err="1"/>
              <a:t>nghiệm</a:t>
            </a:r>
            <a:r>
              <a:rPr lang="en-GB" sz="3200" b="1" dirty="0"/>
              <a:t> </a:t>
            </a:r>
            <a:r>
              <a:rPr lang="en-GB" sz="3200" b="1" dirty="0" err="1"/>
              <a:t>trên</a:t>
            </a:r>
            <a:r>
              <a:rPr lang="vi-VN" sz="3200" b="1" dirty="0"/>
              <a:t>.</a:t>
            </a:r>
            <a:endParaRPr lang="en-AU" sz="4000" b="1" dirty="0">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138479189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455F0-6A23-D5B2-3EC2-5E898468DB57}"/>
              </a:ext>
            </a:extLst>
          </p:cNvPr>
          <p:cNvSpPr>
            <a:spLocks noGrp="1"/>
          </p:cNvSpPr>
          <p:nvPr>
            <p:ph type="title"/>
          </p:nvPr>
        </p:nvSpPr>
        <p:spPr/>
        <p:txBody>
          <a:bodyPr>
            <a:noAutofit/>
          </a:bodyPr>
          <a:lstStyle/>
          <a:p>
            <a:r>
              <a:rPr lang="en-AU" sz="4800" b="1" dirty="0"/>
              <a:t>Quiz </a:t>
            </a:r>
            <a:r>
              <a:rPr lang="en-AU" sz="4800" b="1" dirty="0" err="1"/>
              <a:t>Phần</a:t>
            </a:r>
            <a:r>
              <a:rPr lang="en-AU" sz="4800" b="1" dirty="0"/>
              <a:t> 3</a:t>
            </a:r>
            <a:endParaRPr lang="en-AU" sz="49600" b="1"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3" name="Content Placeholder 2">
            <a:extLst>
              <a:ext uri="{FF2B5EF4-FFF2-40B4-BE49-F238E27FC236}">
                <a16:creationId xmlns:a16="http://schemas.microsoft.com/office/drawing/2014/main" id="{F10B2092-036B-85C5-5D03-9AC32C8303AB}"/>
              </a:ext>
            </a:extLst>
          </p:cNvPr>
          <p:cNvSpPr>
            <a:spLocks noGrp="1"/>
          </p:cNvSpPr>
          <p:nvPr>
            <p:ph idx="1"/>
          </p:nvPr>
        </p:nvSpPr>
        <p:spPr/>
        <p:txBody>
          <a:bodyPr>
            <a:noAutofit/>
          </a:bodyPr>
          <a:lstStyle/>
          <a:p>
            <a:pPr algn="just"/>
            <a:r>
              <a:rPr lang="vi-VN" sz="3200" b="1" dirty="0"/>
              <a:t>Loại thiết kế nào thường dẫn đến sự hình thành một giả thuyết mới? </a:t>
            </a:r>
            <a:endParaRPr lang="en-GB" sz="3200" b="1" dirty="0"/>
          </a:p>
          <a:p>
            <a:pPr algn="just"/>
            <a:r>
              <a:rPr lang="en-GB" sz="3200" b="1" dirty="0"/>
              <a:t>A. </a:t>
            </a:r>
            <a:r>
              <a:rPr lang="en-GB" sz="3200" b="1" dirty="0" err="1"/>
              <a:t>Thăm</a:t>
            </a:r>
            <a:r>
              <a:rPr lang="en-GB" sz="3200" b="1" dirty="0"/>
              <a:t> </a:t>
            </a:r>
            <a:r>
              <a:rPr lang="en-GB" sz="3200" b="1" dirty="0" err="1"/>
              <a:t>dò</a:t>
            </a:r>
            <a:endParaRPr lang="en-GB" sz="3200" b="1" dirty="0"/>
          </a:p>
          <a:p>
            <a:pPr algn="just"/>
            <a:r>
              <a:rPr lang="en-GB" sz="3200" b="1" dirty="0"/>
              <a:t>B. </a:t>
            </a:r>
            <a:r>
              <a:rPr lang="en-GB" sz="3200" b="1" dirty="0" err="1"/>
              <a:t>Kiểm</a:t>
            </a:r>
            <a:r>
              <a:rPr lang="en-GB" sz="3200" b="1" dirty="0"/>
              <a:t> </a:t>
            </a:r>
            <a:r>
              <a:rPr lang="en-GB" sz="3200" b="1" dirty="0" err="1"/>
              <a:t>định</a:t>
            </a:r>
            <a:r>
              <a:rPr lang="en-GB" sz="3200" b="1" dirty="0"/>
              <a:t> </a:t>
            </a:r>
            <a:r>
              <a:rPr lang="en-GB" sz="3200" b="1" dirty="0" err="1"/>
              <a:t>giả</a:t>
            </a:r>
            <a:r>
              <a:rPr lang="en-GB" sz="3200" b="1" dirty="0"/>
              <a:t> </a:t>
            </a:r>
            <a:r>
              <a:rPr lang="en-GB" sz="3200" b="1" dirty="0" err="1"/>
              <a:t>thuyết</a:t>
            </a:r>
            <a:endParaRPr lang="en-GB" sz="3200" b="1" dirty="0"/>
          </a:p>
          <a:p>
            <a:pPr algn="just"/>
            <a:r>
              <a:rPr lang="en-GB" sz="3200" b="1" dirty="0"/>
              <a:t>C. </a:t>
            </a:r>
            <a:r>
              <a:rPr lang="en-GB" sz="3200" b="1" dirty="0" err="1"/>
              <a:t>Thực</a:t>
            </a:r>
            <a:r>
              <a:rPr lang="en-GB" sz="3200" b="1" dirty="0"/>
              <a:t> </a:t>
            </a:r>
            <a:r>
              <a:rPr lang="en-GB" sz="3200" b="1" dirty="0" err="1"/>
              <a:t>nghiệm</a:t>
            </a:r>
            <a:endParaRPr lang="en-GB" sz="3200" b="1" dirty="0"/>
          </a:p>
          <a:p>
            <a:pPr algn="just"/>
            <a:r>
              <a:rPr lang="en-GB" sz="3200" b="1" dirty="0"/>
              <a:t>D. </a:t>
            </a:r>
            <a:r>
              <a:rPr lang="en-GB" sz="3200" b="1" dirty="0" err="1"/>
              <a:t>Chẩn</a:t>
            </a:r>
            <a:r>
              <a:rPr lang="en-GB" sz="3200" b="1" dirty="0"/>
              <a:t> </a:t>
            </a:r>
            <a:r>
              <a:rPr lang="en-GB" sz="3200" b="1" dirty="0" err="1"/>
              <a:t>đoán</a:t>
            </a:r>
            <a:endParaRPr lang="en-GB" sz="3200" b="1" dirty="0"/>
          </a:p>
          <a:p>
            <a:pPr algn="just"/>
            <a:r>
              <a:rPr lang="en-GB" sz="3200" b="1" dirty="0"/>
              <a:t>E. </a:t>
            </a:r>
            <a:r>
              <a:rPr lang="en-GB" sz="3200" b="1" dirty="0" err="1"/>
              <a:t>Mô</a:t>
            </a:r>
            <a:r>
              <a:rPr lang="en-GB" sz="3200" b="1" dirty="0"/>
              <a:t> </a:t>
            </a:r>
            <a:r>
              <a:rPr lang="en-GB" sz="3200" b="1" dirty="0" err="1"/>
              <a:t>tả</a:t>
            </a:r>
            <a:endParaRPr lang="en-GB" sz="3200" b="1" dirty="0"/>
          </a:p>
        </p:txBody>
      </p:sp>
    </p:spTree>
    <p:extLst>
      <p:ext uri="{BB962C8B-B14F-4D97-AF65-F5344CB8AC3E}">
        <p14:creationId xmlns:p14="http://schemas.microsoft.com/office/powerpoint/2010/main" val="423974766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455F0-6A23-D5B2-3EC2-5E898468DB57}"/>
              </a:ext>
            </a:extLst>
          </p:cNvPr>
          <p:cNvSpPr>
            <a:spLocks noGrp="1"/>
          </p:cNvSpPr>
          <p:nvPr>
            <p:ph type="title"/>
          </p:nvPr>
        </p:nvSpPr>
        <p:spPr/>
        <p:txBody>
          <a:bodyPr>
            <a:noAutofit/>
          </a:bodyPr>
          <a:lstStyle/>
          <a:p>
            <a:r>
              <a:rPr lang="en-AU" sz="4800" b="1" dirty="0"/>
              <a:t>Quiz </a:t>
            </a:r>
            <a:r>
              <a:rPr lang="en-AU" sz="4800" b="1" dirty="0" err="1"/>
              <a:t>Phần</a:t>
            </a:r>
            <a:r>
              <a:rPr lang="en-AU" sz="4800" b="1" dirty="0"/>
              <a:t> 3</a:t>
            </a:r>
            <a:endParaRPr lang="en-AU" sz="49600" b="1"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3" name="Content Placeholder 2">
            <a:extLst>
              <a:ext uri="{FF2B5EF4-FFF2-40B4-BE49-F238E27FC236}">
                <a16:creationId xmlns:a16="http://schemas.microsoft.com/office/drawing/2014/main" id="{F10B2092-036B-85C5-5D03-9AC32C8303AB}"/>
              </a:ext>
            </a:extLst>
          </p:cNvPr>
          <p:cNvSpPr>
            <a:spLocks noGrp="1"/>
          </p:cNvSpPr>
          <p:nvPr>
            <p:ph idx="1"/>
          </p:nvPr>
        </p:nvSpPr>
        <p:spPr/>
        <p:txBody>
          <a:bodyPr>
            <a:noAutofit/>
          </a:bodyPr>
          <a:lstStyle/>
          <a:p>
            <a:pPr algn="just"/>
            <a:r>
              <a:rPr lang="vi-VN" sz="3200" b="1" dirty="0"/>
              <a:t>Loại thiết kế nào thường dẫn đến sự hình thành một giả thuyết mới? </a:t>
            </a:r>
            <a:endParaRPr lang="en-GB" sz="3200" b="1" dirty="0"/>
          </a:p>
          <a:p>
            <a:pPr algn="just"/>
            <a:r>
              <a:rPr lang="en-GB" sz="3200" b="1" dirty="0"/>
              <a:t>A. </a:t>
            </a:r>
            <a:r>
              <a:rPr lang="en-GB" sz="3200" b="1" dirty="0" err="1"/>
              <a:t>Thăm</a:t>
            </a:r>
            <a:r>
              <a:rPr lang="en-GB" sz="3200" b="1" dirty="0"/>
              <a:t> </a:t>
            </a:r>
            <a:r>
              <a:rPr lang="en-GB" sz="3200" b="1" dirty="0" err="1"/>
              <a:t>dò</a:t>
            </a:r>
            <a:endParaRPr lang="en-GB" sz="3200" b="1" dirty="0"/>
          </a:p>
          <a:p>
            <a:pPr algn="just"/>
            <a:r>
              <a:rPr lang="en-GB" sz="3200" b="1" dirty="0"/>
              <a:t>B. </a:t>
            </a:r>
            <a:r>
              <a:rPr lang="en-GB" sz="3200" b="1" dirty="0" err="1"/>
              <a:t>Kiểm</a:t>
            </a:r>
            <a:r>
              <a:rPr lang="en-GB" sz="3200" b="1" dirty="0"/>
              <a:t> </a:t>
            </a:r>
            <a:r>
              <a:rPr lang="en-GB" sz="3200" b="1" dirty="0" err="1"/>
              <a:t>định</a:t>
            </a:r>
            <a:r>
              <a:rPr lang="en-GB" sz="3200" b="1" dirty="0"/>
              <a:t> </a:t>
            </a:r>
            <a:r>
              <a:rPr lang="en-GB" sz="3200" b="1" dirty="0" err="1"/>
              <a:t>giả</a:t>
            </a:r>
            <a:r>
              <a:rPr lang="en-GB" sz="3200" b="1" dirty="0"/>
              <a:t> </a:t>
            </a:r>
            <a:r>
              <a:rPr lang="en-GB" sz="3200" b="1" dirty="0" err="1"/>
              <a:t>thuyết</a:t>
            </a:r>
            <a:endParaRPr lang="en-GB" sz="3200" b="1" dirty="0"/>
          </a:p>
          <a:p>
            <a:pPr algn="just"/>
            <a:r>
              <a:rPr lang="en-GB" sz="3200" b="1" dirty="0"/>
              <a:t>C. </a:t>
            </a:r>
            <a:r>
              <a:rPr lang="en-GB" sz="3200" b="1" dirty="0" err="1"/>
              <a:t>Thực</a:t>
            </a:r>
            <a:r>
              <a:rPr lang="en-GB" sz="3200" b="1" dirty="0"/>
              <a:t> </a:t>
            </a:r>
            <a:r>
              <a:rPr lang="en-GB" sz="3200" b="1" dirty="0" err="1"/>
              <a:t>nghiệm</a:t>
            </a:r>
            <a:endParaRPr lang="en-GB" sz="3200" b="1" dirty="0"/>
          </a:p>
          <a:p>
            <a:pPr algn="just"/>
            <a:r>
              <a:rPr lang="en-GB" sz="3200" b="1" dirty="0"/>
              <a:t>D. </a:t>
            </a:r>
            <a:r>
              <a:rPr lang="en-GB" sz="3200" b="1" dirty="0" err="1"/>
              <a:t>Chẩn</a:t>
            </a:r>
            <a:r>
              <a:rPr lang="en-GB" sz="3200" b="1" dirty="0"/>
              <a:t> </a:t>
            </a:r>
            <a:r>
              <a:rPr lang="en-GB" sz="3200" b="1" dirty="0" err="1"/>
              <a:t>đoán</a:t>
            </a:r>
            <a:endParaRPr lang="en-GB" sz="3200" b="1" dirty="0"/>
          </a:p>
          <a:p>
            <a:pPr algn="just"/>
            <a:r>
              <a:rPr lang="en-GB" sz="3200" b="1" dirty="0"/>
              <a:t>E. </a:t>
            </a:r>
            <a:r>
              <a:rPr lang="en-GB" sz="3200" b="1" dirty="0" err="1"/>
              <a:t>Mô</a:t>
            </a:r>
            <a:r>
              <a:rPr lang="en-GB" sz="3200" b="1" dirty="0"/>
              <a:t> </a:t>
            </a:r>
            <a:r>
              <a:rPr lang="en-GB" sz="3200" b="1" dirty="0" err="1"/>
              <a:t>tả</a:t>
            </a:r>
            <a:endParaRPr lang="en-GB" sz="3200" b="1" dirty="0"/>
          </a:p>
          <a:p>
            <a:pPr algn="just"/>
            <a:r>
              <a:rPr lang="vi-VN" sz="3200" b="1" dirty="0"/>
              <a:t>Đáp án: </a:t>
            </a:r>
            <a:r>
              <a:rPr lang="en-GB" sz="3200" b="1" dirty="0"/>
              <a:t>A. </a:t>
            </a:r>
            <a:r>
              <a:rPr lang="vi-VN" sz="3200" b="1" dirty="0"/>
              <a:t>Thăm dò.</a:t>
            </a:r>
            <a:endParaRPr lang="en-AU" sz="4000" b="1" dirty="0">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214484741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455F0-6A23-D5B2-3EC2-5E898468DB57}"/>
              </a:ext>
            </a:extLst>
          </p:cNvPr>
          <p:cNvSpPr>
            <a:spLocks noGrp="1"/>
          </p:cNvSpPr>
          <p:nvPr>
            <p:ph type="title"/>
          </p:nvPr>
        </p:nvSpPr>
        <p:spPr/>
        <p:txBody>
          <a:bodyPr>
            <a:noAutofit/>
          </a:bodyPr>
          <a:lstStyle/>
          <a:p>
            <a:r>
              <a:rPr lang="en-AU" sz="4800" b="1" dirty="0"/>
              <a:t>PHẦN 4: THIẾT KẾ THỰC NGHIỆM TRONG CNSH</a:t>
            </a:r>
            <a:endParaRPr lang="en-AU" sz="49600" b="1" dirty="0">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59701131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455F0-6A23-D5B2-3EC2-5E898468DB57}"/>
              </a:ext>
            </a:extLst>
          </p:cNvPr>
          <p:cNvSpPr>
            <a:spLocks noGrp="1"/>
          </p:cNvSpPr>
          <p:nvPr>
            <p:ph type="title"/>
          </p:nvPr>
        </p:nvSpPr>
        <p:spPr/>
        <p:txBody>
          <a:bodyPr>
            <a:noAutofit/>
          </a:bodyPr>
          <a:lstStyle/>
          <a:p>
            <a:r>
              <a:rPr lang="en-AU" sz="4000" b="1" dirty="0"/>
              <a:t>Ba </a:t>
            </a:r>
            <a:r>
              <a:rPr lang="en-AU" sz="4000" b="1" dirty="0" err="1"/>
              <a:t>nguyên</a:t>
            </a:r>
            <a:r>
              <a:rPr lang="en-AU" sz="4000" b="1" dirty="0"/>
              <a:t> </a:t>
            </a:r>
            <a:r>
              <a:rPr lang="en-AU" sz="4000" b="1" dirty="0" err="1"/>
              <a:t>tắc</a:t>
            </a:r>
            <a:r>
              <a:rPr lang="en-AU" sz="4000" b="1" dirty="0"/>
              <a:t> </a:t>
            </a:r>
            <a:r>
              <a:rPr lang="en-AU" sz="4000" b="1" dirty="0" err="1"/>
              <a:t>của</a:t>
            </a:r>
            <a:r>
              <a:rPr lang="en-AU" sz="4000" b="1" dirty="0"/>
              <a:t> Fisher (</a:t>
            </a:r>
            <a:r>
              <a:rPr lang="en-AU" sz="4000" b="1" dirty="0" err="1"/>
              <a:t>Cực</a:t>
            </a:r>
            <a:r>
              <a:rPr lang="en-AU" sz="4000" b="1" dirty="0"/>
              <a:t> </a:t>
            </a:r>
            <a:r>
              <a:rPr lang="en-AU" sz="4000" b="1" dirty="0" err="1"/>
              <a:t>kỳ</a:t>
            </a:r>
            <a:r>
              <a:rPr lang="en-AU" sz="4000" b="1" dirty="0"/>
              <a:t> </a:t>
            </a:r>
            <a:r>
              <a:rPr lang="en-AU" sz="4000" b="1" dirty="0" err="1"/>
              <a:t>quan</a:t>
            </a:r>
            <a:r>
              <a:rPr lang="en-AU" sz="4000" b="1" dirty="0"/>
              <a:t> </a:t>
            </a:r>
            <a:r>
              <a:rPr lang="en-AU" sz="4000" b="1" dirty="0" err="1"/>
              <a:t>trọng</a:t>
            </a:r>
            <a:r>
              <a:rPr lang="en-AU" sz="4000" b="1" dirty="0"/>
              <a:t>)</a:t>
            </a:r>
            <a:endParaRPr lang="en-AU" sz="34400" b="1"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3" name="Content Placeholder 2">
            <a:extLst>
              <a:ext uri="{FF2B5EF4-FFF2-40B4-BE49-F238E27FC236}">
                <a16:creationId xmlns:a16="http://schemas.microsoft.com/office/drawing/2014/main" id="{F10B2092-036B-85C5-5D03-9AC32C8303AB}"/>
              </a:ext>
            </a:extLst>
          </p:cNvPr>
          <p:cNvSpPr>
            <a:spLocks noGrp="1"/>
          </p:cNvSpPr>
          <p:nvPr>
            <p:ph idx="1"/>
          </p:nvPr>
        </p:nvSpPr>
        <p:spPr/>
        <p:txBody>
          <a:bodyPr>
            <a:noAutofit/>
          </a:bodyPr>
          <a:lstStyle/>
          <a:p>
            <a:pPr algn="just"/>
            <a:r>
              <a:rPr lang="vi-VN" sz="3200" b="1" dirty="0"/>
              <a:t>Lặp lại (Replication)</a:t>
            </a:r>
            <a:endParaRPr lang="en-GB" sz="3200" b="1" dirty="0"/>
          </a:p>
          <a:p>
            <a:pPr algn="just"/>
            <a:r>
              <a:rPr lang="vi-VN" sz="3200" b="1" dirty="0"/>
              <a:t>Ngẫu nhiên hóa (Randomization)</a:t>
            </a:r>
            <a:endParaRPr lang="en-GB" sz="3200" b="1" dirty="0"/>
          </a:p>
          <a:p>
            <a:pPr algn="just"/>
            <a:r>
              <a:rPr lang="vi-VN" sz="3200" b="1" dirty="0"/>
              <a:t>Kiểm soát cục bộ (Local Control)</a:t>
            </a:r>
            <a:endParaRPr lang="en-AU" sz="4000" b="1" dirty="0">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241166511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455F0-6A23-D5B2-3EC2-5E898468DB57}"/>
              </a:ext>
            </a:extLst>
          </p:cNvPr>
          <p:cNvSpPr>
            <a:spLocks noGrp="1"/>
          </p:cNvSpPr>
          <p:nvPr>
            <p:ph type="title"/>
          </p:nvPr>
        </p:nvSpPr>
        <p:spPr/>
        <p:txBody>
          <a:bodyPr>
            <a:noAutofit/>
          </a:bodyPr>
          <a:lstStyle/>
          <a:p>
            <a:r>
              <a:rPr lang="en-AU" sz="4800" b="1" dirty="0" err="1"/>
              <a:t>Nguyên</a:t>
            </a:r>
            <a:r>
              <a:rPr lang="en-AU" sz="4800" b="1" dirty="0"/>
              <a:t> </a:t>
            </a:r>
            <a:r>
              <a:rPr lang="en-AU" sz="4800" b="1" dirty="0" err="1"/>
              <a:t>tắc</a:t>
            </a:r>
            <a:r>
              <a:rPr lang="en-AU" sz="4800" b="1" dirty="0"/>
              <a:t> </a:t>
            </a:r>
            <a:r>
              <a:rPr lang="en-AU" sz="4800" b="1" dirty="0" err="1"/>
              <a:t>Lặp</a:t>
            </a:r>
            <a:r>
              <a:rPr lang="en-AU" sz="4800" b="1" dirty="0"/>
              <a:t> </a:t>
            </a:r>
            <a:r>
              <a:rPr lang="en-AU" sz="4800" b="1" dirty="0" err="1"/>
              <a:t>lại</a:t>
            </a:r>
            <a:endParaRPr lang="en-AU" sz="49600" b="1"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3" name="Content Placeholder 2">
            <a:extLst>
              <a:ext uri="{FF2B5EF4-FFF2-40B4-BE49-F238E27FC236}">
                <a16:creationId xmlns:a16="http://schemas.microsoft.com/office/drawing/2014/main" id="{F10B2092-036B-85C5-5D03-9AC32C8303AB}"/>
              </a:ext>
            </a:extLst>
          </p:cNvPr>
          <p:cNvSpPr>
            <a:spLocks noGrp="1"/>
          </p:cNvSpPr>
          <p:nvPr>
            <p:ph idx="1"/>
          </p:nvPr>
        </p:nvSpPr>
        <p:spPr/>
        <p:txBody>
          <a:bodyPr>
            <a:noAutofit/>
          </a:bodyPr>
          <a:lstStyle/>
          <a:p>
            <a:pPr algn="just"/>
            <a:r>
              <a:rPr lang="vi-VN" sz="3200" b="1" dirty="0"/>
              <a:t>Ví dụ: Không bao giờ kết luận chỉ sau 1 ống nghiệm. </a:t>
            </a:r>
            <a:endParaRPr lang="en-GB" sz="3200" b="1" dirty="0"/>
          </a:p>
          <a:p>
            <a:pPr algn="just"/>
            <a:r>
              <a:rPr lang="vi-VN" sz="3200" b="1" dirty="0"/>
              <a:t>Phải làm ít nhất 3 lần (triplicate) để tính độ lệch chuẩn.</a:t>
            </a:r>
            <a:endParaRPr lang="en-GB" sz="3200" b="1" dirty="0"/>
          </a:p>
          <a:p>
            <a:pPr algn="just"/>
            <a:r>
              <a:rPr lang="en-AU" sz="3200" b="1" dirty="0" err="1">
                <a:latin typeface="Calibri Light" panose="020F0302020204030204" pitchFamily="34" charset="0"/>
                <a:ea typeface="Calibri Light" panose="020F0302020204030204" pitchFamily="34" charset="0"/>
                <a:cs typeface="Calibri Light" panose="020F0302020204030204" pitchFamily="34" charset="0"/>
              </a:rPr>
              <a:t>Ví</a:t>
            </a:r>
            <a:r>
              <a:rPr lang="en-AU" sz="3200" b="1" dirty="0">
                <a:latin typeface="Calibri Light" panose="020F0302020204030204" pitchFamily="34" charset="0"/>
                <a:ea typeface="Calibri Light" panose="020F0302020204030204" pitchFamily="34" charset="0"/>
                <a:cs typeface="Calibri Light" panose="020F0302020204030204" pitchFamily="34" charset="0"/>
              </a:rPr>
              <a:t> </a:t>
            </a:r>
            <a:r>
              <a:rPr lang="en-AU" sz="3200" b="1" dirty="0" err="1">
                <a:latin typeface="Calibri Light" panose="020F0302020204030204" pitchFamily="34" charset="0"/>
                <a:ea typeface="Calibri Light" panose="020F0302020204030204" pitchFamily="34" charset="0"/>
                <a:cs typeface="Calibri Light" panose="020F0302020204030204" pitchFamily="34" charset="0"/>
              </a:rPr>
              <a:t>dụ</a:t>
            </a:r>
            <a:r>
              <a:rPr lang="en-AU" sz="3200" b="1" dirty="0">
                <a:latin typeface="Calibri Light" panose="020F0302020204030204" pitchFamily="34" charset="0"/>
                <a:ea typeface="Calibri Light" panose="020F0302020204030204" pitchFamily="34" charset="0"/>
                <a:cs typeface="Calibri Light" panose="020F0302020204030204" pitchFamily="34" charset="0"/>
              </a:rPr>
              <a:t>: </a:t>
            </a:r>
            <a:r>
              <a:rPr lang="en-AU" sz="3200" b="1" dirty="0" err="1">
                <a:latin typeface="Calibri Light" panose="020F0302020204030204" pitchFamily="34" charset="0"/>
                <a:ea typeface="Calibri Light" panose="020F0302020204030204" pitchFamily="34" charset="0"/>
                <a:cs typeface="Calibri Light" panose="020F0302020204030204" pitchFamily="34" charset="0"/>
              </a:rPr>
              <a:t>Nếu</a:t>
            </a:r>
            <a:r>
              <a:rPr lang="en-AU" sz="3200" b="1" dirty="0">
                <a:latin typeface="Calibri Light" panose="020F0302020204030204" pitchFamily="34" charset="0"/>
                <a:ea typeface="Calibri Light" panose="020F0302020204030204" pitchFamily="34" charset="0"/>
                <a:cs typeface="Calibri Light" panose="020F0302020204030204" pitchFamily="34" charset="0"/>
              </a:rPr>
              <a:t> </a:t>
            </a:r>
            <a:r>
              <a:rPr lang="en-AU" sz="3200" b="1" dirty="0" err="1">
                <a:latin typeface="Calibri Light" panose="020F0302020204030204" pitchFamily="34" charset="0"/>
                <a:ea typeface="Calibri Light" panose="020F0302020204030204" pitchFamily="34" charset="0"/>
                <a:cs typeface="Calibri Light" panose="020F0302020204030204" pitchFamily="34" charset="0"/>
              </a:rPr>
              <a:t>em</a:t>
            </a:r>
            <a:r>
              <a:rPr lang="en-AU" sz="3200" b="1" dirty="0">
                <a:latin typeface="Calibri Light" panose="020F0302020204030204" pitchFamily="34" charset="0"/>
                <a:ea typeface="Calibri Light" panose="020F0302020204030204" pitchFamily="34" charset="0"/>
                <a:cs typeface="Calibri Light" panose="020F0302020204030204" pitchFamily="34" charset="0"/>
              </a:rPr>
              <a:t> </a:t>
            </a:r>
            <a:r>
              <a:rPr lang="en-AU" sz="3200" b="1" dirty="0" err="1">
                <a:latin typeface="Calibri Light" panose="020F0302020204030204" pitchFamily="34" charset="0"/>
                <a:ea typeface="Calibri Light" panose="020F0302020204030204" pitchFamily="34" charset="0"/>
                <a:cs typeface="Calibri Light" panose="020F0302020204030204" pitchFamily="34" charset="0"/>
              </a:rPr>
              <a:t>chỉ</a:t>
            </a:r>
            <a:r>
              <a:rPr lang="en-AU" sz="3200" b="1" dirty="0">
                <a:latin typeface="Calibri Light" panose="020F0302020204030204" pitchFamily="34" charset="0"/>
                <a:ea typeface="Calibri Light" panose="020F0302020204030204" pitchFamily="34" charset="0"/>
                <a:cs typeface="Calibri Light" panose="020F0302020204030204" pitchFamily="34" charset="0"/>
              </a:rPr>
              <a:t> </a:t>
            </a:r>
            <a:r>
              <a:rPr lang="en-AU" sz="3200" b="1" dirty="0" err="1">
                <a:latin typeface="Calibri Light" panose="020F0302020204030204" pitchFamily="34" charset="0"/>
                <a:ea typeface="Calibri Light" panose="020F0302020204030204" pitchFamily="34" charset="0"/>
                <a:cs typeface="Calibri Light" panose="020F0302020204030204" pitchFamily="34" charset="0"/>
              </a:rPr>
              <a:t>cấy</a:t>
            </a:r>
            <a:r>
              <a:rPr lang="en-AU" sz="3200" b="1" dirty="0">
                <a:latin typeface="Calibri Light" panose="020F0302020204030204" pitchFamily="34" charset="0"/>
                <a:ea typeface="Calibri Light" panose="020F0302020204030204" pitchFamily="34" charset="0"/>
                <a:cs typeface="Calibri Light" panose="020F0302020204030204" pitchFamily="34" charset="0"/>
              </a:rPr>
              <a:t> 1 </a:t>
            </a:r>
            <a:r>
              <a:rPr lang="en-AU" sz="3200" b="1" dirty="0" err="1">
                <a:latin typeface="Calibri Light" panose="020F0302020204030204" pitchFamily="34" charset="0"/>
                <a:ea typeface="Calibri Light" panose="020F0302020204030204" pitchFamily="34" charset="0"/>
                <a:cs typeface="Calibri Light" panose="020F0302020204030204" pitchFamily="34" charset="0"/>
              </a:rPr>
              <a:t>đĩa</a:t>
            </a:r>
            <a:r>
              <a:rPr lang="en-AU" sz="3200" b="1" dirty="0">
                <a:latin typeface="Calibri Light" panose="020F0302020204030204" pitchFamily="34" charset="0"/>
                <a:ea typeface="Calibri Light" panose="020F0302020204030204" pitchFamily="34" charset="0"/>
                <a:cs typeface="Calibri Light" panose="020F0302020204030204" pitchFamily="34" charset="0"/>
              </a:rPr>
              <a:t> vi </a:t>
            </a:r>
            <a:r>
              <a:rPr lang="en-AU" sz="3200" b="1" dirty="0" err="1">
                <a:latin typeface="Calibri Light" panose="020F0302020204030204" pitchFamily="34" charset="0"/>
                <a:ea typeface="Calibri Light" panose="020F0302020204030204" pitchFamily="34" charset="0"/>
                <a:cs typeface="Calibri Light" panose="020F0302020204030204" pitchFamily="34" charset="0"/>
              </a:rPr>
              <a:t>khuẩn</a:t>
            </a:r>
            <a:r>
              <a:rPr lang="en-AU" sz="3200" b="1" dirty="0">
                <a:latin typeface="Calibri Light" panose="020F0302020204030204" pitchFamily="34" charset="0"/>
                <a:ea typeface="Calibri Light" panose="020F0302020204030204" pitchFamily="34" charset="0"/>
                <a:cs typeface="Calibri Light" panose="020F0302020204030204" pitchFamily="34" charset="0"/>
              </a:rPr>
              <a:t> </a:t>
            </a:r>
            <a:r>
              <a:rPr lang="en-AU" sz="3200" b="1" dirty="0" err="1">
                <a:latin typeface="Calibri Light" panose="020F0302020204030204" pitchFamily="34" charset="0"/>
                <a:ea typeface="Calibri Light" panose="020F0302020204030204" pitchFamily="34" charset="0"/>
                <a:cs typeface="Calibri Light" panose="020F0302020204030204" pitchFamily="34" charset="0"/>
              </a:rPr>
              <a:t>và</a:t>
            </a:r>
            <a:r>
              <a:rPr lang="en-AU" sz="3200" b="1" dirty="0">
                <a:latin typeface="Calibri Light" panose="020F0302020204030204" pitchFamily="34" charset="0"/>
                <a:ea typeface="Calibri Light" panose="020F0302020204030204" pitchFamily="34" charset="0"/>
                <a:cs typeface="Calibri Light" panose="020F0302020204030204" pitchFamily="34" charset="0"/>
              </a:rPr>
              <a:t> </a:t>
            </a:r>
            <a:r>
              <a:rPr lang="en-AU" sz="3200" b="1" dirty="0" err="1">
                <a:latin typeface="Calibri Light" panose="020F0302020204030204" pitchFamily="34" charset="0"/>
                <a:ea typeface="Calibri Light" panose="020F0302020204030204" pitchFamily="34" charset="0"/>
                <a:cs typeface="Calibri Light" panose="020F0302020204030204" pitchFamily="34" charset="0"/>
              </a:rPr>
              <a:t>thấy</a:t>
            </a:r>
            <a:r>
              <a:rPr lang="en-AU" sz="3200" b="1" dirty="0">
                <a:latin typeface="Calibri Light" panose="020F0302020204030204" pitchFamily="34" charset="0"/>
                <a:ea typeface="Calibri Light" panose="020F0302020204030204" pitchFamily="34" charset="0"/>
                <a:cs typeface="Calibri Light" panose="020F0302020204030204" pitchFamily="34" charset="0"/>
              </a:rPr>
              <a:t> </a:t>
            </a:r>
            <a:r>
              <a:rPr lang="en-AU" sz="3200" b="1" dirty="0" err="1">
                <a:latin typeface="Calibri Light" panose="020F0302020204030204" pitchFamily="34" charset="0"/>
                <a:ea typeface="Calibri Light" panose="020F0302020204030204" pitchFamily="34" charset="0"/>
                <a:cs typeface="Calibri Light" panose="020F0302020204030204" pitchFamily="34" charset="0"/>
              </a:rPr>
              <a:t>nó</a:t>
            </a:r>
            <a:r>
              <a:rPr lang="en-AU" sz="3200" b="1" dirty="0">
                <a:latin typeface="Calibri Light" panose="020F0302020204030204" pitchFamily="34" charset="0"/>
                <a:ea typeface="Calibri Light" panose="020F0302020204030204" pitchFamily="34" charset="0"/>
                <a:cs typeface="Calibri Light" panose="020F0302020204030204" pitchFamily="34" charset="0"/>
              </a:rPr>
              <a:t> </a:t>
            </a:r>
            <a:r>
              <a:rPr lang="en-AU" sz="3200" b="1" dirty="0" err="1">
                <a:latin typeface="Calibri Light" panose="020F0302020204030204" pitchFamily="34" charset="0"/>
                <a:ea typeface="Calibri Light" panose="020F0302020204030204" pitchFamily="34" charset="0"/>
                <a:cs typeface="Calibri Light" panose="020F0302020204030204" pitchFamily="34" charset="0"/>
              </a:rPr>
              <a:t>mọc</a:t>
            </a:r>
            <a:r>
              <a:rPr lang="en-AU" sz="3200" b="1" dirty="0">
                <a:latin typeface="Calibri Light" panose="020F0302020204030204" pitchFamily="34" charset="0"/>
                <a:ea typeface="Calibri Light" panose="020F0302020204030204" pitchFamily="34" charset="0"/>
                <a:cs typeface="Calibri Light" panose="020F0302020204030204" pitchFamily="34" charset="0"/>
              </a:rPr>
              <a:t>, </a:t>
            </a:r>
            <a:r>
              <a:rPr lang="en-AU" sz="3200" b="1" dirty="0" err="1">
                <a:latin typeface="Calibri Light" panose="020F0302020204030204" pitchFamily="34" charset="0"/>
                <a:ea typeface="Calibri Light" panose="020F0302020204030204" pitchFamily="34" charset="0"/>
                <a:cs typeface="Calibri Light" panose="020F0302020204030204" pitchFamily="34" charset="0"/>
              </a:rPr>
              <a:t>có</a:t>
            </a:r>
            <a:r>
              <a:rPr lang="en-AU" sz="3200" b="1" dirty="0">
                <a:latin typeface="Calibri Light" panose="020F0302020204030204" pitchFamily="34" charset="0"/>
                <a:ea typeface="Calibri Light" panose="020F0302020204030204" pitchFamily="34" charset="0"/>
                <a:cs typeface="Calibri Light" panose="020F0302020204030204" pitchFamily="34" charset="0"/>
              </a:rPr>
              <a:t> </a:t>
            </a:r>
            <a:r>
              <a:rPr lang="en-AU" sz="3200" b="1" dirty="0" err="1">
                <a:latin typeface="Calibri Light" panose="020F0302020204030204" pitchFamily="34" charset="0"/>
                <a:ea typeface="Calibri Light" panose="020F0302020204030204" pitchFamily="34" charset="0"/>
                <a:cs typeface="Calibri Light" panose="020F0302020204030204" pitchFamily="34" charset="0"/>
              </a:rPr>
              <a:t>thể</a:t>
            </a:r>
            <a:r>
              <a:rPr lang="en-AU" sz="3200" b="1" dirty="0">
                <a:latin typeface="Calibri Light" panose="020F0302020204030204" pitchFamily="34" charset="0"/>
                <a:ea typeface="Calibri Light" panose="020F0302020204030204" pitchFamily="34" charset="0"/>
                <a:cs typeface="Calibri Light" panose="020F0302020204030204" pitchFamily="34" charset="0"/>
              </a:rPr>
              <a:t> do </a:t>
            </a:r>
            <a:r>
              <a:rPr lang="en-AU" sz="3200" b="1" dirty="0" err="1">
                <a:latin typeface="Calibri Light" panose="020F0302020204030204" pitchFamily="34" charset="0"/>
                <a:ea typeface="Calibri Light" panose="020F0302020204030204" pitchFamily="34" charset="0"/>
                <a:cs typeface="Calibri Light" panose="020F0302020204030204" pitchFamily="34" charset="0"/>
              </a:rPr>
              <a:t>đĩa</a:t>
            </a:r>
            <a:r>
              <a:rPr lang="en-AU" sz="3200" b="1" dirty="0">
                <a:latin typeface="Calibri Light" panose="020F0302020204030204" pitchFamily="34" charset="0"/>
                <a:ea typeface="Calibri Light" panose="020F0302020204030204" pitchFamily="34" charset="0"/>
                <a:cs typeface="Calibri Light" panose="020F0302020204030204" pitchFamily="34" charset="0"/>
              </a:rPr>
              <a:t> </a:t>
            </a:r>
            <a:r>
              <a:rPr lang="en-AU" sz="3200" b="1" dirty="0" err="1">
                <a:latin typeface="Calibri Light" panose="020F0302020204030204" pitchFamily="34" charset="0"/>
                <a:ea typeface="Calibri Light" panose="020F0302020204030204" pitchFamily="34" charset="0"/>
                <a:cs typeface="Calibri Light" panose="020F0302020204030204" pitchFamily="34" charset="0"/>
              </a:rPr>
              <a:t>đó</a:t>
            </a:r>
            <a:r>
              <a:rPr lang="en-AU" sz="3200" b="1" dirty="0">
                <a:latin typeface="Calibri Light" panose="020F0302020204030204" pitchFamily="34" charset="0"/>
                <a:ea typeface="Calibri Light" panose="020F0302020204030204" pitchFamily="34" charset="0"/>
                <a:cs typeface="Calibri Light" panose="020F0302020204030204" pitchFamily="34" charset="0"/>
              </a:rPr>
              <a:t> </a:t>
            </a:r>
            <a:r>
              <a:rPr lang="en-AU" sz="3200" b="1" dirty="0" err="1">
                <a:latin typeface="Calibri Light" panose="020F0302020204030204" pitchFamily="34" charset="0"/>
                <a:ea typeface="Calibri Light" panose="020F0302020204030204" pitchFamily="34" charset="0"/>
                <a:cs typeface="Calibri Light" panose="020F0302020204030204" pitchFamily="34" charset="0"/>
              </a:rPr>
              <a:t>vô</a:t>
            </a:r>
            <a:r>
              <a:rPr lang="en-AU" sz="3200" b="1" dirty="0">
                <a:latin typeface="Calibri Light" panose="020F0302020204030204" pitchFamily="34" charset="0"/>
                <a:ea typeface="Calibri Light" panose="020F0302020204030204" pitchFamily="34" charset="0"/>
                <a:cs typeface="Calibri Light" panose="020F0302020204030204" pitchFamily="34" charset="0"/>
              </a:rPr>
              <a:t> </a:t>
            </a:r>
            <a:r>
              <a:rPr lang="en-AU" sz="3200" b="1" dirty="0" err="1">
                <a:latin typeface="Calibri Light" panose="020F0302020204030204" pitchFamily="34" charset="0"/>
                <a:ea typeface="Calibri Light" panose="020F0302020204030204" pitchFamily="34" charset="0"/>
                <a:cs typeface="Calibri Light" panose="020F0302020204030204" pitchFamily="34" charset="0"/>
              </a:rPr>
              <a:t>tình</a:t>
            </a:r>
            <a:r>
              <a:rPr lang="en-AU" sz="3200" b="1" dirty="0">
                <a:latin typeface="Calibri Light" panose="020F0302020204030204" pitchFamily="34" charset="0"/>
                <a:ea typeface="Calibri Light" panose="020F0302020204030204" pitchFamily="34" charset="0"/>
                <a:cs typeface="Calibri Light" panose="020F0302020204030204" pitchFamily="34" charset="0"/>
              </a:rPr>
              <a:t> </a:t>
            </a:r>
            <a:r>
              <a:rPr lang="en-AU" sz="3200" b="1" dirty="0" err="1">
                <a:latin typeface="Calibri Light" panose="020F0302020204030204" pitchFamily="34" charset="0"/>
                <a:ea typeface="Calibri Light" panose="020F0302020204030204" pitchFamily="34" charset="0"/>
                <a:cs typeface="Calibri Light" panose="020F0302020204030204" pitchFamily="34" charset="0"/>
              </a:rPr>
              <a:t>nhiễm</a:t>
            </a:r>
            <a:r>
              <a:rPr lang="en-AU" sz="3200" b="1" dirty="0">
                <a:latin typeface="Calibri Light" panose="020F0302020204030204" pitchFamily="34" charset="0"/>
                <a:ea typeface="Calibri Light" panose="020F0302020204030204" pitchFamily="34" charset="0"/>
                <a:cs typeface="Calibri Light" panose="020F0302020204030204" pitchFamily="34" charset="0"/>
              </a:rPr>
              <a:t> </a:t>
            </a:r>
            <a:r>
              <a:rPr lang="en-AU" sz="3200" b="1" dirty="0" err="1">
                <a:latin typeface="Calibri Light" panose="020F0302020204030204" pitchFamily="34" charset="0"/>
                <a:ea typeface="Calibri Light" panose="020F0302020204030204" pitchFamily="34" charset="0"/>
                <a:cs typeface="Calibri Light" panose="020F0302020204030204" pitchFamily="34" charset="0"/>
              </a:rPr>
              <a:t>bẩn</a:t>
            </a:r>
            <a:r>
              <a:rPr lang="en-AU" sz="3200" b="1" dirty="0">
                <a:latin typeface="Calibri Light" panose="020F0302020204030204" pitchFamily="34" charset="0"/>
                <a:ea typeface="Calibri Light" panose="020F0302020204030204" pitchFamily="34" charset="0"/>
                <a:cs typeface="Calibri Light" panose="020F0302020204030204" pitchFamily="34" charset="0"/>
              </a:rPr>
              <a:t>. </a:t>
            </a:r>
            <a:r>
              <a:rPr lang="en-AU" sz="3200" b="1" dirty="0" err="1">
                <a:latin typeface="Calibri Light" panose="020F0302020204030204" pitchFamily="34" charset="0"/>
                <a:ea typeface="Calibri Light" panose="020F0302020204030204" pitchFamily="34" charset="0"/>
                <a:cs typeface="Calibri Light" panose="020F0302020204030204" pitchFamily="34" charset="0"/>
              </a:rPr>
              <a:t>Nếu</a:t>
            </a:r>
            <a:r>
              <a:rPr lang="en-AU" sz="3200" b="1" dirty="0">
                <a:latin typeface="Calibri Light" panose="020F0302020204030204" pitchFamily="34" charset="0"/>
                <a:ea typeface="Calibri Light" panose="020F0302020204030204" pitchFamily="34" charset="0"/>
                <a:cs typeface="Calibri Light" panose="020F0302020204030204" pitchFamily="34" charset="0"/>
              </a:rPr>
              <a:t> </a:t>
            </a:r>
            <a:r>
              <a:rPr lang="en-AU" sz="3200" b="1" dirty="0" err="1">
                <a:latin typeface="Calibri Light" panose="020F0302020204030204" pitchFamily="34" charset="0"/>
                <a:ea typeface="Calibri Light" panose="020F0302020204030204" pitchFamily="34" charset="0"/>
                <a:cs typeface="Calibri Light" panose="020F0302020204030204" pitchFamily="34" charset="0"/>
              </a:rPr>
              <a:t>em</a:t>
            </a:r>
            <a:r>
              <a:rPr lang="en-AU" sz="3200" b="1" dirty="0">
                <a:latin typeface="Calibri Light" panose="020F0302020204030204" pitchFamily="34" charset="0"/>
                <a:ea typeface="Calibri Light" panose="020F0302020204030204" pitchFamily="34" charset="0"/>
                <a:cs typeface="Calibri Light" panose="020F0302020204030204" pitchFamily="34" charset="0"/>
              </a:rPr>
              <a:t> </a:t>
            </a:r>
            <a:r>
              <a:rPr lang="en-AU" sz="3200" b="1" dirty="0" err="1">
                <a:latin typeface="Calibri Light" panose="020F0302020204030204" pitchFamily="34" charset="0"/>
                <a:ea typeface="Calibri Light" panose="020F0302020204030204" pitchFamily="34" charset="0"/>
                <a:cs typeface="Calibri Light" panose="020F0302020204030204" pitchFamily="34" charset="0"/>
              </a:rPr>
              <a:t>làm</a:t>
            </a:r>
            <a:r>
              <a:rPr lang="en-AU" sz="3200" b="1" dirty="0">
                <a:latin typeface="Calibri Light" panose="020F0302020204030204" pitchFamily="34" charset="0"/>
                <a:ea typeface="Calibri Light" panose="020F0302020204030204" pitchFamily="34" charset="0"/>
                <a:cs typeface="Calibri Light" panose="020F0302020204030204" pitchFamily="34" charset="0"/>
              </a:rPr>
              <a:t> 3 </a:t>
            </a:r>
            <a:r>
              <a:rPr lang="en-AU" sz="3200" b="1" dirty="0" err="1">
                <a:latin typeface="Calibri Light" panose="020F0302020204030204" pitchFamily="34" charset="0"/>
                <a:ea typeface="Calibri Light" panose="020F0302020204030204" pitchFamily="34" charset="0"/>
                <a:cs typeface="Calibri Light" panose="020F0302020204030204" pitchFamily="34" charset="0"/>
              </a:rPr>
              <a:t>đĩa</a:t>
            </a:r>
            <a:r>
              <a:rPr lang="en-AU" sz="3200" b="1" dirty="0">
                <a:latin typeface="Calibri Light" panose="020F0302020204030204" pitchFamily="34" charset="0"/>
                <a:ea typeface="Calibri Light" panose="020F0302020204030204" pitchFamily="34" charset="0"/>
                <a:cs typeface="Calibri Light" panose="020F0302020204030204" pitchFamily="34" charset="0"/>
              </a:rPr>
              <a:t> (triplicate) </a:t>
            </a:r>
            <a:r>
              <a:rPr lang="en-AU" sz="3200" b="1" dirty="0" err="1">
                <a:latin typeface="Calibri Light" panose="020F0302020204030204" pitchFamily="34" charset="0"/>
                <a:ea typeface="Calibri Light" panose="020F0302020204030204" pitchFamily="34" charset="0"/>
                <a:cs typeface="Calibri Light" panose="020F0302020204030204" pitchFamily="34" charset="0"/>
              </a:rPr>
              <a:t>và</a:t>
            </a:r>
            <a:r>
              <a:rPr lang="en-AU" sz="3200" b="1" dirty="0">
                <a:latin typeface="Calibri Light" panose="020F0302020204030204" pitchFamily="34" charset="0"/>
                <a:ea typeface="Calibri Light" panose="020F0302020204030204" pitchFamily="34" charset="0"/>
                <a:cs typeface="Calibri Light" panose="020F0302020204030204" pitchFamily="34" charset="0"/>
              </a:rPr>
              <a:t> </a:t>
            </a:r>
            <a:r>
              <a:rPr lang="en-AU" sz="3200" b="1" dirty="0" err="1">
                <a:latin typeface="Calibri Light" panose="020F0302020204030204" pitchFamily="34" charset="0"/>
                <a:ea typeface="Calibri Light" panose="020F0302020204030204" pitchFamily="34" charset="0"/>
                <a:cs typeface="Calibri Light" panose="020F0302020204030204" pitchFamily="34" charset="0"/>
              </a:rPr>
              <a:t>cả</a:t>
            </a:r>
            <a:r>
              <a:rPr lang="en-AU" sz="3200" b="1" dirty="0">
                <a:latin typeface="Calibri Light" panose="020F0302020204030204" pitchFamily="34" charset="0"/>
                <a:ea typeface="Calibri Light" panose="020F0302020204030204" pitchFamily="34" charset="0"/>
                <a:cs typeface="Calibri Light" panose="020F0302020204030204" pitchFamily="34" charset="0"/>
              </a:rPr>
              <a:t> 3 </a:t>
            </a:r>
            <a:r>
              <a:rPr lang="en-AU" sz="3200" b="1" dirty="0" err="1">
                <a:latin typeface="Calibri Light" panose="020F0302020204030204" pitchFamily="34" charset="0"/>
                <a:ea typeface="Calibri Light" panose="020F0302020204030204" pitchFamily="34" charset="0"/>
                <a:cs typeface="Calibri Light" panose="020F0302020204030204" pitchFamily="34" charset="0"/>
              </a:rPr>
              <a:t>đều</a:t>
            </a:r>
            <a:r>
              <a:rPr lang="en-AU" sz="3200" b="1" dirty="0">
                <a:latin typeface="Calibri Light" panose="020F0302020204030204" pitchFamily="34" charset="0"/>
                <a:ea typeface="Calibri Light" panose="020F0302020204030204" pitchFamily="34" charset="0"/>
                <a:cs typeface="Calibri Light" panose="020F0302020204030204" pitchFamily="34" charset="0"/>
              </a:rPr>
              <a:t> </a:t>
            </a:r>
            <a:r>
              <a:rPr lang="en-AU" sz="3200" b="1" dirty="0" err="1">
                <a:latin typeface="Calibri Light" panose="020F0302020204030204" pitchFamily="34" charset="0"/>
                <a:ea typeface="Calibri Light" panose="020F0302020204030204" pitchFamily="34" charset="0"/>
                <a:cs typeface="Calibri Light" panose="020F0302020204030204" pitchFamily="34" charset="0"/>
              </a:rPr>
              <a:t>mọc</a:t>
            </a:r>
            <a:r>
              <a:rPr lang="en-AU" sz="3200" b="1" dirty="0">
                <a:latin typeface="Calibri Light" panose="020F0302020204030204" pitchFamily="34" charset="0"/>
                <a:ea typeface="Calibri Light" panose="020F0302020204030204" pitchFamily="34" charset="0"/>
                <a:cs typeface="Calibri Light" panose="020F0302020204030204" pitchFamily="34" charset="0"/>
              </a:rPr>
              <a:t> </a:t>
            </a:r>
            <a:r>
              <a:rPr lang="en-AU" sz="3200" b="1" dirty="0" err="1">
                <a:latin typeface="Calibri Light" panose="020F0302020204030204" pitchFamily="34" charset="0"/>
                <a:ea typeface="Calibri Light" panose="020F0302020204030204" pitchFamily="34" charset="0"/>
                <a:cs typeface="Calibri Light" panose="020F0302020204030204" pitchFamily="34" charset="0"/>
              </a:rPr>
              <a:t>giống</a:t>
            </a:r>
            <a:r>
              <a:rPr lang="en-AU" sz="3200" b="1" dirty="0">
                <a:latin typeface="Calibri Light" panose="020F0302020204030204" pitchFamily="34" charset="0"/>
                <a:ea typeface="Calibri Light" panose="020F0302020204030204" pitchFamily="34" charset="0"/>
                <a:cs typeface="Calibri Light" panose="020F0302020204030204" pitchFamily="34" charset="0"/>
              </a:rPr>
              <a:t> </a:t>
            </a:r>
            <a:r>
              <a:rPr lang="en-AU" sz="3200" b="1" dirty="0" err="1">
                <a:latin typeface="Calibri Light" panose="020F0302020204030204" pitchFamily="34" charset="0"/>
                <a:ea typeface="Calibri Light" panose="020F0302020204030204" pitchFamily="34" charset="0"/>
                <a:cs typeface="Calibri Light" panose="020F0302020204030204" pitchFamily="34" charset="0"/>
              </a:rPr>
              <a:t>nhau</a:t>
            </a:r>
            <a:r>
              <a:rPr lang="en-AU" sz="3200" b="1" dirty="0">
                <a:latin typeface="Calibri Light" panose="020F0302020204030204" pitchFamily="34" charset="0"/>
                <a:ea typeface="Calibri Light" panose="020F0302020204030204" pitchFamily="34" charset="0"/>
                <a:cs typeface="Calibri Light" panose="020F0302020204030204" pitchFamily="34" charset="0"/>
              </a:rPr>
              <a:t>, </a:t>
            </a:r>
            <a:r>
              <a:rPr lang="en-AU" sz="3200" b="1" dirty="0" err="1">
                <a:latin typeface="Calibri Light" panose="020F0302020204030204" pitchFamily="34" charset="0"/>
                <a:ea typeface="Calibri Light" panose="020F0302020204030204" pitchFamily="34" charset="0"/>
                <a:cs typeface="Calibri Light" panose="020F0302020204030204" pitchFamily="34" charset="0"/>
              </a:rPr>
              <a:t>dữ</a:t>
            </a:r>
            <a:r>
              <a:rPr lang="en-AU" sz="3200" b="1" dirty="0">
                <a:latin typeface="Calibri Light" panose="020F0302020204030204" pitchFamily="34" charset="0"/>
                <a:ea typeface="Calibri Light" panose="020F0302020204030204" pitchFamily="34" charset="0"/>
                <a:cs typeface="Calibri Light" panose="020F0302020204030204" pitchFamily="34" charset="0"/>
              </a:rPr>
              <a:t> </a:t>
            </a:r>
            <a:r>
              <a:rPr lang="en-AU" sz="3200" b="1" dirty="0" err="1">
                <a:latin typeface="Calibri Light" panose="020F0302020204030204" pitchFamily="34" charset="0"/>
                <a:ea typeface="Calibri Light" panose="020F0302020204030204" pitchFamily="34" charset="0"/>
                <a:cs typeface="Calibri Light" panose="020F0302020204030204" pitchFamily="34" charset="0"/>
              </a:rPr>
              <a:t>liệu</a:t>
            </a:r>
            <a:r>
              <a:rPr lang="en-AU" sz="3200" b="1" dirty="0">
                <a:latin typeface="Calibri Light" panose="020F0302020204030204" pitchFamily="34" charset="0"/>
                <a:ea typeface="Calibri Light" panose="020F0302020204030204" pitchFamily="34" charset="0"/>
                <a:cs typeface="Calibri Light" panose="020F0302020204030204" pitchFamily="34" charset="0"/>
              </a:rPr>
              <a:t> </a:t>
            </a:r>
            <a:r>
              <a:rPr lang="en-AU" sz="3200" b="1" dirty="0" err="1">
                <a:latin typeface="Calibri Light" panose="020F0302020204030204" pitchFamily="34" charset="0"/>
                <a:ea typeface="Calibri Light" panose="020F0302020204030204" pitchFamily="34" charset="0"/>
                <a:cs typeface="Calibri Light" panose="020F0302020204030204" pitchFamily="34" charset="0"/>
              </a:rPr>
              <a:t>của</a:t>
            </a:r>
            <a:r>
              <a:rPr lang="en-AU" sz="3200" b="1" dirty="0">
                <a:latin typeface="Calibri Light" panose="020F0302020204030204" pitchFamily="34" charset="0"/>
                <a:ea typeface="Calibri Light" panose="020F0302020204030204" pitchFamily="34" charset="0"/>
                <a:cs typeface="Calibri Light" panose="020F0302020204030204" pitchFamily="34" charset="0"/>
              </a:rPr>
              <a:t> </a:t>
            </a:r>
            <a:r>
              <a:rPr lang="en-AU" sz="3200" b="1" dirty="0" err="1">
                <a:latin typeface="Calibri Light" panose="020F0302020204030204" pitchFamily="34" charset="0"/>
                <a:ea typeface="Calibri Light" panose="020F0302020204030204" pitchFamily="34" charset="0"/>
                <a:cs typeface="Calibri Light" panose="020F0302020204030204" pitchFamily="34" charset="0"/>
              </a:rPr>
              <a:t>em</a:t>
            </a:r>
            <a:r>
              <a:rPr lang="en-AU" sz="3200" b="1" dirty="0">
                <a:latin typeface="Calibri Light" panose="020F0302020204030204" pitchFamily="34" charset="0"/>
                <a:ea typeface="Calibri Light" panose="020F0302020204030204" pitchFamily="34" charset="0"/>
                <a:cs typeface="Calibri Light" panose="020F0302020204030204" pitchFamily="34" charset="0"/>
              </a:rPr>
              <a:t> </a:t>
            </a:r>
            <a:r>
              <a:rPr lang="en-AU" sz="3200" b="1" dirty="0" err="1">
                <a:latin typeface="Calibri Light" panose="020F0302020204030204" pitchFamily="34" charset="0"/>
                <a:ea typeface="Calibri Light" panose="020F0302020204030204" pitchFamily="34" charset="0"/>
                <a:cs typeface="Calibri Light" panose="020F0302020204030204" pitchFamily="34" charset="0"/>
              </a:rPr>
              <a:t>mới</a:t>
            </a:r>
            <a:r>
              <a:rPr lang="en-AU" sz="3200" b="1" dirty="0">
                <a:latin typeface="Calibri Light" panose="020F0302020204030204" pitchFamily="34" charset="0"/>
                <a:ea typeface="Calibri Light" panose="020F0302020204030204" pitchFamily="34" charset="0"/>
                <a:cs typeface="Calibri Light" panose="020F0302020204030204" pitchFamily="34" charset="0"/>
              </a:rPr>
              <a:t> </a:t>
            </a:r>
            <a:r>
              <a:rPr lang="en-AU" sz="3200" b="1" dirty="0" err="1">
                <a:latin typeface="Calibri Light" panose="020F0302020204030204" pitchFamily="34" charset="0"/>
                <a:ea typeface="Calibri Light" panose="020F0302020204030204" pitchFamily="34" charset="0"/>
                <a:cs typeface="Calibri Light" panose="020F0302020204030204" pitchFamily="34" charset="0"/>
              </a:rPr>
              <a:t>có</a:t>
            </a:r>
            <a:r>
              <a:rPr lang="en-AU" sz="3200" b="1" dirty="0">
                <a:latin typeface="Calibri Light" panose="020F0302020204030204" pitchFamily="34" charset="0"/>
                <a:ea typeface="Calibri Light" panose="020F0302020204030204" pitchFamily="34" charset="0"/>
                <a:cs typeface="Calibri Light" panose="020F0302020204030204" pitchFamily="34" charset="0"/>
              </a:rPr>
              <a:t> </a:t>
            </a:r>
            <a:r>
              <a:rPr lang="en-AU" sz="3200" b="1" dirty="0" err="1">
                <a:latin typeface="Calibri Light" panose="020F0302020204030204" pitchFamily="34" charset="0"/>
                <a:ea typeface="Calibri Light" panose="020F0302020204030204" pitchFamily="34" charset="0"/>
                <a:cs typeface="Calibri Light" panose="020F0302020204030204" pitchFamily="34" charset="0"/>
              </a:rPr>
              <a:t>giá</a:t>
            </a:r>
            <a:r>
              <a:rPr lang="en-AU" sz="3200" b="1" dirty="0">
                <a:latin typeface="Calibri Light" panose="020F0302020204030204" pitchFamily="34" charset="0"/>
                <a:ea typeface="Calibri Light" panose="020F0302020204030204" pitchFamily="34" charset="0"/>
                <a:cs typeface="Calibri Light" panose="020F0302020204030204" pitchFamily="34" charset="0"/>
              </a:rPr>
              <a:t> </a:t>
            </a:r>
            <a:r>
              <a:rPr lang="en-AU" sz="3200" b="1" dirty="0" err="1">
                <a:latin typeface="Calibri Light" panose="020F0302020204030204" pitchFamily="34" charset="0"/>
                <a:ea typeface="Calibri Light" panose="020F0302020204030204" pitchFamily="34" charset="0"/>
                <a:cs typeface="Calibri Light" panose="020F0302020204030204" pitchFamily="34" charset="0"/>
              </a:rPr>
              <a:t>trị</a:t>
            </a:r>
            <a:r>
              <a:rPr lang="en-AU" sz="3200" b="1" dirty="0">
                <a:latin typeface="Calibri Light" panose="020F0302020204030204" pitchFamily="34" charset="0"/>
                <a:ea typeface="Calibri Light" panose="020F0302020204030204" pitchFamily="34" charset="0"/>
                <a:cs typeface="Calibri Light" panose="020F0302020204030204" pitchFamily="34" charset="0"/>
              </a:rPr>
              <a:t> khoa </a:t>
            </a:r>
            <a:r>
              <a:rPr lang="en-AU" sz="3200" b="1" dirty="0" err="1">
                <a:latin typeface="Calibri Light" panose="020F0302020204030204" pitchFamily="34" charset="0"/>
                <a:ea typeface="Calibri Light" panose="020F0302020204030204" pitchFamily="34" charset="0"/>
                <a:cs typeface="Calibri Light" panose="020F0302020204030204" pitchFamily="34" charset="0"/>
              </a:rPr>
              <a:t>học</a:t>
            </a:r>
            <a:r>
              <a:rPr lang="en-AU" sz="3200" b="1" dirty="0">
                <a:latin typeface="Calibri Light" panose="020F0302020204030204" pitchFamily="34" charset="0"/>
                <a:ea typeface="Calibri Light" panose="020F0302020204030204" pitchFamily="34" charset="0"/>
                <a:cs typeface="Calibri Light" panose="020F0302020204030204" pitchFamily="34" charset="0"/>
              </a:rPr>
              <a:t>.</a:t>
            </a:r>
          </a:p>
        </p:txBody>
      </p:sp>
    </p:spTree>
    <p:extLst>
      <p:ext uri="{BB962C8B-B14F-4D97-AF65-F5344CB8AC3E}">
        <p14:creationId xmlns:p14="http://schemas.microsoft.com/office/powerpoint/2010/main" val="138557689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455F0-6A23-D5B2-3EC2-5E898468DB57}"/>
              </a:ext>
            </a:extLst>
          </p:cNvPr>
          <p:cNvSpPr>
            <a:spLocks noGrp="1"/>
          </p:cNvSpPr>
          <p:nvPr>
            <p:ph type="title"/>
          </p:nvPr>
        </p:nvSpPr>
        <p:spPr/>
        <p:txBody>
          <a:bodyPr>
            <a:noAutofit/>
          </a:bodyPr>
          <a:lstStyle/>
          <a:p>
            <a:r>
              <a:rPr lang="en-AU" sz="4800" b="1" dirty="0" err="1"/>
              <a:t>Nguyên</a:t>
            </a:r>
            <a:r>
              <a:rPr lang="en-AU" sz="4800" b="1" dirty="0"/>
              <a:t> </a:t>
            </a:r>
            <a:r>
              <a:rPr lang="en-AU" sz="4800" b="1" dirty="0" err="1"/>
              <a:t>tắc</a:t>
            </a:r>
            <a:r>
              <a:rPr lang="en-AU" sz="4800" b="1" dirty="0"/>
              <a:t> </a:t>
            </a:r>
            <a:r>
              <a:rPr lang="en-AU" sz="4800" b="1" dirty="0" err="1"/>
              <a:t>Ngẫu</a:t>
            </a:r>
            <a:r>
              <a:rPr lang="en-AU" sz="4800" b="1" dirty="0"/>
              <a:t> </a:t>
            </a:r>
            <a:r>
              <a:rPr lang="en-AU" sz="4800" b="1" dirty="0" err="1"/>
              <a:t>nhiên</a:t>
            </a:r>
            <a:r>
              <a:rPr lang="en-AU" sz="4800" b="1" dirty="0"/>
              <a:t> </a:t>
            </a:r>
            <a:r>
              <a:rPr lang="en-AU" sz="4800" b="1" dirty="0" err="1"/>
              <a:t>hóa</a:t>
            </a:r>
            <a:endParaRPr lang="en-AU" sz="49600" b="1"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3" name="Content Placeholder 2">
            <a:extLst>
              <a:ext uri="{FF2B5EF4-FFF2-40B4-BE49-F238E27FC236}">
                <a16:creationId xmlns:a16="http://schemas.microsoft.com/office/drawing/2014/main" id="{F10B2092-036B-85C5-5D03-9AC32C8303AB}"/>
              </a:ext>
            </a:extLst>
          </p:cNvPr>
          <p:cNvSpPr>
            <a:spLocks noGrp="1"/>
          </p:cNvSpPr>
          <p:nvPr>
            <p:ph idx="1"/>
          </p:nvPr>
        </p:nvSpPr>
        <p:spPr/>
        <p:txBody>
          <a:bodyPr>
            <a:noAutofit/>
          </a:bodyPr>
          <a:lstStyle/>
          <a:p>
            <a:pPr algn="just"/>
            <a:r>
              <a:rPr lang="vi-VN" sz="3200" b="1" dirty="0"/>
              <a:t>Ví dụ: Khi thử thuốc trên chuột, phải bốc thăm chuột vào nhóm đối chứng/thực nghiệm một cách ngẫu nhiên.</a:t>
            </a:r>
            <a:endParaRPr lang="en-GB" sz="3200" b="1" dirty="0"/>
          </a:p>
          <a:p>
            <a:pPr algn="just"/>
            <a:r>
              <a:rPr lang="vi-VN" sz="3200" b="1" dirty="0">
                <a:latin typeface="Calibri Light" panose="020F0302020204030204" pitchFamily="34" charset="0"/>
                <a:ea typeface="Calibri Light" panose="020F0302020204030204" pitchFamily="34" charset="0"/>
                <a:cs typeface="Calibri Light" panose="020F0302020204030204" pitchFamily="34" charset="0"/>
              </a:rPr>
              <a:t>Ví dụ: Thử nghiệm giống ngô biến đổi gene trên một cánh đồng lớn. Do đất ở đầu cánh đồng màu mỡ hơn cuối cánh đồng, ta chia cánh đồng thành các "khối" (Blocks). Trong mỗi khối, ta trồng ngẫu nhiên cả giống mới và giống cũ. Như vậy, sự khác biệt về độ phì của đất (biến nhiễu) sẽ được kiểm soát.</a:t>
            </a:r>
            <a:endParaRPr lang="en-AU" sz="3200" b="1" dirty="0">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298780572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455F0-6A23-D5B2-3EC2-5E898468DB57}"/>
              </a:ext>
            </a:extLst>
          </p:cNvPr>
          <p:cNvSpPr>
            <a:spLocks noGrp="1"/>
          </p:cNvSpPr>
          <p:nvPr>
            <p:ph type="title"/>
          </p:nvPr>
        </p:nvSpPr>
        <p:spPr/>
        <p:txBody>
          <a:bodyPr>
            <a:noAutofit/>
          </a:bodyPr>
          <a:lstStyle/>
          <a:p>
            <a:r>
              <a:rPr lang="en-AU" sz="4800" b="1" dirty="0" err="1"/>
              <a:t>Nguyên</a:t>
            </a:r>
            <a:r>
              <a:rPr lang="en-AU" sz="4800" b="1" dirty="0"/>
              <a:t> </a:t>
            </a:r>
            <a:r>
              <a:rPr lang="en-AU" sz="4800" b="1" dirty="0" err="1"/>
              <a:t>tắc</a:t>
            </a:r>
            <a:r>
              <a:rPr lang="en-AU" sz="4800" b="1" dirty="0"/>
              <a:t> </a:t>
            </a:r>
            <a:r>
              <a:rPr lang="en-AU" sz="4800" b="1" dirty="0" err="1"/>
              <a:t>Kiểm</a:t>
            </a:r>
            <a:r>
              <a:rPr lang="en-AU" sz="4800" b="1" dirty="0"/>
              <a:t> </a:t>
            </a:r>
            <a:r>
              <a:rPr lang="en-AU" sz="4800" b="1" dirty="0" err="1"/>
              <a:t>soát</a:t>
            </a:r>
            <a:r>
              <a:rPr lang="en-AU" sz="4800" b="1" dirty="0"/>
              <a:t> </a:t>
            </a:r>
            <a:r>
              <a:rPr lang="en-AU" sz="4800" b="1" dirty="0" err="1"/>
              <a:t>cục</a:t>
            </a:r>
            <a:r>
              <a:rPr lang="en-AU" sz="4800" b="1" dirty="0"/>
              <a:t> </a:t>
            </a:r>
            <a:r>
              <a:rPr lang="en-AU" sz="4800" b="1" dirty="0" err="1"/>
              <a:t>bộ</a:t>
            </a:r>
            <a:endParaRPr lang="en-AU" sz="49600" b="1"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3" name="Content Placeholder 2">
            <a:extLst>
              <a:ext uri="{FF2B5EF4-FFF2-40B4-BE49-F238E27FC236}">
                <a16:creationId xmlns:a16="http://schemas.microsoft.com/office/drawing/2014/main" id="{F10B2092-036B-85C5-5D03-9AC32C8303AB}"/>
              </a:ext>
            </a:extLst>
          </p:cNvPr>
          <p:cNvSpPr>
            <a:spLocks noGrp="1"/>
          </p:cNvSpPr>
          <p:nvPr>
            <p:ph idx="1"/>
          </p:nvPr>
        </p:nvSpPr>
        <p:spPr/>
        <p:txBody>
          <a:bodyPr>
            <a:noAutofit/>
          </a:bodyPr>
          <a:lstStyle/>
          <a:p>
            <a:pPr algn="just"/>
            <a:r>
              <a:rPr lang="vi-VN" sz="3200" b="1" dirty="0"/>
              <a:t>Ví dụ: Chia các đĩa Petri thành từng nhóm đặt trên các tầng khác nhau của tủ ủ nhiệt để loại bỏ sai số do nhiệt độ không đều.</a:t>
            </a:r>
            <a:endParaRPr lang="en-AU" sz="4000" b="1" dirty="0">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297328661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455F0-6A23-D5B2-3EC2-5E898468DB57}"/>
              </a:ext>
            </a:extLst>
          </p:cNvPr>
          <p:cNvSpPr>
            <a:spLocks noGrp="1"/>
          </p:cNvSpPr>
          <p:nvPr>
            <p:ph type="title"/>
          </p:nvPr>
        </p:nvSpPr>
        <p:spPr/>
        <p:txBody>
          <a:bodyPr>
            <a:noAutofit/>
          </a:bodyPr>
          <a:lstStyle/>
          <a:p>
            <a:r>
              <a:rPr lang="en-AU" sz="4800" b="1" dirty="0" err="1"/>
              <a:t>Thiết</a:t>
            </a:r>
            <a:r>
              <a:rPr lang="en-AU" sz="4800" b="1" dirty="0"/>
              <a:t> </a:t>
            </a:r>
            <a:r>
              <a:rPr lang="en-AU" sz="4800" b="1" dirty="0" err="1"/>
              <a:t>kế</a:t>
            </a:r>
            <a:r>
              <a:rPr lang="en-AU" sz="4800" b="1" dirty="0"/>
              <a:t> </a:t>
            </a:r>
            <a:r>
              <a:rPr lang="en-AU" sz="4800" b="1" dirty="0" err="1"/>
              <a:t>Khối</a:t>
            </a:r>
            <a:r>
              <a:rPr lang="en-AU" sz="4800" b="1" dirty="0"/>
              <a:t> </a:t>
            </a:r>
            <a:r>
              <a:rPr lang="en-AU" sz="4800" b="1" dirty="0" err="1"/>
              <a:t>ngẫu</a:t>
            </a:r>
            <a:r>
              <a:rPr lang="en-AU" sz="4800" b="1" dirty="0"/>
              <a:t> </a:t>
            </a:r>
            <a:r>
              <a:rPr lang="en-AU" sz="4800" b="1" dirty="0" err="1"/>
              <a:t>nhiên</a:t>
            </a:r>
            <a:r>
              <a:rPr lang="en-AU" sz="4800" b="1" dirty="0"/>
              <a:t> (RCBD)</a:t>
            </a:r>
            <a:endParaRPr lang="en-AU" sz="49600" b="1"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3" name="Content Placeholder 2">
            <a:extLst>
              <a:ext uri="{FF2B5EF4-FFF2-40B4-BE49-F238E27FC236}">
                <a16:creationId xmlns:a16="http://schemas.microsoft.com/office/drawing/2014/main" id="{F10B2092-036B-85C5-5D03-9AC32C8303AB}"/>
              </a:ext>
            </a:extLst>
          </p:cNvPr>
          <p:cNvSpPr>
            <a:spLocks noGrp="1"/>
          </p:cNvSpPr>
          <p:nvPr>
            <p:ph idx="1"/>
          </p:nvPr>
        </p:nvSpPr>
        <p:spPr/>
        <p:txBody>
          <a:bodyPr>
            <a:noAutofit/>
          </a:bodyPr>
          <a:lstStyle/>
          <a:p>
            <a:pPr algn="just"/>
            <a:r>
              <a:rPr lang="vi-VN" sz="3200" b="1" dirty="0"/>
              <a:t>Định nghĩa: Chia đơn vị thí nghiệm thành các khối đồng nhất.</a:t>
            </a:r>
            <a:endParaRPr lang="en-GB" sz="3200" b="1" dirty="0"/>
          </a:p>
          <a:p>
            <a:pPr algn="just"/>
            <a:r>
              <a:rPr lang="vi-VN" sz="3200" b="1" dirty="0"/>
              <a:t>Ví dụ CNSH: Thử phân bón trên 3 loại đất khác nhau (Mỗi loại đất là 1 khối).</a:t>
            </a:r>
            <a:endParaRPr lang="en-AU" sz="4000" b="1" dirty="0">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417661208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455F0-6A23-D5B2-3EC2-5E898468DB57}"/>
              </a:ext>
            </a:extLst>
          </p:cNvPr>
          <p:cNvSpPr>
            <a:spLocks noGrp="1"/>
          </p:cNvSpPr>
          <p:nvPr>
            <p:ph type="title"/>
          </p:nvPr>
        </p:nvSpPr>
        <p:spPr/>
        <p:txBody>
          <a:bodyPr>
            <a:noAutofit/>
          </a:bodyPr>
          <a:lstStyle/>
          <a:p>
            <a:r>
              <a:rPr lang="en-AU" sz="4400" b="1" dirty="0" err="1"/>
              <a:t>Thiết</a:t>
            </a:r>
            <a:r>
              <a:rPr lang="en-AU" sz="4400" b="1" dirty="0"/>
              <a:t> </a:t>
            </a:r>
            <a:r>
              <a:rPr lang="en-AU" sz="4400" b="1" dirty="0" err="1"/>
              <a:t>kế</a:t>
            </a:r>
            <a:r>
              <a:rPr lang="en-AU" sz="4400" b="1" dirty="0"/>
              <a:t> </a:t>
            </a:r>
            <a:r>
              <a:rPr lang="en-AU" sz="4400" b="1" dirty="0" err="1"/>
              <a:t>Khối</a:t>
            </a:r>
            <a:r>
              <a:rPr lang="en-AU" sz="4400" b="1" dirty="0"/>
              <a:t> </a:t>
            </a:r>
            <a:r>
              <a:rPr lang="en-AU" sz="4400" b="1" dirty="0" err="1"/>
              <a:t>đầy</a:t>
            </a:r>
            <a:r>
              <a:rPr lang="en-AU" sz="4400" b="1" dirty="0"/>
              <a:t> </a:t>
            </a:r>
            <a:r>
              <a:rPr lang="en-AU" sz="4400" b="1" dirty="0" err="1"/>
              <a:t>đủ</a:t>
            </a:r>
            <a:r>
              <a:rPr lang="en-AU" sz="4400" b="1" dirty="0"/>
              <a:t> </a:t>
            </a:r>
            <a:r>
              <a:rPr lang="en-AU" sz="4400" b="1" dirty="0" err="1"/>
              <a:t>ngẫu</a:t>
            </a:r>
            <a:r>
              <a:rPr lang="en-AU" sz="4400" b="1" dirty="0"/>
              <a:t> </a:t>
            </a:r>
            <a:r>
              <a:rPr lang="en-AU" sz="4400" b="1" dirty="0" err="1"/>
              <a:t>nhiên</a:t>
            </a:r>
            <a:r>
              <a:rPr lang="en-AU" sz="4400" b="1" dirty="0"/>
              <a:t> (RCBD)</a:t>
            </a:r>
            <a:endParaRPr lang="en-AU" sz="41300" b="1" dirty="0">
              <a:latin typeface="Calibri Light" panose="020F0302020204030204" pitchFamily="34" charset="0"/>
              <a:ea typeface="Calibri Light" panose="020F0302020204030204" pitchFamily="34" charset="0"/>
              <a:cs typeface="Calibri Light" panose="020F0302020204030204" pitchFamily="34" charset="0"/>
            </a:endParaRPr>
          </a:p>
        </p:txBody>
      </p:sp>
      <p:pic>
        <p:nvPicPr>
          <p:cNvPr id="7" name="Picture 6">
            <a:extLst>
              <a:ext uri="{FF2B5EF4-FFF2-40B4-BE49-F238E27FC236}">
                <a16:creationId xmlns:a16="http://schemas.microsoft.com/office/drawing/2014/main" id="{711FEDE3-FA11-F0CC-173C-2CCE72675FCB}"/>
              </a:ext>
            </a:extLst>
          </p:cNvPr>
          <p:cNvPicPr>
            <a:picLocks noChangeAspect="1"/>
          </p:cNvPicPr>
          <p:nvPr/>
        </p:nvPicPr>
        <p:blipFill>
          <a:blip r:embed="rId2"/>
          <a:stretch>
            <a:fillRect/>
          </a:stretch>
        </p:blipFill>
        <p:spPr>
          <a:xfrm>
            <a:off x="1141615" y="1642707"/>
            <a:ext cx="9315796" cy="5104124"/>
          </a:xfrm>
          <a:prstGeom prst="rect">
            <a:avLst/>
          </a:prstGeom>
        </p:spPr>
      </p:pic>
    </p:spTree>
    <p:extLst>
      <p:ext uri="{BB962C8B-B14F-4D97-AF65-F5344CB8AC3E}">
        <p14:creationId xmlns:p14="http://schemas.microsoft.com/office/powerpoint/2010/main" val="57727519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455F0-6A23-D5B2-3EC2-5E898468DB57}"/>
              </a:ext>
            </a:extLst>
          </p:cNvPr>
          <p:cNvSpPr>
            <a:spLocks noGrp="1"/>
          </p:cNvSpPr>
          <p:nvPr>
            <p:ph type="title"/>
          </p:nvPr>
        </p:nvSpPr>
        <p:spPr/>
        <p:txBody>
          <a:bodyPr>
            <a:noAutofit/>
          </a:bodyPr>
          <a:lstStyle/>
          <a:p>
            <a:r>
              <a:rPr lang="en-AU" sz="4400" b="1" dirty="0" err="1"/>
              <a:t>Thiết</a:t>
            </a:r>
            <a:r>
              <a:rPr lang="en-AU" sz="4400" b="1" dirty="0"/>
              <a:t> </a:t>
            </a:r>
            <a:r>
              <a:rPr lang="en-AU" sz="4400" b="1" dirty="0" err="1"/>
              <a:t>kế</a:t>
            </a:r>
            <a:r>
              <a:rPr lang="en-AU" sz="4400" b="1" dirty="0"/>
              <a:t> </a:t>
            </a:r>
            <a:r>
              <a:rPr lang="en-AU" sz="4400" b="1" dirty="0" err="1"/>
              <a:t>Hình</a:t>
            </a:r>
            <a:r>
              <a:rPr lang="en-AU" sz="4400" b="1" dirty="0"/>
              <a:t> </a:t>
            </a:r>
            <a:r>
              <a:rPr lang="en-AU" sz="4400" b="1" dirty="0" err="1"/>
              <a:t>vuông</a:t>
            </a:r>
            <a:r>
              <a:rPr lang="en-AU" sz="4400" b="1" dirty="0"/>
              <a:t> </a:t>
            </a:r>
            <a:r>
              <a:rPr lang="en-AU" sz="4400" b="1" dirty="0" err="1"/>
              <a:t>Latinh</a:t>
            </a:r>
            <a:r>
              <a:rPr lang="en-AU" sz="4400" b="1" dirty="0"/>
              <a:t> (Latin Square)</a:t>
            </a:r>
            <a:endParaRPr lang="en-AU" sz="41300" b="1"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3" name="Content Placeholder 2">
            <a:extLst>
              <a:ext uri="{FF2B5EF4-FFF2-40B4-BE49-F238E27FC236}">
                <a16:creationId xmlns:a16="http://schemas.microsoft.com/office/drawing/2014/main" id="{F10B2092-036B-85C5-5D03-9AC32C8303AB}"/>
              </a:ext>
            </a:extLst>
          </p:cNvPr>
          <p:cNvSpPr>
            <a:spLocks noGrp="1"/>
          </p:cNvSpPr>
          <p:nvPr>
            <p:ph idx="1"/>
          </p:nvPr>
        </p:nvSpPr>
        <p:spPr/>
        <p:txBody>
          <a:bodyPr>
            <a:noAutofit/>
          </a:bodyPr>
          <a:lstStyle/>
          <a:p>
            <a:pPr algn="just"/>
            <a:r>
              <a:rPr lang="vi-VN" sz="2800" b="1" dirty="0"/>
              <a:t>Định nghĩa: Kiểm soát 2 nguồn sai số (theo hàng và cột).</a:t>
            </a:r>
            <a:endParaRPr lang="en-GB" sz="2800" b="1" dirty="0"/>
          </a:p>
          <a:p>
            <a:pPr algn="just"/>
            <a:r>
              <a:rPr lang="vi-VN" sz="2800" b="1" dirty="0"/>
              <a:t>Ví dụ CNSH: Thí nghiệm nhà kính nơi ánh sáng thay đổi theo hàng và độ ẩm thay đổi theo cột.</a:t>
            </a:r>
            <a:endParaRPr lang="en-GB" sz="2800" b="1" dirty="0"/>
          </a:p>
          <a:p>
            <a:pPr algn="just"/>
            <a:r>
              <a:rPr lang="vi-VN" sz="2800" b="1" dirty="0"/>
              <a:t>Ví dụ: Thử nghiệm 4 loại vaccine cho heo trong một trang trại.</a:t>
            </a:r>
          </a:p>
          <a:p>
            <a:pPr lvl="1" algn="just">
              <a:buFont typeface="Wingdings" panose="05000000000000000000" pitchFamily="2" charset="2"/>
              <a:buChar char="§"/>
            </a:pPr>
            <a:r>
              <a:rPr lang="vi-VN" sz="2400" b="1" dirty="0"/>
              <a:t>Nguồn sai số 1 (Hàng): Vị trí chuồng nuôi (gần cửa sổ/gần lối đi).</a:t>
            </a:r>
          </a:p>
          <a:p>
            <a:pPr lvl="1" algn="just">
              <a:buFont typeface="Wingdings" panose="05000000000000000000" pitchFamily="2" charset="2"/>
              <a:buChar char="§"/>
            </a:pPr>
            <a:r>
              <a:rPr lang="vi-VN" sz="2400" b="1" dirty="0"/>
              <a:t>Nguồn sai số 2 (Cột): Độ tuổi của heo.</a:t>
            </a:r>
          </a:p>
          <a:p>
            <a:pPr lvl="1" algn="just">
              <a:buFont typeface="Wingdings" panose="05000000000000000000" pitchFamily="2" charset="2"/>
              <a:buChar char="§"/>
            </a:pPr>
            <a:r>
              <a:rPr lang="vi-VN" sz="2400" b="1" dirty="0"/>
              <a:t>Thiết kế Latin Square đảm bảo mỗi loại vaccine đều được thử trên heo ở mọi độ tuổi và mọi vị trí chuồng.</a:t>
            </a:r>
          </a:p>
        </p:txBody>
      </p:sp>
    </p:spTree>
    <p:extLst>
      <p:ext uri="{BB962C8B-B14F-4D97-AF65-F5344CB8AC3E}">
        <p14:creationId xmlns:p14="http://schemas.microsoft.com/office/powerpoint/2010/main" val="340970943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455F0-6A23-D5B2-3EC2-5E898468DB57}"/>
              </a:ext>
            </a:extLst>
          </p:cNvPr>
          <p:cNvSpPr>
            <a:spLocks noGrp="1"/>
          </p:cNvSpPr>
          <p:nvPr>
            <p:ph type="title"/>
          </p:nvPr>
        </p:nvSpPr>
        <p:spPr/>
        <p:txBody>
          <a:bodyPr>
            <a:noAutofit/>
          </a:bodyPr>
          <a:lstStyle/>
          <a:p>
            <a:r>
              <a:rPr lang="en-AU" sz="4400" b="1" dirty="0" err="1"/>
              <a:t>Thiết</a:t>
            </a:r>
            <a:r>
              <a:rPr lang="en-AU" sz="4400" b="1" dirty="0"/>
              <a:t> </a:t>
            </a:r>
            <a:r>
              <a:rPr lang="en-AU" sz="4400" b="1" dirty="0" err="1"/>
              <a:t>kế</a:t>
            </a:r>
            <a:r>
              <a:rPr lang="en-AU" sz="4400" b="1" dirty="0"/>
              <a:t> </a:t>
            </a:r>
            <a:r>
              <a:rPr lang="en-AU" sz="4400" b="1" dirty="0" err="1"/>
              <a:t>Hình</a:t>
            </a:r>
            <a:r>
              <a:rPr lang="en-AU" sz="4400" b="1" dirty="0"/>
              <a:t> </a:t>
            </a:r>
            <a:r>
              <a:rPr lang="en-AU" sz="4400" b="1" dirty="0" err="1"/>
              <a:t>vuông</a:t>
            </a:r>
            <a:r>
              <a:rPr lang="en-AU" sz="4400" b="1" dirty="0"/>
              <a:t> </a:t>
            </a:r>
            <a:r>
              <a:rPr lang="en-AU" sz="4400" b="1" dirty="0" err="1"/>
              <a:t>Latinh</a:t>
            </a:r>
            <a:r>
              <a:rPr lang="en-AU" sz="4400" b="1" dirty="0"/>
              <a:t> (Latin Square)</a:t>
            </a:r>
            <a:endParaRPr lang="en-AU" sz="41300" b="1" dirty="0">
              <a:latin typeface="Calibri Light" panose="020F0302020204030204" pitchFamily="34" charset="0"/>
              <a:ea typeface="Calibri Light" panose="020F0302020204030204" pitchFamily="34" charset="0"/>
              <a:cs typeface="Calibri Light" panose="020F0302020204030204" pitchFamily="34" charset="0"/>
            </a:endParaRPr>
          </a:p>
        </p:txBody>
      </p:sp>
      <p:pic>
        <p:nvPicPr>
          <p:cNvPr id="4" name="Picture 3">
            <a:extLst>
              <a:ext uri="{FF2B5EF4-FFF2-40B4-BE49-F238E27FC236}">
                <a16:creationId xmlns:a16="http://schemas.microsoft.com/office/drawing/2014/main" id="{E6154EB5-BA43-DBBF-154F-4753AF95A376}"/>
              </a:ext>
            </a:extLst>
          </p:cNvPr>
          <p:cNvPicPr>
            <a:picLocks noChangeAspect="1"/>
          </p:cNvPicPr>
          <p:nvPr/>
        </p:nvPicPr>
        <p:blipFill>
          <a:blip r:embed="rId2"/>
          <a:stretch>
            <a:fillRect/>
          </a:stretch>
        </p:blipFill>
        <p:spPr>
          <a:xfrm>
            <a:off x="680321" y="2095109"/>
            <a:ext cx="10240856" cy="4588323"/>
          </a:xfrm>
          <a:prstGeom prst="rect">
            <a:avLst/>
          </a:prstGeom>
        </p:spPr>
      </p:pic>
    </p:spTree>
    <p:extLst>
      <p:ext uri="{BB962C8B-B14F-4D97-AF65-F5344CB8AC3E}">
        <p14:creationId xmlns:p14="http://schemas.microsoft.com/office/powerpoint/2010/main" val="82084405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455F0-6A23-D5B2-3EC2-5E898468DB57}"/>
              </a:ext>
            </a:extLst>
          </p:cNvPr>
          <p:cNvSpPr>
            <a:spLocks noGrp="1"/>
          </p:cNvSpPr>
          <p:nvPr>
            <p:ph type="title"/>
          </p:nvPr>
        </p:nvSpPr>
        <p:spPr/>
        <p:txBody>
          <a:bodyPr>
            <a:noAutofit/>
          </a:bodyPr>
          <a:lstStyle/>
          <a:p>
            <a:r>
              <a:rPr lang="en-AU" sz="4400" b="1" dirty="0" err="1"/>
              <a:t>Thiết</a:t>
            </a:r>
            <a:r>
              <a:rPr lang="en-AU" sz="4400" b="1" dirty="0"/>
              <a:t> </a:t>
            </a:r>
            <a:r>
              <a:rPr lang="en-AU" sz="4400" b="1" dirty="0" err="1"/>
              <a:t>kế</a:t>
            </a:r>
            <a:r>
              <a:rPr lang="en-AU" sz="4400" b="1" dirty="0"/>
              <a:t> Giai </a:t>
            </a:r>
            <a:r>
              <a:rPr lang="en-AU" sz="4400" b="1" dirty="0" err="1"/>
              <a:t>thừa</a:t>
            </a:r>
            <a:r>
              <a:rPr lang="en-AU" sz="4400" b="1" dirty="0"/>
              <a:t> (Factorial Design)</a:t>
            </a:r>
            <a:endParaRPr lang="en-AU" sz="41300" b="1"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3" name="Content Placeholder 2">
            <a:extLst>
              <a:ext uri="{FF2B5EF4-FFF2-40B4-BE49-F238E27FC236}">
                <a16:creationId xmlns:a16="http://schemas.microsoft.com/office/drawing/2014/main" id="{F10B2092-036B-85C5-5D03-9AC32C8303AB}"/>
              </a:ext>
            </a:extLst>
          </p:cNvPr>
          <p:cNvSpPr>
            <a:spLocks noGrp="1"/>
          </p:cNvSpPr>
          <p:nvPr>
            <p:ph idx="1"/>
          </p:nvPr>
        </p:nvSpPr>
        <p:spPr/>
        <p:txBody>
          <a:bodyPr>
            <a:noAutofit/>
          </a:bodyPr>
          <a:lstStyle/>
          <a:p>
            <a:pPr algn="just">
              <a:lnSpc>
                <a:spcPct val="100000"/>
              </a:lnSpc>
            </a:pPr>
            <a:r>
              <a:rPr lang="vi-VN" sz="2000" b="1" dirty="0"/>
              <a:t>Nghiên cứu 2 hay nhiều yếu tố cùng lúc.</a:t>
            </a:r>
            <a:endParaRPr lang="en-GB" sz="2000" b="1" dirty="0"/>
          </a:p>
          <a:p>
            <a:pPr algn="just">
              <a:lnSpc>
                <a:spcPct val="100000"/>
              </a:lnSpc>
            </a:pPr>
            <a:r>
              <a:rPr lang="vi-VN" sz="2000" b="1" dirty="0">
                <a:latin typeface="Calibri Light" panose="020F0302020204030204" pitchFamily="34" charset="0"/>
                <a:ea typeface="Calibri Light" panose="020F0302020204030204" pitchFamily="34" charset="0"/>
                <a:cs typeface="Calibri Light" panose="020F0302020204030204" pitchFamily="34" charset="0"/>
              </a:rPr>
              <a:t>Ví dụ: Ảnh hưởng đồng thời của Nhiệt độ (25, 30, 35°C) và pH (5, 6, 7) lên hoạt tính Enzyme.</a:t>
            </a:r>
            <a:endParaRPr lang="en-GB" sz="2000" b="1" dirty="0">
              <a:latin typeface="Calibri Light" panose="020F0302020204030204" pitchFamily="34" charset="0"/>
              <a:ea typeface="Calibri Light" panose="020F0302020204030204" pitchFamily="34" charset="0"/>
              <a:cs typeface="Calibri Light" panose="020F0302020204030204" pitchFamily="34" charset="0"/>
            </a:endParaRPr>
          </a:p>
          <a:p>
            <a:pPr algn="just">
              <a:lnSpc>
                <a:spcPct val="100000"/>
              </a:lnSpc>
            </a:pPr>
            <a:r>
              <a:rPr lang="vi-VN" sz="2000" b="1" dirty="0">
                <a:latin typeface="Calibri Light" panose="020F0302020204030204" pitchFamily="34" charset="0"/>
                <a:ea typeface="Calibri Light" panose="020F0302020204030204" pitchFamily="34" charset="0"/>
                <a:cs typeface="Calibri Light" panose="020F0302020204030204" pitchFamily="34" charset="0"/>
              </a:rPr>
              <a:t>Ví dụ: Tối ưu hóa môi trường nuôi cấy tế bào gốc.</a:t>
            </a:r>
            <a:endParaRPr lang="en-GB" sz="2000" b="1" dirty="0">
              <a:latin typeface="Calibri Light" panose="020F0302020204030204" pitchFamily="34" charset="0"/>
              <a:ea typeface="Calibri Light" panose="020F0302020204030204" pitchFamily="34" charset="0"/>
              <a:cs typeface="Calibri Light" panose="020F0302020204030204" pitchFamily="34" charset="0"/>
            </a:endParaRPr>
          </a:p>
          <a:p>
            <a:pPr lvl="1" algn="just">
              <a:lnSpc>
                <a:spcPct val="100000"/>
              </a:lnSpc>
              <a:buFont typeface="Wingdings" panose="05000000000000000000" pitchFamily="2" charset="2"/>
              <a:buChar char="§"/>
            </a:pPr>
            <a:r>
              <a:rPr lang="vi-VN" sz="1600" b="1" dirty="0">
                <a:latin typeface="Calibri Light" panose="020F0302020204030204" pitchFamily="34" charset="0"/>
                <a:ea typeface="Calibri Light" panose="020F0302020204030204" pitchFamily="34" charset="0"/>
                <a:cs typeface="Calibri Light" panose="020F0302020204030204" pitchFamily="34" charset="0"/>
              </a:rPr>
              <a:t>Yếu tố 1: Nồng độ huyết thanh (5%, 10%).</a:t>
            </a:r>
            <a:endParaRPr lang="en-GB" sz="1600" b="1" dirty="0">
              <a:latin typeface="Calibri Light" panose="020F0302020204030204" pitchFamily="34" charset="0"/>
              <a:ea typeface="Calibri Light" panose="020F0302020204030204" pitchFamily="34" charset="0"/>
              <a:cs typeface="Calibri Light" panose="020F0302020204030204" pitchFamily="34" charset="0"/>
            </a:endParaRPr>
          </a:p>
          <a:p>
            <a:pPr lvl="1" algn="just">
              <a:lnSpc>
                <a:spcPct val="100000"/>
              </a:lnSpc>
              <a:buFont typeface="Wingdings" panose="05000000000000000000" pitchFamily="2" charset="2"/>
              <a:buChar char="§"/>
            </a:pPr>
            <a:r>
              <a:rPr lang="vi-VN" sz="1600" b="1" dirty="0">
                <a:latin typeface="Calibri Light" panose="020F0302020204030204" pitchFamily="34" charset="0"/>
                <a:ea typeface="Calibri Light" panose="020F0302020204030204" pitchFamily="34" charset="0"/>
                <a:cs typeface="Calibri Light" panose="020F0302020204030204" pitchFamily="34" charset="0"/>
              </a:rPr>
              <a:t>Yếu tố 2: Nồng độ Oxy (5%, 20%).</a:t>
            </a:r>
            <a:endParaRPr lang="en-GB" sz="1600" b="1" dirty="0">
              <a:latin typeface="Calibri Light" panose="020F0302020204030204" pitchFamily="34" charset="0"/>
              <a:ea typeface="Calibri Light" panose="020F0302020204030204" pitchFamily="34" charset="0"/>
              <a:cs typeface="Calibri Light" panose="020F0302020204030204" pitchFamily="34" charset="0"/>
            </a:endParaRPr>
          </a:p>
          <a:p>
            <a:pPr lvl="1" algn="just">
              <a:lnSpc>
                <a:spcPct val="100000"/>
              </a:lnSpc>
              <a:buFont typeface="Wingdings" panose="05000000000000000000" pitchFamily="2" charset="2"/>
              <a:buChar char="§"/>
            </a:pPr>
            <a:r>
              <a:rPr lang="vi-VN" sz="1600" b="1" dirty="0">
                <a:latin typeface="Calibri Light" panose="020F0302020204030204" pitchFamily="34" charset="0"/>
                <a:ea typeface="Calibri Light" panose="020F0302020204030204" pitchFamily="34" charset="0"/>
                <a:cs typeface="Calibri Light" panose="020F0302020204030204" pitchFamily="34" charset="0"/>
              </a:rPr>
              <a:t>Tổ hợp: Ta có 4 thí nghiệm: (5% huyết thanh - 5% O2), (5% huyết thanh - 20% O2), (10% huyết thanh - 5% O2), (10% huyết thanh - 20% O2). </a:t>
            </a:r>
            <a:endParaRPr lang="en-GB" sz="1600" b="1" dirty="0">
              <a:latin typeface="Calibri Light" panose="020F0302020204030204" pitchFamily="34" charset="0"/>
              <a:ea typeface="Calibri Light" panose="020F0302020204030204" pitchFamily="34" charset="0"/>
              <a:cs typeface="Calibri Light" panose="020F0302020204030204" pitchFamily="34" charset="0"/>
            </a:endParaRPr>
          </a:p>
          <a:p>
            <a:pPr lvl="1" algn="just">
              <a:lnSpc>
                <a:spcPct val="100000"/>
              </a:lnSpc>
              <a:buFont typeface="Wingdings" panose="05000000000000000000" pitchFamily="2" charset="2"/>
              <a:buChar char="§"/>
            </a:pPr>
            <a:r>
              <a:rPr lang="vi-VN" sz="1600" b="1" dirty="0">
                <a:latin typeface="Calibri Light" panose="020F0302020204030204" pitchFamily="34" charset="0"/>
                <a:ea typeface="Calibri Light" panose="020F0302020204030204" pitchFamily="34" charset="0"/>
                <a:cs typeface="Calibri Light" panose="020F0302020204030204" pitchFamily="34" charset="0"/>
              </a:rPr>
              <a:t>Thiết kế này giúp phát hiện xem huyết thanh cao có thực sự tốt nếu thiếu oxy hay không.</a:t>
            </a:r>
            <a:endParaRPr lang="en-GB" sz="1600" b="1" dirty="0">
              <a:latin typeface="Calibri Light" panose="020F0302020204030204" pitchFamily="34" charset="0"/>
              <a:ea typeface="Calibri Light" panose="020F0302020204030204" pitchFamily="34" charset="0"/>
              <a:cs typeface="Calibri Light" panose="020F0302020204030204" pitchFamily="34" charset="0"/>
            </a:endParaRPr>
          </a:p>
          <a:p>
            <a:pPr algn="just">
              <a:lnSpc>
                <a:spcPct val="100000"/>
              </a:lnSpc>
            </a:pPr>
            <a:r>
              <a:rPr lang="en-GB" sz="2000" b="1" dirty="0" err="1">
                <a:latin typeface="Calibri Light" panose="020F0302020204030204" pitchFamily="34" charset="0"/>
                <a:ea typeface="Calibri Light" panose="020F0302020204030204" pitchFamily="34" charset="0"/>
                <a:cs typeface="Calibri Light" panose="020F0302020204030204" pitchFamily="34" charset="0"/>
              </a:rPr>
              <a:t>Ưu</a:t>
            </a:r>
            <a:r>
              <a:rPr lang="en-GB" sz="2000" b="1" dirty="0">
                <a:latin typeface="Calibri Light" panose="020F0302020204030204" pitchFamily="34" charset="0"/>
                <a:ea typeface="Calibri Light" panose="020F0302020204030204" pitchFamily="34" charset="0"/>
                <a:cs typeface="Calibri Light" panose="020F0302020204030204" pitchFamily="34" charset="0"/>
              </a:rPr>
              <a:t> </a:t>
            </a:r>
            <a:r>
              <a:rPr lang="en-GB" sz="2000" b="1" dirty="0" err="1">
                <a:latin typeface="Calibri Light" panose="020F0302020204030204" pitchFamily="34" charset="0"/>
                <a:ea typeface="Calibri Light" panose="020F0302020204030204" pitchFamily="34" charset="0"/>
                <a:cs typeface="Calibri Light" panose="020F0302020204030204" pitchFamily="34" charset="0"/>
              </a:rPr>
              <a:t>điểm</a:t>
            </a:r>
            <a:r>
              <a:rPr lang="en-GB" sz="2000" b="1" dirty="0">
                <a:latin typeface="Calibri Light" panose="020F0302020204030204" pitchFamily="34" charset="0"/>
                <a:ea typeface="Calibri Light" panose="020F0302020204030204" pitchFamily="34" charset="0"/>
                <a:cs typeface="Calibri Light" panose="020F0302020204030204" pitchFamily="34" charset="0"/>
              </a:rPr>
              <a:t>: </a:t>
            </a:r>
            <a:r>
              <a:rPr lang="vi-VN" sz="2000" b="1" dirty="0"/>
              <a:t>Thấy được sự tương tác (interaction) giữa các yếu tố.</a:t>
            </a:r>
            <a:endParaRPr lang="en-AU" sz="2000" b="1" dirty="0">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76399024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455F0-6A23-D5B2-3EC2-5E898468DB57}"/>
              </a:ext>
            </a:extLst>
          </p:cNvPr>
          <p:cNvSpPr>
            <a:spLocks noGrp="1"/>
          </p:cNvSpPr>
          <p:nvPr>
            <p:ph type="title"/>
          </p:nvPr>
        </p:nvSpPr>
        <p:spPr/>
        <p:txBody>
          <a:bodyPr>
            <a:noAutofit/>
          </a:bodyPr>
          <a:lstStyle/>
          <a:p>
            <a:r>
              <a:rPr lang="en-AU" sz="4400" b="1" dirty="0"/>
              <a:t>Design of Experiments (DoE)</a:t>
            </a:r>
            <a:endParaRPr lang="en-AU" sz="41300" b="1"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3" name="Content Placeholder 2">
            <a:extLst>
              <a:ext uri="{FF2B5EF4-FFF2-40B4-BE49-F238E27FC236}">
                <a16:creationId xmlns:a16="http://schemas.microsoft.com/office/drawing/2014/main" id="{F10B2092-036B-85C5-5D03-9AC32C8303AB}"/>
              </a:ext>
            </a:extLst>
          </p:cNvPr>
          <p:cNvSpPr>
            <a:spLocks noGrp="1"/>
          </p:cNvSpPr>
          <p:nvPr>
            <p:ph idx="1"/>
          </p:nvPr>
        </p:nvSpPr>
        <p:spPr/>
        <p:txBody>
          <a:bodyPr>
            <a:noAutofit/>
          </a:bodyPr>
          <a:lstStyle/>
          <a:p>
            <a:pPr algn="just"/>
            <a:r>
              <a:rPr lang="vi-VN" sz="3200" b="1" dirty="0"/>
              <a:t>Sử dụng phần mềm (như Design-Expert) để tối ưu hóa thí nghiệm với số mẫu ít nhất.</a:t>
            </a:r>
            <a:endParaRPr lang="en-AU" sz="3200" b="1" dirty="0">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33158396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455F0-6A23-D5B2-3EC2-5E898468DB57}"/>
              </a:ext>
            </a:extLst>
          </p:cNvPr>
          <p:cNvSpPr>
            <a:spLocks noGrp="1"/>
          </p:cNvSpPr>
          <p:nvPr>
            <p:ph type="title"/>
          </p:nvPr>
        </p:nvSpPr>
        <p:spPr/>
        <p:txBody>
          <a:bodyPr>
            <a:noAutofit/>
          </a:bodyPr>
          <a:lstStyle/>
          <a:p>
            <a:r>
              <a:rPr lang="en-AU" sz="4400" b="1" dirty="0" err="1"/>
              <a:t>Bài</a:t>
            </a:r>
            <a:r>
              <a:rPr lang="en-AU" sz="4400" b="1" dirty="0"/>
              <a:t> </a:t>
            </a:r>
            <a:r>
              <a:rPr lang="en-AU" sz="4400" b="1" dirty="0" err="1"/>
              <a:t>tập</a:t>
            </a:r>
            <a:r>
              <a:rPr lang="en-AU" sz="4400" b="1" dirty="0"/>
              <a:t> </a:t>
            </a:r>
            <a:r>
              <a:rPr lang="en-AU" sz="4400" b="1" dirty="0" err="1"/>
              <a:t>ứng</a:t>
            </a:r>
            <a:r>
              <a:rPr lang="en-AU" sz="4400" b="1" dirty="0"/>
              <a:t> </a:t>
            </a:r>
            <a:r>
              <a:rPr lang="en-AU" sz="4400" b="1" dirty="0" err="1"/>
              <a:t>dụng</a:t>
            </a:r>
            <a:r>
              <a:rPr lang="en-AU" sz="4400" b="1" dirty="0"/>
              <a:t> 5</a:t>
            </a:r>
            <a:endParaRPr lang="en-AU" sz="41300" b="1"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3" name="Content Placeholder 2">
            <a:extLst>
              <a:ext uri="{FF2B5EF4-FFF2-40B4-BE49-F238E27FC236}">
                <a16:creationId xmlns:a16="http://schemas.microsoft.com/office/drawing/2014/main" id="{F10B2092-036B-85C5-5D03-9AC32C8303AB}"/>
              </a:ext>
            </a:extLst>
          </p:cNvPr>
          <p:cNvSpPr>
            <a:spLocks noGrp="1"/>
          </p:cNvSpPr>
          <p:nvPr>
            <p:ph idx="1"/>
          </p:nvPr>
        </p:nvSpPr>
        <p:spPr/>
        <p:txBody>
          <a:bodyPr>
            <a:noAutofit/>
          </a:bodyPr>
          <a:lstStyle/>
          <a:p>
            <a:pPr algn="just"/>
            <a:r>
              <a:rPr lang="en-GB" sz="3200" b="1" dirty="0"/>
              <a:t>Trong </a:t>
            </a:r>
            <a:r>
              <a:rPr lang="en-GB" sz="3200" b="1" dirty="0" err="1"/>
              <a:t>thiết</a:t>
            </a:r>
            <a:r>
              <a:rPr lang="en-GB" sz="3200" b="1" dirty="0"/>
              <a:t> </a:t>
            </a:r>
            <a:r>
              <a:rPr lang="en-GB" sz="3200" b="1" dirty="0" err="1"/>
              <a:t>kế</a:t>
            </a:r>
            <a:r>
              <a:rPr lang="en-GB" sz="3200" b="1" dirty="0"/>
              <a:t> </a:t>
            </a:r>
            <a:r>
              <a:rPr lang="en-GB" sz="3200" b="1" dirty="0" err="1"/>
              <a:t>giai</a:t>
            </a:r>
            <a:r>
              <a:rPr lang="en-GB" sz="3200" b="1" dirty="0"/>
              <a:t> </a:t>
            </a:r>
            <a:r>
              <a:rPr lang="en-GB" sz="3200" b="1" dirty="0" err="1"/>
              <a:t>thừa</a:t>
            </a:r>
            <a:r>
              <a:rPr lang="en-GB" sz="3200" b="1" dirty="0"/>
              <a:t> 3x2, </a:t>
            </a:r>
            <a:r>
              <a:rPr lang="en-GB" sz="3200" b="1" dirty="0" err="1"/>
              <a:t>chúng</a:t>
            </a:r>
            <a:r>
              <a:rPr lang="en-GB" sz="3200" b="1" dirty="0"/>
              <a:t> ta </a:t>
            </a:r>
            <a:r>
              <a:rPr lang="en-GB" sz="3200" b="1" dirty="0" err="1"/>
              <a:t>có</a:t>
            </a:r>
            <a:r>
              <a:rPr lang="en-GB" sz="3200" b="1" dirty="0"/>
              <a:t> </a:t>
            </a:r>
            <a:r>
              <a:rPr lang="en-GB" sz="3200" b="1" dirty="0" err="1"/>
              <a:t>tổng</a:t>
            </a:r>
            <a:r>
              <a:rPr lang="en-GB" sz="3200" b="1" dirty="0"/>
              <a:t> </a:t>
            </a:r>
            <a:r>
              <a:rPr lang="en-GB" sz="3200" b="1" dirty="0" err="1"/>
              <a:t>cộng</a:t>
            </a:r>
            <a:r>
              <a:rPr lang="en-GB" sz="3200" b="1" dirty="0"/>
              <a:t> bao </a:t>
            </a:r>
            <a:r>
              <a:rPr lang="en-GB" sz="3200" b="1" dirty="0" err="1"/>
              <a:t>nhiêu</a:t>
            </a:r>
            <a:r>
              <a:rPr lang="en-GB" sz="3200" b="1" dirty="0"/>
              <a:t> </a:t>
            </a:r>
            <a:r>
              <a:rPr lang="en-GB" sz="3200" b="1" dirty="0" err="1"/>
              <a:t>tổ</a:t>
            </a:r>
            <a:r>
              <a:rPr lang="en-GB" sz="3200" b="1" dirty="0"/>
              <a:t> </a:t>
            </a:r>
            <a:r>
              <a:rPr lang="en-GB" sz="3200" b="1" dirty="0" err="1"/>
              <a:t>hợp</a:t>
            </a:r>
            <a:r>
              <a:rPr lang="en-GB" sz="3200" b="1" dirty="0"/>
              <a:t> </a:t>
            </a:r>
            <a:r>
              <a:rPr lang="en-GB" sz="3200" b="1" dirty="0" err="1"/>
              <a:t>thí</a:t>
            </a:r>
            <a:r>
              <a:rPr lang="en-GB" sz="3200" b="1" dirty="0"/>
              <a:t> </a:t>
            </a:r>
            <a:r>
              <a:rPr lang="en-GB" sz="3200" b="1" dirty="0" err="1"/>
              <a:t>nghiệm</a:t>
            </a:r>
            <a:r>
              <a:rPr lang="en-GB" sz="3200" b="1" dirty="0"/>
              <a:t>?</a:t>
            </a:r>
          </a:p>
          <a:p>
            <a:pPr algn="just"/>
            <a:r>
              <a:rPr lang="vi-VN" sz="3200" b="1" dirty="0"/>
              <a:t>Vẽ sơ đồ bố trí thí nghiệm RCBD cho việc thử nghiệm 3 nồng độ hormone lên sự tạo mô sẹo (callus) thực vật.</a:t>
            </a:r>
            <a:endParaRPr lang="en-AU" sz="3200" b="1" dirty="0">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1523778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455F0-6A23-D5B2-3EC2-5E898468DB57}"/>
              </a:ext>
            </a:extLst>
          </p:cNvPr>
          <p:cNvSpPr>
            <a:spLocks noGrp="1"/>
          </p:cNvSpPr>
          <p:nvPr>
            <p:ph type="title"/>
          </p:nvPr>
        </p:nvSpPr>
        <p:spPr/>
        <p:txBody>
          <a:bodyPr>
            <a:noAutofit/>
          </a:bodyPr>
          <a:lstStyle/>
          <a:p>
            <a:r>
              <a:rPr lang="en-AU" sz="4400" b="1" dirty="0" err="1"/>
              <a:t>Bài</a:t>
            </a:r>
            <a:r>
              <a:rPr lang="en-AU" sz="4400" b="1" dirty="0"/>
              <a:t> </a:t>
            </a:r>
            <a:r>
              <a:rPr lang="en-AU" sz="4400" b="1" dirty="0" err="1"/>
              <a:t>tập</a:t>
            </a:r>
            <a:r>
              <a:rPr lang="en-AU" sz="4400" b="1" dirty="0"/>
              <a:t> </a:t>
            </a:r>
            <a:r>
              <a:rPr lang="en-AU" sz="4400" b="1" dirty="0" err="1"/>
              <a:t>ứng</a:t>
            </a:r>
            <a:r>
              <a:rPr lang="en-AU" sz="4400" b="1" dirty="0"/>
              <a:t> </a:t>
            </a:r>
            <a:r>
              <a:rPr lang="en-AU" sz="4400" b="1" dirty="0" err="1"/>
              <a:t>dụng</a:t>
            </a:r>
            <a:r>
              <a:rPr lang="en-AU" sz="4400" b="1" dirty="0"/>
              <a:t> 5</a:t>
            </a:r>
            <a:endParaRPr lang="en-AU" sz="41300" b="1"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3" name="Content Placeholder 2">
            <a:extLst>
              <a:ext uri="{FF2B5EF4-FFF2-40B4-BE49-F238E27FC236}">
                <a16:creationId xmlns:a16="http://schemas.microsoft.com/office/drawing/2014/main" id="{F10B2092-036B-85C5-5D03-9AC32C8303AB}"/>
              </a:ext>
            </a:extLst>
          </p:cNvPr>
          <p:cNvSpPr>
            <a:spLocks noGrp="1"/>
          </p:cNvSpPr>
          <p:nvPr>
            <p:ph idx="1"/>
          </p:nvPr>
        </p:nvSpPr>
        <p:spPr/>
        <p:txBody>
          <a:bodyPr>
            <a:noAutofit/>
          </a:bodyPr>
          <a:lstStyle/>
          <a:p>
            <a:pPr algn="just"/>
            <a:r>
              <a:rPr lang="en-GB" sz="3200" b="1" dirty="0"/>
              <a:t>"Trong </a:t>
            </a:r>
            <a:r>
              <a:rPr lang="en-GB" sz="3200" b="1" dirty="0" err="1"/>
              <a:t>thiết</a:t>
            </a:r>
            <a:r>
              <a:rPr lang="en-GB" sz="3200" b="1" dirty="0"/>
              <a:t> </a:t>
            </a:r>
            <a:r>
              <a:rPr lang="en-GB" sz="3200" b="1" dirty="0" err="1"/>
              <a:t>kế</a:t>
            </a:r>
            <a:r>
              <a:rPr lang="en-GB" sz="3200" b="1" dirty="0"/>
              <a:t> </a:t>
            </a:r>
            <a:r>
              <a:rPr lang="en-GB" sz="3200" b="1" dirty="0" err="1"/>
              <a:t>giai</a:t>
            </a:r>
            <a:r>
              <a:rPr lang="en-GB" sz="3200" b="1" dirty="0"/>
              <a:t> </a:t>
            </a:r>
            <a:r>
              <a:rPr lang="en-GB" sz="3200" b="1" dirty="0" err="1"/>
              <a:t>thừa</a:t>
            </a:r>
            <a:r>
              <a:rPr lang="en-GB" sz="3200" b="1" dirty="0"/>
              <a:t> 3x2, </a:t>
            </a:r>
            <a:r>
              <a:rPr lang="en-GB" sz="3200" b="1" dirty="0" err="1"/>
              <a:t>chúng</a:t>
            </a:r>
            <a:r>
              <a:rPr lang="en-GB" sz="3200" b="1" dirty="0"/>
              <a:t> ta </a:t>
            </a:r>
            <a:r>
              <a:rPr lang="en-GB" sz="3200" b="1" dirty="0" err="1"/>
              <a:t>có</a:t>
            </a:r>
            <a:r>
              <a:rPr lang="en-GB" sz="3200" b="1" dirty="0"/>
              <a:t> </a:t>
            </a:r>
            <a:r>
              <a:rPr lang="en-GB" sz="3200" b="1" dirty="0" err="1"/>
              <a:t>tổng</a:t>
            </a:r>
            <a:r>
              <a:rPr lang="en-GB" sz="3200" b="1" dirty="0"/>
              <a:t> </a:t>
            </a:r>
            <a:r>
              <a:rPr lang="en-GB" sz="3200" b="1" dirty="0" err="1"/>
              <a:t>cộng</a:t>
            </a:r>
            <a:r>
              <a:rPr lang="en-GB" sz="3200" b="1" dirty="0"/>
              <a:t> bao </a:t>
            </a:r>
            <a:r>
              <a:rPr lang="en-GB" sz="3200" b="1" dirty="0" err="1"/>
              <a:t>nhiêu</a:t>
            </a:r>
            <a:r>
              <a:rPr lang="en-GB" sz="3200" b="1" dirty="0"/>
              <a:t> </a:t>
            </a:r>
            <a:r>
              <a:rPr lang="en-GB" sz="3200" b="1" dirty="0" err="1"/>
              <a:t>tổ</a:t>
            </a:r>
            <a:r>
              <a:rPr lang="en-GB" sz="3200" b="1" dirty="0"/>
              <a:t> </a:t>
            </a:r>
            <a:r>
              <a:rPr lang="en-GB" sz="3200" b="1" dirty="0" err="1"/>
              <a:t>hợp</a:t>
            </a:r>
            <a:r>
              <a:rPr lang="en-GB" sz="3200" b="1" dirty="0"/>
              <a:t> </a:t>
            </a:r>
            <a:r>
              <a:rPr lang="en-GB" sz="3200" b="1" dirty="0" err="1"/>
              <a:t>thí</a:t>
            </a:r>
            <a:r>
              <a:rPr lang="en-GB" sz="3200" b="1" dirty="0"/>
              <a:t> </a:t>
            </a:r>
            <a:r>
              <a:rPr lang="en-GB" sz="3200" b="1" dirty="0" err="1"/>
              <a:t>nghiệm</a:t>
            </a:r>
            <a:r>
              <a:rPr lang="en-GB" sz="3200" b="1" dirty="0"/>
              <a:t>?" (</a:t>
            </a:r>
            <a:r>
              <a:rPr lang="en-GB" sz="3200" b="1" dirty="0" err="1"/>
              <a:t>Đáp</a:t>
            </a:r>
            <a:r>
              <a:rPr lang="en-GB" sz="3200" b="1" dirty="0"/>
              <a:t> </a:t>
            </a:r>
            <a:r>
              <a:rPr lang="en-GB" sz="3200" b="1" dirty="0" err="1"/>
              <a:t>án</a:t>
            </a:r>
            <a:r>
              <a:rPr lang="en-GB" sz="3200" b="1" dirty="0"/>
              <a:t>: 6 </a:t>
            </a:r>
            <a:r>
              <a:rPr lang="en-GB" sz="3200" b="1" dirty="0" err="1"/>
              <a:t>tổ</a:t>
            </a:r>
            <a:r>
              <a:rPr lang="en-GB" sz="3200" b="1" dirty="0"/>
              <a:t> </a:t>
            </a:r>
            <a:r>
              <a:rPr lang="en-GB" sz="3200" b="1" dirty="0" err="1"/>
              <a:t>hợp</a:t>
            </a:r>
            <a:r>
              <a:rPr lang="en-GB" sz="3200" b="1" dirty="0"/>
              <a:t>).</a:t>
            </a:r>
          </a:p>
          <a:p>
            <a:pPr algn="just"/>
            <a:r>
              <a:rPr lang="vi-VN" sz="3200" b="1" dirty="0"/>
              <a:t>Vẽ sơ đồ bố trí thí nghiệm RCBD cho việc thử nghiệm 3 nồng độ hormone lên sự tạo mô sẹo (callus) thực vật.</a:t>
            </a:r>
            <a:endParaRPr lang="en-AU" sz="3200" b="1" dirty="0">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289771888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455F0-6A23-D5B2-3EC2-5E898468DB57}"/>
              </a:ext>
            </a:extLst>
          </p:cNvPr>
          <p:cNvSpPr>
            <a:spLocks noGrp="1"/>
          </p:cNvSpPr>
          <p:nvPr>
            <p:ph type="title"/>
          </p:nvPr>
        </p:nvSpPr>
        <p:spPr/>
        <p:txBody>
          <a:bodyPr>
            <a:noAutofit/>
          </a:bodyPr>
          <a:lstStyle/>
          <a:p>
            <a:r>
              <a:rPr lang="en-AU" sz="4400" b="1" dirty="0"/>
              <a:t>Quiz </a:t>
            </a:r>
            <a:r>
              <a:rPr lang="en-AU" sz="4400" b="1" dirty="0" err="1"/>
              <a:t>Phần</a:t>
            </a:r>
            <a:r>
              <a:rPr lang="en-AU" sz="4400" b="1" dirty="0"/>
              <a:t> 4</a:t>
            </a:r>
            <a:endParaRPr lang="en-AU" sz="41300" b="1"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3" name="Content Placeholder 2">
            <a:extLst>
              <a:ext uri="{FF2B5EF4-FFF2-40B4-BE49-F238E27FC236}">
                <a16:creationId xmlns:a16="http://schemas.microsoft.com/office/drawing/2014/main" id="{F10B2092-036B-85C5-5D03-9AC32C8303AB}"/>
              </a:ext>
            </a:extLst>
          </p:cNvPr>
          <p:cNvSpPr>
            <a:spLocks noGrp="1"/>
          </p:cNvSpPr>
          <p:nvPr>
            <p:ph idx="1"/>
          </p:nvPr>
        </p:nvSpPr>
        <p:spPr/>
        <p:txBody>
          <a:bodyPr>
            <a:noAutofit/>
          </a:bodyPr>
          <a:lstStyle/>
          <a:p>
            <a:pPr algn="just"/>
            <a:r>
              <a:rPr lang="vi-VN" sz="3200" b="1" dirty="0"/>
              <a:t>Tại sao cần ngẫu nhiên hóa? </a:t>
            </a:r>
            <a:endParaRPr lang="en-GB" sz="3200" b="1" dirty="0"/>
          </a:p>
          <a:p>
            <a:pPr algn="just"/>
            <a:r>
              <a:rPr lang="vi-VN" sz="3200" b="1" dirty="0"/>
              <a:t>A. Để khách quan; </a:t>
            </a:r>
            <a:endParaRPr lang="en-GB" sz="3200" b="1" dirty="0"/>
          </a:p>
          <a:p>
            <a:pPr algn="just"/>
            <a:r>
              <a:rPr lang="vi-VN" sz="3200" b="1" dirty="0"/>
              <a:t>B. Để đúng thống kê; </a:t>
            </a:r>
            <a:endParaRPr lang="en-GB" sz="3200" b="1" dirty="0"/>
          </a:p>
          <a:p>
            <a:pPr algn="just"/>
            <a:r>
              <a:rPr lang="vi-VN" sz="3200" b="1" dirty="0"/>
              <a:t>C. Cả hai</a:t>
            </a:r>
            <a:r>
              <a:rPr lang="en-GB" sz="3200" b="1" dirty="0"/>
              <a:t> </a:t>
            </a:r>
            <a:r>
              <a:rPr lang="en-GB" sz="3200" b="1" dirty="0" err="1"/>
              <a:t>đúng</a:t>
            </a:r>
            <a:r>
              <a:rPr lang="en-GB" sz="3200" b="1" dirty="0"/>
              <a:t>;</a:t>
            </a:r>
          </a:p>
          <a:p>
            <a:pPr algn="just"/>
            <a:r>
              <a:rPr lang="en-GB" sz="3200" b="1" dirty="0"/>
              <a:t>D. </a:t>
            </a:r>
            <a:r>
              <a:rPr lang="en-GB" sz="3200" b="1" dirty="0" err="1"/>
              <a:t>Cả</a:t>
            </a:r>
            <a:r>
              <a:rPr lang="en-GB" sz="3200" b="1" dirty="0"/>
              <a:t> </a:t>
            </a:r>
            <a:r>
              <a:rPr lang="en-GB" sz="3200" b="1" dirty="0" err="1"/>
              <a:t>hai</a:t>
            </a:r>
            <a:r>
              <a:rPr lang="en-GB" sz="3200" b="1" dirty="0"/>
              <a:t> </a:t>
            </a:r>
            <a:r>
              <a:rPr lang="en-GB" sz="3200" b="1" dirty="0" err="1"/>
              <a:t>sai</a:t>
            </a:r>
            <a:r>
              <a:rPr lang="en-GB" sz="3200" b="1" dirty="0"/>
              <a:t>;</a:t>
            </a:r>
          </a:p>
        </p:txBody>
      </p:sp>
    </p:spTree>
    <p:extLst>
      <p:ext uri="{BB962C8B-B14F-4D97-AF65-F5344CB8AC3E}">
        <p14:creationId xmlns:p14="http://schemas.microsoft.com/office/powerpoint/2010/main" val="170553278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455F0-6A23-D5B2-3EC2-5E898468DB57}"/>
              </a:ext>
            </a:extLst>
          </p:cNvPr>
          <p:cNvSpPr>
            <a:spLocks noGrp="1"/>
          </p:cNvSpPr>
          <p:nvPr>
            <p:ph type="title"/>
          </p:nvPr>
        </p:nvSpPr>
        <p:spPr/>
        <p:txBody>
          <a:bodyPr>
            <a:noAutofit/>
          </a:bodyPr>
          <a:lstStyle/>
          <a:p>
            <a:r>
              <a:rPr lang="en-AU" sz="4400" b="1" dirty="0"/>
              <a:t>Quiz </a:t>
            </a:r>
            <a:r>
              <a:rPr lang="en-AU" sz="4400" b="1" dirty="0" err="1"/>
              <a:t>Phần</a:t>
            </a:r>
            <a:r>
              <a:rPr lang="en-AU" sz="4400" b="1" dirty="0"/>
              <a:t> 4</a:t>
            </a:r>
            <a:endParaRPr lang="en-AU" sz="41300" b="1"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3" name="Content Placeholder 2">
            <a:extLst>
              <a:ext uri="{FF2B5EF4-FFF2-40B4-BE49-F238E27FC236}">
                <a16:creationId xmlns:a16="http://schemas.microsoft.com/office/drawing/2014/main" id="{F10B2092-036B-85C5-5D03-9AC32C8303AB}"/>
              </a:ext>
            </a:extLst>
          </p:cNvPr>
          <p:cNvSpPr>
            <a:spLocks noGrp="1"/>
          </p:cNvSpPr>
          <p:nvPr>
            <p:ph idx="1"/>
          </p:nvPr>
        </p:nvSpPr>
        <p:spPr/>
        <p:txBody>
          <a:bodyPr>
            <a:noAutofit/>
          </a:bodyPr>
          <a:lstStyle/>
          <a:p>
            <a:pPr algn="just"/>
            <a:r>
              <a:rPr lang="vi-VN" sz="3200" b="1" dirty="0"/>
              <a:t>Tại sao cần ngẫu nhiên hóa? </a:t>
            </a:r>
            <a:endParaRPr lang="en-GB" sz="3200" b="1" dirty="0"/>
          </a:p>
          <a:p>
            <a:pPr algn="just"/>
            <a:r>
              <a:rPr lang="vi-VN" sz="3200" b="1" dirty="0"/>
              <a:t>A. Để khách quan; </a:t>
            </a:r>
            <a:endParaRPr lang="en-GB" sz="3200" b="1" dirty="0"/>
          </a:p>
          <a:p>
            <a:pPr algn="just"/>
            <a:r>
              <a:rPr lang="vi-VN" sz="3200" b="1" dirty="0"/>
              <a:t>B. Để đúng thống kê; </a:t>
            </a:r>
            <a:endParaRPr lang="en-GB" sz="3200" b="1" dirty="0"/>
          </a:p>
          <a:p>
            <a:pPr algn="just"/>
            <a:r>
              <a:rPr lang="vi-VN" sz="3200" b="1" dirty="0"/>
              <a:t>C. Cả hai</a:t>
            </a:r>
            <a:r>
              <a:rPr lang="en-GB" sz="3200" b="1" dirty="0"/>
              <a:t> </a:t>
            </a:r>
            <a:r>
              <a:rPr lang="en-GB" sz="3200" b="1" dirty="0" err="1"/>
              <a:t>đúng</a:t>
            </a:r>
            <a:r>
              <a:rPr lang="en-GB" sz="3200" b="1" dirty="0"/>
              <a:t>;</a:t>
            </a:r>
          </a:p>
          <a:p>
            <a:pPr algn="just"/>
            <a:r>
              <a:rPr lang="en-GB" sz="3200" b="1" dirty="0"/>
              <a:t>D. </a:t>
            </a:r>
            <a:r>
              <a:rPr lang="en-GB" sz="3200" b="1" dirty="0" err="1"/>
              <a:t>Cả</a:t>
            </a:r>
            <a:r>
              <a:rPr lang="en-GB" sz="3200" b="1" dirty="0"/>
              <a:t> </a:t>
            </a:r>
            <a:r>
              <a:rPr lang="en-GB" sz="3200" b="1" dirty="0" err="1"/>
              <a:t>hai</a:t>
            </a:r>
            <a:r>
              <a:rPr lang="en-GB" sz="3200" b="1" dirty="0"/>
              <a:t> </a:t>
            </a:r>
            <a:r>
              <a:rPr lang="en-GB" sz="3200" b="1" dirty="0" err="1"/>
              <a:t>sai</a:t>
            </a:r>
            <a:r>
              <a:rPr lang="en-GB" sz="3200" b="1" dirty="0"/>
              <a:t>;</a:t>
            </a:r>
          </a:p>
          <a:p>
            <a:pPr algn="just"/>
            <a:r>
              <a:rPr lang="vi-VN" sz="3200" b="1" dirty="0"/>
              <a:t>Đáp án: C.</a:t>
            </a:r>
            <a:endParaRPr lang="en-AU" sz="3200" b="1" dirty="0">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59636580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455F0-6A23-D5B2-3EC2-5E898468DB57}"/>
              </a:ext>
            </a:extLst>
          </p:cNvPr>
          <p:cNvSpPr>
            <a:spLocks noGrp="1"/>
          </p:cNvSpPr>
          <p:nvPr>
            <p:ph type="title"/>
          </p:nvPr>
        </p:nvSpPr>
        <p:spPr/>
        <p:txBody>
          <a:bodyPr>
            <a:noAutofit/>
          </a:bodyPr>
          <a:lstStyle/>
          <a:p>
            <a:r>
              <a:rPr lang="vi-VN" sz="4800" b="1" dirty="0"/>
              <a:t>Tóm tắt 4 phần</a:t>
            </a:r>
            <a:endParaRPr lang="en-AU" sz="123400" b="1"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3" name="Content Placeholder 2">
            <a:extLst>
              <a:ext uri="{FF2B5EF4-FFF2-40B4-BE49-F238E27FC236}">
                <a16:creationId xmlns:a16="http://schemas.microsoft.com/office/drawing/2014/main" id="{F10B2092-036B-85C5-5D03-9AC32C8303AB}"/>
              </a:ext>
            </a:extLst>
          </p:cNvPr>
          <p:cNvSpPr>
            <a:spLocks noGrp="1"/>
          </p:cNvSpPr>
          <p:nvPr>
            <p:ph idx="1"/>
          </p:nvPr>
        </p:nvSpPr>
        <p:spPr/>
        <p:txBody>
          <a:bodyPr>
            <a:noAutofit/>
          </a:bodyPr>
          <a:lstStyle/>
          <a:p>
            <a:pPr algn="just"/>
            <a:r>
              <a:rPr lang="vi-VN" sz="3200" dirty="0">
                <a:latin typeface="Calibri Light" panose="020F0302020204030204" pitchFamily="34" charset="0"/>
              </a:rPr>
              <a:t>Nghiên cứu không bắt đầu từ Lab, nó bắt đầu từ tư duy.</a:t>
            </a:r>
            <a:endParaRPr lang="en-GB" sz="3200" dirty="0"/>
          </a:p>
          <a:p>
            <a:pPr algn="just"/>
            <a:r>
              <a:rPr lang="vi-VN" sz="3200" dirty="0"/>
              <a:t>Một thiết kế tốt giúp bảo vệ dữ liệu của các em trước hội đồng bảo vệ.</a:t>
            </a:r>
            <a:endParaRPr lang="en-AU" sz="3200" b="1" dirty="0">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273337045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455F0-6A23-D5B2-3EC2-5E898468DB57}"/>
              </a:ext>
            </a:extLst>
          </p:cNvPr>
          <p:cNvSpPr>
            <a:spLocks noGrp="1"/>
          </p:cNvSpPr>
          <p:nvPr>
            <p:ph type="title"/>
          </p:nvPr>
        </p:nvSpPr>
        <p:spPr/>
        <p:txBody>
          <a:bodyPr>
            <a:noAutofit/>
          </a:bodyPr>
          <a:lstStyle/>
          <a:p>
            <a:r>
              <a:rPr lang="vi-VN" sz="4800" b="1" dirty="0"/>
              <a:t>BÀI TẬP VỀ NHÀ VÀ THỰC HÀNH LAB</a:t>
            </a:r>
            <a:endParaRPr lang="en-AU" sz="123400" b="1"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3" name="Content Placeholder 2">
            <a:extLst>
              <a:ext uri="{FF2B5EF4-FFF2-40B4-BE49-F238E27FC236}">
                <a16:creationId xmlns:a16="http://schemas.microsoft.com/office/drawing/2014/main" id="{F10B2092-036B-85C5-5D03-9AC32C8303AB}"/>
              </a:ext>
            </a:extLst>
          </p:cNvPr>
          <p:cNvSpPr>
            <a:spLocks noGrp="1"/>
          </p:cNvSpPr>
          <p:nvPr>
            <p:ph idx="1"/>
          </p:nvPr>
        </p:nvSpPr>
        <p:spPr/>
        <p:txBody>
          <a:bodyPr>
            <a:noAutofit/>
          </a:bodyPr>
          <a:lstStyle/>
          <a:p>
            <a:pPr algn="just"/>
            <a:r>
              <a:rPr lang="vi-VN" sz="3200" b="1" dirty="0">
                <a:latin typeface="Calibri Light" panose="020F0302020204030204" pitchFamily="34" charset="0"/>
              </a:rPr>
              <a:t>Các em hãy phác thảo một bản thiết kế thực nghiệm cho dự án nhỏ: "Tối ưu hóa điều kiện lên men dưa cải bằng vi khuẩn Lactic tự nhiên".</a:t>
            </a:r>
            <a:endParaRPr lang="en-AU" sz="3200" b="1" dirty="0">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321293596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C9DB3-4258-9EBB-DB60-38DE348B4499}"/>
              </a:ext>
            </a:extLst>
          </p:cNvPr>
          <p:cNvSpPr>
            <a:spLocks noGrp="1"/>
          </p:cNvSpPr>
          <p:nvPr>
            <p:ph type="title"/>
          </p:nvPr>
        </p:nvSpPr>
        <p:spPr/>
        <p:txBody>
          <a:bodyPr>
            <a:normAutofit/>
          </a:bodyPr>
          <a:lstStyle/>
          <a:p>
            <a:pPr algn="ctr"/>
            <a:r>
              <a:rPr lang="en-GB" sz="6000" b="1" dirty="0" err="1">
                <a:latin typeface="Calibri Light" panose="020F0302020204030204" pitchFamily="34" charset="0"/>
                <a:ea typeface="Calibri Light" panose="020F0302020204030204" pitchFamily="34" charset="0"/>
                <a:cs typeface="Calibri Light" panose="020F0302020204030204" pitchFamily="34" charset="0"/>
              </a:rPr>
              <a:t>Cảm</a:t>
            </a:r>
            <a:r>
              <a:rPr lang="en-GB" sz="6000" b="1" dirty="0">
                <a:latin typeface="Calibri Light" panose="020F0302020204030204" pitchFamily="34" charset="0"/>
                <a:ea typeface="Calibri Light" panose="020F0302020204030204" pitchFamily="34" charset="0"/>
                <a:cs typeface="Calibri Light" panose="020F0302020204030204" pitchFamily="34" charset="0"/>
              </a:rPr>
              <a:t> </a:t>
            </a:r>
            <a:r>
              <a:rPr lang="en-GB" sz="6000" b="1" dirty="0" err="1">
                <a:latin typeface="Calibri Light" panose="020F0302020204030204" pitchFamily="34" charset="0"/>
                <a:ea typeface="Calibri Light" panose="020F0302020204030204" pitchFamily="34" charset="0"/>
                <a:cs typeface="Calibri Light" panose="020F0302020204030204" pitchFamily="34" charset="0"/>
              </a:rPr>
              <a:t>ơn</a:t>
            </a:r>
            <a:r>
              <a:rPr lang="en-GB" sz="6000" b="1" dirty="0">
                <a:latin typeface="Calibri Light" panose="020F0302020204030204" pitchFamily="34" charset="0"/>
                <a:ea typeface="Calibri Light" panose="020F0302020204030204" pitchFamily="34" charset="0"/>
                <a:cs typeface="Calibri Light" panose="020F0302020204030204" pitchFamily="34" charset="0"/>
              </a:rPr>
              <a:t> </a:t>
            </a:r>
            <a:r>
              <a:rPr lang="en-GB" sz="6000" b="1" dirty="0" err="1">
                <a:latin typeface="Calibri Light" panose="020F0302020204030204" pitchFamily="34" charset="0"/>
                <a:ea typeface="Calibri Light" panose="020F0302020204030204" pitchFamily="34" charset="0"/>
                <a:cs typeface="Calibri Light" panose="020F0302020204030204" pitchFamily="34" charset="0"/>
              </a:rPr>
              <a:t>các</a:t>
            </a:r>
            <a:r>
              <a:rPr lang="en-GB" sz="6000" b="1" dirty="0">
                <a:latin typeface="Calibri Light" panose="020F0302020204030204" pitchFamily="34" charset="0"/>
                <a:ea typeface="Calibri Light" panose="020F0302020204030204" pitchFamily="34" charset="0"/>
                <a:cs typeface="Calibri Light" panose="020F0302020204030204" pitchFamily="34" charset="0"/>
              </a:rPr>
              <a:t> </a:t>
            </a:r>
            <a:r>
              <a:rPr lang="en-GB" sz="6000" b="1" dirty="0" err="1">
                <a:latin typeface="Calibri Light" panose="020F0302020204030204" pitchFamily="34" charset="0"/>
                <a:ea typeface="Calibri Light" panose="020F0302020204030204" pitchFamily="34" charset="0"/>
                <a:cs typeface="Calibri Light" panose="020F0302020204030204" pitchFamily="34" charset="0"/>
              </a:rPr>
              <a:t>thầy</a:t>
            </a:r>
            <a:r>
              <a:rPr lang="en-GB" sz="6000" b="1" dirty="0">
                <a:latin typeface="Calibri Light" panose="020F0302020204030204" pitchFamily="34" charset="0"/>
                <a:ea typeface="Calibri Light" panose="020F0302020204030204" pitchFamily="34" charset="0"/>
                <a:cs typeface="Calibri Light" panose="020F0302020204030204" pitchFamily="34" charset="0"/>
              </a:rPr>
              <a:t> </a:t>
            </a:r>
            <a:r>
              <a:rPr lang="en-GB" sz="6000" b="1" dirty="0" err="1">
                <a:latin typeface="Calibri Light" panose="020F0302020204030204" pitchFamily="34" charset="0"/>
                <a:ea typeface="Calibri Light" panose="020F0302020204030204" pitchFamily="34" charset="0"/>
                <a:cs typeface="Calibri Light" panose="020F0302020204030204" pitchFamily="34" charset="0"/>
              </a:rPr>
              <a:t>cô</a:t>
            </a:r>
            <a:r>
              <a:rPr lang="en-GB" sz="6000" b="1" dirty="0">
                <a:latin typeface="Calibri Light" panose="020F0302020204030204" pitchFamily="34" charset="0"/>
                <a:ea typeface="Calibri Light" panose="020F0302020204030204" pitchFamily="34" charset="0"/>
                <a:cs typeface="Calibri Light" panose="020F0302020204030204" pitchFamily="34" charset="0"/>
              </a:rPr>
              <a:t> </a:t>
            </a:r>
            <a:r>
              <a:rPr lang="en-GB" sz="6000" b="1" dirty="0" err="1">
                <a:latin typeface="Calibri Light" panose="020F0302020204030204" pitchFamily="34" charset="0"/>
                <a:ea typeface="Calibri Light" panose="020F0302020204030204" pitchFamily="34" charset="0"/>
                <a:cs typeface="Calibri Light" panose="020F0302020204030204" pitchFamily="34" charset="0"/>
              </a:rPr>
              <a:t>và</a:t>
            </a:r>
            <a:r>
              <a:rPr lang="en-GB" sz="6000" b="1" dirty="0">
                <a:latin typeface="Calibri Light" panose="020F0302020204030204" pitchFamily="34" charset="0"/>
                <a:ea typeface="Calibri Light" panose="020F0302020204030204" pitchFamily="34" charset="0"/>
                <a:cs typeface="Calibri Light" panose="020F0302020204030204" pitchFamily="34" charset="0"/>
              </a:rPr>
              <a:t> </a:t>
            </a:r>
            <a:r>
              <a:rPr lang="en-GB" sz="6000" b="1" dirty="0" err="1">
                <a:latin typeface="Calibri Light" panose="020F0302020204030204" pitchFamily="34" charset="0"/>
                <a:ea typeface="Calibri Light" panose="020F0302020204030204" pitchFamily="34" charset="0"/>
                <a:cs typeface="Calibri Light" panose="020F0302020204030204" pitchFamily="34" charset="0"/>
              </a:rPr>
              <a:t>các</a:t>
            </a:r>
            <a:r>
              <a:rPr lang="en-GB" sz="6000" b="1" dirty="0">
                <a:latin typeface="Calibri Light" panose="020F0302020204030204" pitchFamily="34" charset="0"/>
                <a:ea typeface="Calibri Light" panose="020F0302020204030204" pitchFamily="34" charset="0"/>
                <a:cs typeface="Calibri Light" panose="020F0302020204030204" pitchFamily="34" charset="0"/>
              </a:rPr>
              <a:t> </a:t>
            </a:r>
            <a:r>
              <a:rPr lang="en-GB" sz="6000" b="1" dirty="0" err="1">
                <a:latin typeface="Calibri Light" panose="020F0302020204030204" pitchFamily="34" charset="0"/>
                <a:ea typeface="Calibri Light" panose="020F0302020204030204" pitchFamily="34" charset="0"/>
                <a:cs typeface="Calibri Light" panose="020F0302020204030204" pitchFamily="34" charset="0"/>
              </a:rPr>
              <a:t>bạn</a:t>
            </a:r>
            <a:r>
              <a:rPr lang="en-GB" sz="6000" b="1" dirty="0">
                <a:latin typeface="Calibri Light" panose="020F0302020204030204" pitchFamily="34" charset="0"/>
                <a:ea typeface="Calibri Light" panose="020F0302020204030204" pitchFamily="34" charset="0"/>
                <a:cs typeface="Calibri Light" panose="020F0302020204030204" pitchFamily="34" charset="0"/>
              </a:rPr>
              <a:t>!</a:t>
            </a:r>
            <a:endParaRPr lang="en-US" sz="6000" b="1" dirty="0">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4" name="Subtitle 2">
            <a:extLst>
              <a:ext uri="{FF2B5EF4-FFF2-40B4-BE49-F238E27FC236}">
                <a16:creationId xmlns:a16="http://schemas.microsoft.com/office/drawing/2014/main" id="{060107E6-93A6-B8E5-895E-D2A952055881}"/>
              </a:ext>
            </a:extLst>
          </p:cNvPr>
          <p:cNvSpPr txBox="1">
            <a:spLocks/>
          </p:cNvSpPr>
          <p:nvPr/>
        </p:nvSpPr>
        <p:spPr>
          <a:xfrm>
            <a:off x="2209800" y="2991079"/>
            <a:ext cx="9144000" cy="1766807"/>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alibri Light" panose="020F03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libri Light" panose="020F03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alibri Light" panose="020F03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libri Light" panose="020F03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libri Light" panose="020F03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b="1" dirty="0" err="1"/>
              <a:t>Ngày</a:t>
            </a:r>
            <a:r>
              <a:rPr lang="en-US" b="1" dirty="0"/>
              <a:t> 19 </a:t>
            </a:r>
            <a:r>
              <a:rPr lang="en-US" b="1" dirty="0" err="1"/>
              <a:t>tháng</a:t>
            </a:r>
            <a:r>
              <a:rPr lang="en-US" b="1" dirty="0"/>
              <a:t> 03 </a:t>
            </a:r>
            <a:r>
              <a:rPr lang="en-US" b="1" dirty="0" err="1"/>
              <a:t>năm</a:t>
            </a:r>
            <a:r>
              <a:rPr lang="en-US" b="1" dirty="0"/>
              <a:t> 2026</a:t>
            </a:r>
          </a:p>
          <a:p>
            <a:pPr marL="0" indent="0" algn="r">
              <a:buNone/>
            </a:pPr>
            <a:r>
              <a:rPr lang="en-US" b="1" dirty="0"/>
              <a:t>TS. </a:t>
            </a:r>
            <a:r>
              <a:rPr lang="en-US" b="1" dirty="0" err="1"/>
              <a:t>Lưu</a:t>
            </a:r>
            <a:r>
              <a:rPr lang="en-US" b="1" dirty="0"/>
              <a:t> Phúc Lợi</a:t>
            </a:r>
          </a:p>
          <a:p>
            <a:pPr marL="0" indent="0" algn="r">
              <a:buNone/>
            </a:pPr>
            <a:r>
              <a:rPr lang="en-US" b="1" dirty="0"/>
              <a:t>Email: </a:t>
            </a:r>
            <a:r>
              <a:rPr lang="en-US" b="1" dirty="0">
                <a:hlinkClick r:id="rId2"/>
              </a:rPr>
              <a:t>luu.p.loi@googlemail.com</a:t>
            </a:r>
            <a:endParaRPr lang="en-US" b="1" dirty="0"/>
          </a:p>
          <a:p>
            <a:pPr marL="0" indent="0" algn="r">
              <a:buNone/>
            </a:pPr>
            <a:r>
              <a:rPr lang="en-US" b="1" dirty="0" err="1"/>
              <a:t>Zalo</a:t>
            </a:r>
            <a:r>
              <a:rPr lang="en-US" b="1" dirty="0"/>
              <a:t>: 0901802182</a:t>
            </a:r>
          </a:p>
        </p:txBody>
      </p:sp>
    </p:spTree>
    <p:extLst>
      <p:ext uri="{BB962C8B-B14F-4D97-AF65-F5344CB8AC3E}">
        <p14:creationId xmlns:p14="http://schemas.microsoft.com/office/powerpoint/2010/main" val="2140952217"/>
      </p:ext>
    </p:extLst>
  </p:cSld>
  <p:clrMapOvr>
    <a:masterClrMapping/>
  </p:clrMapOvr>
</p:sld>
</file>

<file path=ppt/theme/theme1.xml><?xml version="1.0" encoding="utf-8"?>
<a:theme xmlns:a="http://schemas.openxmlformats.org/drawingml/2006/main" name="Berlin">
  <a:themeElements>
    <a:clrScheme name="Berlin">
      <a:dk1>
        <a:sysClr val="windowText" lastClr="000000"/>
      </a:dk1>
      <a:lt1>
        <a:sysClr val="window" lastClr="FFFFFF"/>
      </a:lt1>
      <a:dk2>
        <a:srgbClr val="9D360E"/>
      </a:dk2>
      <a:lt2>
        <a:srgbClr val="E7E6E6"/>
      </a:lt2>
      <a:accent1>
        <a:srgbClr val="F09415"/>
      </a:accent1>
      <a:accent2>
        <a:srgbClr val="C1B56B"/>
      </a:accent2>
      <a:accent3>
        <a:srgbClr val="4BAF73"/>
      </a:accent3>
      <a:accent4>
        <a:srgbClr val="5AA6C0"/>
      </a:accent4>
      <a:accent5>
        <a:srgbClr val="D17DF9"/>
      </a:accent5>
      <a:accent6>
        <a:srgbClr val="FA7E5C"/>
      </a:accent6>
      <a:hlink>
        <a:srgbClr val="FFAE3E"/>
      </a:hlink>
      <a:folHlink>
        <a:srgbClr val="FCC77E"/>
      </a:folHlink>
    </a:clrScheme>
    <a:fontScheme name="Berlin">
      <a:majorFont>
        <a:latin typeface="Trebuchet MS" panose="020B0603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panose="020B0603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270000"/>
                <a:satMod val="200000"/>
                <a:lumMod val="128000"/>
              </a:schemeClr>
            </a:gs>
            <a:gs pos="50000">
              <a:schemeClr val="phClr">
                <a:shade val="100000"/>
                <a:hueMod val="100000"/>
                <a:satMod val="110000"/>
                <a:lumMod val="130000"/>
              </a:schemeClr>
            </a:gs>
            <a:gs pos="100000">
              <a:schemeClr val="phClr">
                <a:shade val="78000"/>
                <a:hueMod val="44000"/>
                <a:satMod val="200000"/>
                <a:lumMod val="69000"/>
              </a:schemeClr>
            </a:gs>
          </a:gsLst>
          <a:lin ang="2520000" scaled="0"/>
        </a:gradFill>
      </a:bgFillStyleLst>
    </a:fmtScheme>
  </a:themeElements>
  <a:objectDefaults/>
  <a:extraClrSchemeLst/>
  <a:extLst>
    <a:ext uri="{05A4C25C-085E-4340-85A3-A5531E510DB2}">
      <thm15:themeFamily xmlns:thm15="http://schemas.microsoft.com/office/thememl/2012/main" name="Berlin" id="{7B5DBA9E-B069-418E-9360-A61BDD0615A4}" vid="{C0CBE056-4EF4-4D92-969E-947779DA7AAA}"/>
    </a:ext>
  </a:extLst>
</a:theme>
</file>

<file path=docProps/app.xml><?xml version="1.0" encoding="utf-8"?>
<Properties xmlns="http://schemas.openxmlformats.org/officeDocument/2006/extended-properties" xmlns:vt="http://schemas.openxmlformats.org/officeDocument/2006/docPropsVTypes">
  <Template>{1326A5BC-70F1-4908-8A61-8446BB3418EB}TF6e1c0bd6-43b7-4cba-aa12-42a644606054c9b78bf9-d218b69a002d</Template>
  <TotalTime>572</TotalTime>
  <Words>3169</Words>
  <Application>Microsoft Office PowerPoint</Application>
  <PresentationFormat>Widescreen</PresentationFormat>
  <Paragraphs>227</Paragraphs>
  <Slides>58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58</vt:i4>
      </vt:variant>
    </vt:vector>
  </HeadingPairs>
  <TitlesOfParts>
    <vt:vector size="62" baseType="lpstr">
      <vt:lpstr>Arial</vt:lpstr>
      <vt:lpstr>Calibri Light</vt:lpstr>
      <vt:lpstr>Wingdings</vt:lpstr>
      <vt:lpstr>Berlin</vt:lpstr>
      <vt:lpstr>Xác định vấn đề nghiên cứu và Thiết kế nghiên cứu</vt:lpstr>
      <vt:lpstr>Mục tiêu</vt:lpstr>
      <vt:lpstr>PHẦN 1: XÁC ĐỊNH VẤN ĐỀ NGHIÊN CỨU</vt:lpstr>
      <vt:lpstr>Vấn đề nghiên cứu là gì?</vt:lpstr>
      <vt:lpstr>Sự cần thiết của việc xác định vấn đề</vt:lpstr>
      <vt:lpstr>Các bước lựa chọn vấn đề (Kothari)</vt:lpstr>
      <vt:lpstr>Kỹ thuật rà soát tài liệu (Literature Review)</vt:lpstr>
      <vt:lpstr>Kỹ thuật đặt câu hỏi nghiên cứu</vt:lpstr>
      <vt:lpstr>Sự cần thiết của giả thuyết (Hypothesis)</vt:lpstr>
      <vt:lpstr>Bài tập ứng dụng 1</vt:lpstr>
      <vt:lpstr>Tổng kết kỹ thuật xác định vấn đề</vt:lpstr>
      <vt:lpstr>Quiz Phần 1 (Câu 1)</vt:lpstr>
      <vt:lpstr>Quiz Phần 1 (Câu 1)</vt:lpstr>
      <vt:lpstr>Quiz Phần 1 (Câu 2)</vt:lpstr>
      <vt:lpstr>Quiz Phần 1 (Câu 2)</vt:lpstr>
      <vt:lpstr>PHẦN 2: Ý NGHĨA &amp; ĐẶC ĐIỂM THIẾT KẾ NGHIÊN CỨU</vt:lpstr>
      <vt:lpstr>Khái niệm Thiết kế nghiên cứu</vt:lpstr>
      <vt:lpstr>Ý nghĩa của thiết kế</vt:lpstr>
      <vt:lpstr>Các biến số trong nghiên cứu</vt:lpstr>
      <vt:lpstr>Các biến số trong nghiên cứu</vt:lpstr>
      <vt:lpstr>Đặc điểm của thiết kế</vt:lpstr>
      <vt:lpstr>Tính kinh tế trong thiết kế</vt:lpstr>
      <vt:lpstr>Các thành phần của bản thiết kế</vt:lpstr>
      <vt:lpstr>Bài tập ứng dụng 2</vt:lpstr>
      <vt:lpstr>Tổng kết đặc điểm thiết kế tốt</vt:lpstr>
      <vt:lpstr>Quiz Phần 2</vt:lpstr>
      <vt:lpstr>Quiz Phần 2</vt:lpstr>
      <vt:lpstr>PHẦN 3: CÁC LOẠI THIẾT KẾ NGHIÊN CỨU</vt:lpstr>
      <vt:lpstr>Tổng quan phân loại thiết kế nghiên cứu (Singh, 2006)</vt:lpstr>
      <vt:lpstr>Thiết kế nghiên cứu thăm dò (Exploratory)</vt:lpstr>
      <vt:lpstr>Thiết kế nghiên cứu mô tả (Descriptive)</vt:lpstr>
      <vt:lpstr>Thiết kế nghiên cứu chẩn đoán (Diagnostic)</vt:lpstr>
      <vt:lpstr>Thiết kế kiểm định giả thuyết (Hypothesis-testing)</vt:lpstr>
      <vt:lpstr>Thiết kế nghiên cứu thực nghiệm (Experimental)</vt:lpstr>
      <vt:lpstr>Sự khác biệt về cấu trúc</vt:lpstr>
      <vt:lpstr>Bài tập ứng dụng 3</vt:lpstr>
      <vt:lpstr>Bài tập ứng dụng 3</vt:lpstr>
      <vt:lpstr>Bài tập ứng dụng 4</vt:lpstr>
      <vt:lpstr>Quiz Phần 3</vt:lpstr>
      <vt:lpstr>Quiz Phần 3</vt:lpstr>
      <vt:lpstr>PHẦN 4: THIẾT KẾ THỰC NGHIỆM TRONG CNSH</vt:lpstr>
      <vt:lpstr>Ba nguyên tắc của Fisher (Cực kỳ quan trọng)</vt:lpstr>
      <vt:lpstr>Nguyên tắc Lặp lại</vt:lpstr>
      <vt:lpstr>Nguyên tắc Ngẫu nhiên hóa</vt:lpstr>
      <vt:lpstr>Nguyên tắc Kiểm soát cục bộ</vt:lpstr>
      <vt:lpstr>Thiết kế Khối ngẫu nhiên (RCBD)</vt:lpstr>
      <vt:lpstr>Thiết kế Khối đầy đủ ngẫu nhiên (RCBD)</vt:lpstr>
      <vt:lpstr>Thiết kế Hình vuông Latinh (Latin Square)</vt:lpstr>
      <vt:lpstr>Thiết kế Hình vuông Latinh (Latin Square)</vt:lpstr>
      <vt:lpstr>Thiết kế Giai thừa (Factorial Design)</vt:lpstr>
      <vt:lpstr>Design of Experiments (DoE)</vt:lpstr>
      <vt:lpstr>Bài tập ứng dụng 5</vt:lpstr>
      <vt:lpstr>Bài tập ứng dụng 5</vt:lpstr>
      <vt:lpstr>Quiz Phần 4</vt:lpstr>
      <vt:lpstr>Quiz Phần 4</vt:lpstr>
      <vt:lpstr>Tóm tắt 4 phần</vt:lpstr>
      <vt:lpstr>BÀI TẬP VỀ NHÀ VÀ THỰC HÀNH LAB</vt:lpstr>
      <vt:lpstr>Cảm ơn các thầy cô và các bạn!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Luu Loi</dc:creator>
  <cp:lastModifiedBy>Luu Loi</cp:lastModifiedBy>
  <cp:revision>95</cp:revision>
  <dcterms:created xsi:type="dcterms:W3CDTF">2026-03-21T22:38:47Z</dcterms:created>
  <dcterms:modified xsi:type="dcterms:W3CDTF">2026-03-23T11:33:52Z</dcterms:modified>
</cp:coreProperties>
</file>