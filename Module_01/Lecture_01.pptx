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58" r:id="rId5"/>
    <p:sldId id="259" r:id="rId6"/>
    <p:sldId id="276" r:id="rId7"/>
    <p:sldId id="265" r:id="rId8"/>
    <p:sldId id="277" r:id="rId9"/>
    <p:sldId id="278" r:id="rId10"/>
    <p:sldId id="279" r:id="rId11"/>
    <p:sldId id="280" r:id="rId12"/>
    <p:sldId id="281" r:id="rId13"/>
    <p:sldId id="282" r:id="rId14"/>
    <p:sldId id="283" r:id="rId15"/>
    <p:sldId id="269" r:id="rId16"/>
    <p:sldId id="261" r:id="rId17"/>
    <p:sldId id="262" r:id="rId18"/>
    <p:sldId id="264" r:id="rId19"/>
    <p:sldId id="266" r:id="rId20"/>
    <p:sldId id="270" r:id="rId21"/>
    <p:sldId id="271" r:id="rId22"/>
    <p:sldId id="272" r:id="rId23"/>
    <p:sldId id="267" r:id="rId24"/>
    <p:sldId id="263" r:id="rId25"/>
    <p:sldId id="268" r:id="rId26"/>
    <p:sldId id="273" r:id="rId27"/>
    <p:sldId id="274" r:id="rId28"/>
    <p:sldId id="275"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6" autoAdjust="0"/>
    <p:restoredTop sz="94660"/>
  </p:normalViewPr>
  <p:slideViewPr>
    <p:cSldViewPr snapToGrid="0">
      <p:cViewPr varScale="1">
        <p:scale>
          <a:sx n="86" d="100"/>
          <a:sy n="86" d="100"/>
        </p:scale>
        <p:origin x="48" y="1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4B146-B277-0049-DF06-256AAD8E330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2A3B672-048F-01B3-9EA7-38AA88D27C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7DDD207-60B0-FFFE-8C0F-052890B061AF}"/>
              </a:ext>
            </a:extLst>
          </p:cNvPr>
          <p:cNvSpPr>
            <a:spLocks noGrp="1"/>
          </p:cNvSpPr>
          <p:nvPr>
            <p:ph type="dt" sz="half" idx="10"/>
          </p:nvPr>
        </p:nvSpPr>
        <p:spPr/>
        <p:txBody>
          <a:bodyPr/>
          <a:lstStyle/>
          <a:p>
            <a:fld id="{DA55F03B-EE6B-4ABD-A4A8-410BE423E79F}" type="datetimeFigureOut">
              <a:rPr lang="en-US" smtClean="0"/>
              <a:t>3/17/2026</a:t>
            </a:fld>
            <a:endParaRPr lang="en-US"/>
          </a:p>
        </p:txBody>
      </p:sp>
      <p:sp>
        <p:nvSpPr>
          <p:cNvPr id="5" name="Footer Placeholder 4">
            <a:extLst>
              <a:ext uri="{FF2B5EF4-FFF2-40B4-BE49-F238E27FC236}">
                <a16:creationId xmlns:a16="http://schemas.microsoft.com/office/drawing/2014/main" id="{E719B9DF-27C3-01C5-6C81-349843C269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FD806E-B4D4-D00B-FDED-FD5E0CDA8C66}"/>
              </a:ext>
            </a:extLst>
          </p:cNvPr>
          <p:cNvSpPr>
            <a:spLocks noGrp="1"/>
          </p:cNvSpPr>
          <p:nvPr>
            <p:ph type="sldNum" sz="quarter" idx="12"/>
          </p:nvPr>
        </p:nvSpPr>
        <p:spPr/>
        <p:txBody>
          <a:bodyPr/>
          <a:lstStyle/>
          <a:p>
            <a:fld id="{6F118974-6F83-4BD3-832E-72C67BB1B867}" type="slidenum">
              <a:rPr lang="en-US" smtClean="0"/>
              <a:t>‹#›</a:t>
            </a:fld>
            <a:endParaRPr lang="en-US"/>
          </a:p>
        </p:txBody>
      </p:sp>
    </p:spTree>
    <p:extLst>
      <p:ext uri="{BB962C8B-B14F-4D97-AF65-F5344CB8AC3E}">
        <p14:creationId xmlns:p14="http://schemas.microsoft.com/office/powerpoint/2010/main" val="38618342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50597-78F9-2293-7DC4-CE13D85879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8BF7A28-0155-0808-CDFF-FFCCBCEDF0C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EF81E5-AB5C-03B6-B05C-5AD55348A6C9}"/>
              </a:ext>
            </a:extLst>
          </p:cNvPr>
          <p:cNvSpPr>
            <a:spLocks noGrp="1"/>
          </p:cNvSpPr>
          <p:nvPr>
            <p:ph type="dt" sz="half" idx="10"/>
          </p:nvPr>
        </p:nvSpPr>
        <p:spPr/>
        <p:txBody>
          <a:bodyPr/>
          <a:lstStyle/>
          <a:p>
            <a:fld id="{DA55F03B-EE6B-4ABD-A4A8-410BE423E79F}" type="datetimeFigureOut">
              <a:rPr lang="en-US" smtClean="0"/>
              <a:t>3/17/2026</a:t>
            </a:fld>
            <a:endParaRPr lang="en-US"/>
          </a:p>
        </p:txBody>
      </p:sp>
      <p:sp>
        <p:nvSpPr>
          <p:cNvPr id="5" name="Footer Placeholder 4">
            <a:extLst>
              <a:ext uri="{FF2B5EF4-FFF2-40B4-BE49-F238E27FC236}">
                <a16:creationId xmlns:a16="http://schemas.microsoft.com/office/drawing/2014/main" id="{1152748A-FC3F-EF92-0968-E90C840CFF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074E44-8C39-3A0F-68FD-359FFA6393B7}"/>
              </a:ext>
            </a:extLst>
          </p:cNvPr>
          <p:cNvSpPr>
            <a:spLocks noGrp="1"/>
          </p:cNvSpPr>
          <p:nvPr>
            <p:ph type="sldNum" sz="quarter" idx="12"/>
          </p:nvPr>
        </p:nvSpPr>
        <p:spPr/>
        <p:txBody>
          <a:bodyPr/>
          <a:lstStyle/>
          <a:p>
            <a:fld id="{6F118974-6F83-4BD3-832E-72C67BB1B867}" type="slidenum">
              <a:rPr lang="en-US" smtClean="0"/>
              <a:t>‹#›</a:t>
            </a:fld>
            <a:endParaRPr lang="en-US"/>
          </a:p>
        </p:txBody>
      </p:sp>
    </p:spTree>
    <p:extLst>
      <p:ext uri="{BB962C8B-B14F-4D97-AF65-F5344CB8AC3E}">
        <p14:creationId xmlns:p14="http://schemas.microsoft.com/office/powerpoint/2010/main" val="469541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1D31D-8453-091E-27B3-D99BE1158FC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47E7D3C-3A0B-0F95-9065-AAD0646AE4B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B2E2ABD-5182-52AE-E4DB-D71850F77476}"/>
              </a:ext>
            </a:extLst>
          </p:cNvPr>
          <p:cNvSpPr>
            <a:spLocks noGrp="1"/>
          </p:cNvSpPr>
          <p:nvPr>
            <p:ph type="dt" sz="half" idx="10"/>
          </p:nvPr>
        </p:nvSpPr>
        <p:spPr/>
        <p:txBody>
          <a:bodyPr/>
          <a:lstStyle/>
          <a:p>
            <a:fld id="{DA55F03B-EE6B-4ABD-A4A8-410BE423E79F}" type="datetimeFigureOut">
              <a:rPr lang="en-US" smtClean="0"/>
              <a:t>3/17/2026</a:t>
            </a:fld>
            <a:endParaRPr lang="en-US"/>
          </a:p>
        </p:txBody>
      </p:sp>
      <p:sp>
        <p:nvSpPr>
          <p:cNvPr id="5" name="Footer Placeholder 4">
            <a:extLst>
              <a:ext uri="{FF2B5EF4-FFF2-40B4-BE49-F238E27FC236}">
                <a16:creationId xmlns:a16="http://schemas.microsoft.com/office/drawing/2014/main" id="{B71B311E-9D74-CFE4-99AE-7869C5DBF6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91BC8A-5439-0CDC-EEDD-5B7AD93EB90E}"/>
              </a:ext>
            </a:extLst>
          </p:cNvPr>
          <p:cNvSpPr>
            <a:spLocks noGrp="1"/>
          </p:cNvSpPr>
          <p:nvPr>
            <p:ph type="sldNum" sz="quarter" idx="12"/>
          </p:nvPr>
        </p:nvSpPr>
        <p:spPr/>
        <p:txBody>
          <a:bodyPr/>
          <a:lstStyle/>
          <a:p>
            <a:fld id="{6F118974-6F83-4BD3-832E-72C67BB1B867}" type="slidenum">
              <a:rPr lang="en-US" smtClean="0"/>
              <a:t>‹#›</a:t>
            </a:fld>
            <a:endParaRPr lang="en-US"/>
          </a:p>
        </p:txBody>
      </p:sp>
    </p:spTree>
    <p:extLst>
      <p:ext uri="{BB962C8B-B14F-4D97-AF65-F5344CB8AC3E}">
        <p14:creationId xmlns:p14="http://schemas.microsoft.com/office/powerpoint/2010/main" val="24006228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6C715-C4EE-116F-A89A-E68B945D355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5B6FC4-DB15-BE59-B20D-15EDC471066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A1F9957-7DFF-7E61-F532-CB089D7F13A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85DBCC4-17E0-B12C-B3C6-6EFC7A121AD7}"/>
              </a:ext>
            </a:extLst>
          </p:cNvPr>
          <p:cNvSpPr>
            <a:spLocks noGrp="1"/>
          </p:cNvSpPr>
          <p:nvPr>
            <p:ph type="dt" sz="half" idx="10"/>
          </p:nvPr>
        </p:nvSpPr>
        <p:spPr/>
        <p:txBody>
          <a:bodyPr/>
          <a:lstStyle/>
          <a:p>
            <a:fld id="{DA55F03B-EE6B-4ABD-A4A8-410BE423E79F}" type="datetimeFigureOut">
              <a:rPr lang="en-US" smtClean="0"/>
              <a:t>3/17/2026</a:t>
            </a:fld>
            <a:endParaRPr lang="en-US"/>
          </a:p>
        </p:txBody>
      </p:sp>
      <p:sp>
        <p:nvSpPr>
          <p:cNvPr id="6" name="Footer Placeholder 5">
            <a:extLst>
              <a:ext uri="{FF2B5EF4-FFF2-40B4-BE49-F238E27FC236}">
                <a16:creationId xmlns:a16="http://schemas.microsoft.com/office/drawing/2014/main" id="{E3F4A069-F47E-0762-0E84-68D0BA2661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AD41E6-B0F0-17D6-2D12-03DBF978A2D0}"/>
              </a:ext>
            </a:extLst>
          </p:cNvPr>
          <p:cNvSpPr>
            <a:spLocks noGrp="1"/>
          </p:cNvSpPr>
          <p:nvPr>
            <p:ph type="sldNum" sz="quarter" idx="12"/>
          </p:nvPr>
        </p:nvSpPr>
        <p:spPr/>
        <p:txBody>
          <a:bodyPr/>
          <a:lstStyle/>
          <a:p>
            <a:fld id="{6F118974-6F83-4BD3-832E-72C67BB1B867}" type="slidenum">
              <a:rPr lang="en-US" smtClean="0"/>
              <a:t>‹#›</a:t>
            </a:fld>
            <a:endParaRPr lang="en-US"/>
          </a:p>
        </p:txBody>
      </p:sp>
    </p:spTree>
    <p:extLst>
      <p:ext uri="{BB962C8B-B14F-4D97-AF65-F5344CB8AC3E}">
        <p14:creationId xmlns:p14="http://schemas.microsoft.com/office/powerpoint/2010/main" val="444682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DF25C-B199-E90C-5A70-8840FDB4544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5189058-3655-BDE6-F949-D97B077488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A445A16-7E9A-7F40-EA28-D03E2ED5F4A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73DFCAA-7401-F614-D197-EEDD936DB0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48C8527-9CA0-CEA4-D767-8267AE9A1C4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54EF8F3-13F3-9F61-8ECE-8EBB7C148C86}"/>
              </a:ext>
            </a:extLst>
          </p:cNvPr>
          <p:cNvSpPr>
            <a:spLocks noGrp="1"/>
          </p:cNvSpPr>
          <p:nvPr>
            <p:ph type="dt" sz="half" idx="10"/>
          </p:nvPr>
        </p:nvSpPr>
        <p:spPr/>
        <p:txBody>
          <a:bodyPr/>
          <a:lstStyle/>
          <a:p>
            <a:fld id="{DA55F03B-EE6B-4ABD-A4A8-410BE423E79F}" type="datetimeFigureOut">
              <a:rPr lang="en-US" smtClean="0"/>
              <a:t>3/17/2026</a:t>
            </a:fld>
            <a:endParaRPr lang="en-US"/>
          </a:p>
        </p:txBody>
      </p:sp>
      <p:sp>
        <p:nvSpPr>
          <p:cNvPr id="8" name="Footer Placeholder 7">
            <a:extLst>
              <a:ext uri="{FF2B5EF4-FFF2-40B4-BE49-F238E27FC236}">
                <a16:creationId xmlns:a16="http://schemas.microsoft.com/office/drawing/2014/main" id="{7E6E51C1-2A4D-28B4-4B1F-4119E8E1C3E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EE01CC5-DE67-B861-2E31-EA39E55325FF}"/>
              </a:ext>
            </a:extLst>
          </p:cNvPr>
          <p:cNvSpPr>
            <a:spLocks noGrp="1"/>
          </p:cNvSpPr>
          <p:nvPr>
            <p:ph type="sldNum" sz="quarter" idx="12"/>
          </p:nvPr>
        </p:nvSpPr>
        <p:spPr/>
        <p:txBody>
          <a:bodyPr/>
          <a:lstStyle/>
          <a:p>
            <a:fld id="{6F118974-6F83-4BD3-832E-72C67BB1B867}" type="slidenum">
              <a:rPr lang="en-US" smtClean="0"/>
              <a:t>‹#›</a:t>
            </a:fld>
            <a:endParaRPr lang="en-US"/>
          </a:p>
        </p:txBody>
      </p:sp>
    </p:spTree>
    <p:extLst>
      <p:ext uri="{BB962C8B-B14F-4D97-AF65-F5344CB8AC3E}">
        <p14:creationId xmlns:p14="http://schemas.microsoft.com/office/powerpoint/2010/main" val="10680802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B4356-FACE-DB4A-065B-0A57B012603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96F20D9-174D-FFFB-6781-D4D43B4C1C8E}"/>
              </a:ext>
            </a:extLst>
          </p:cNvPr>
          <p:cNvSpPr>
            <a:spLocks noGrp="1"/>
          </p:cNvSpPr>
          <p:nvPr>
            <p:ph type="dt" sz="half" idx="10"/>
          </p:nvPr>
        </p:nvSpPr>
        <p:spPr/>
        <p:txBody>
          <a:bodyPr/>
          <a:lstStyle/>
          <a:p>
            <a:fld id="{DA55F03B-EE6B-4ABD-A4A8-410BE423E79F}" type="datetimeFigureOut">
              <a:rPr lang="en-US" smtClean="0"/>
              <a:t>3/17/2026</a:t>
            </a:fld>
            <a:endParaRPr lang="en-US"/>
          </a:p>
        </p:txBody>
      </p:sp>
      <p:sp>
        <p:nvSpPr>
          <p:cNvPr id="4" name="Footer Placeholder 3">
            <a:extLst>
              <a:ext uri="{FF2B5EF4-FFF2-40B4-BE49-F238E27FC236}">
                <a16:creationId xmlns:a16="http://schemas.microsoft.com/office/drawing/2014/main" id="{A020C08D-1B7E-9966-8AF4-7C4F86344E3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4FA8C89-ACAB-0F03-C591-0FF0600EEC31}"/>
              </a:ext>
            </a:extLst>
          </p:cNvPr>
          <p:cNvSpPr>
            <a:spLocks noGrp="1"/>
          </p:cNvSpPr>
          <p:nvPr>
            <p:ph type="sldNum" sz="quarter" idx="12"/>
          </p:nvPr>
        </p:nvSpPr>
        <p:spPr/>
        <p:txBody>
          <a:bodyPr/>
          <a:lstStyle/>
          <a:p>
            <a:fld id="{6F118974-6F83-4BD3-832E-72C67BB1B867}" type="slidenum">
              <a:rPr lang="en-US" smtClean="0"/>
              <a:t>‹#›</a:t>
            </a:fld>
            <a:endParaRPr lang="en-US"/>
          </a:p>
        </p:txBody>
      </p:sp>
    </p:spTree>
    <p:extLst>
      <p:ext uri="{BB962C8B-B14F-4D97-AF65-F5344CB8AC3E}">
        <p14:creationId xmlns:p14="http://schemas.microsoft.com/office/powerpoint/2010/main" val="870528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C55058F-249E-1954-33E2-A437BCB23BDB}"/>
              </a:ext>
            </a:extLst>
          </p:cNvPr>
          <p:cNvSpPr>
            <a:spLocks noGrp="1"/>
          </p:cNvSpPr>
          <p:nvPr>
            <p:ph type="dt" sz="half" idx="10"/>
          </p:nvPr>
        </p:nvSpPr>
        <p:spPr/>
        <p:txBody>
          <a:bodyPr/>
          <a:lstStyle/>
          <a:p>
            <a:fld id="{DA55F03B-EE6B-4ABD-A4A8-410BE423E79F}" type="datetimeFigureOut">
              <a:rPr lang="en-US" smtClean="0"/>
              <a:t>3/17/2026</a:t>
            </a:fld>
            <a:endParaRPr lang="en-US"/>
          </a:p>
        </p:txBody>
      </p:sp>
      <p:sp>
        <p:nvSpPr>
          <p:cNvPr id="3" name="Footer Placeholder 2">
            <a:extLst>
              <a:ext uri="{FF2B5EF4-FFF2-40B4-BE49-F238E27FC236}">
                <a16:creationId xmlns:a16="http://schemas.microsoft.com/office/drawing/2014/main" id="{9789C86F-45A1-D972-6986-D7A3443F16A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DFEFEA6-539A-89D1-A001-70E35DCF4DCF}"/>
              </a:ext>
            </a:extLst>
          </p:cNvPr>
          <p:cNvSpPr>
            <a:spLocks noGrp="1"/>
          </p:cNvSpPr>
          <p:nvPr>
            <p:ph type="sldNum" sz="quarter" idx="12"/>
          </p:nvPr>
        </p:nvSpPr>
        <p:spPr/>
        <p:txBody>
          <a:bodyPr/>
          <a:lstStyle/>
          <a:p>
            <a:fld id="{6F118974-6F83-4BD3-832E-72C67BB1B867}" type="slidenum">
              <a:rPr lang="en-US" smtClean="0"/>
              <a:t>‹#›</a:t>
            </a:fld>
            <a:endParaRPr lang="en-US"/>
          </a:p>
        </p:txBody>
      </p:sp>
    </p:spTree>
    <p:extLst>
      <p:ext uri="{BB962C8B-B14F-4D97-AF65-F5344CB8AC3E}">
        <p14:creationId xmlns:p14="http://schemas.microsoft.com/office/powerpoint/2010/main" val="3416517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87B83-1ED8-2FA4-7BA8-F2E087388A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C6DA6BE-114E-5DA4-445B-65F128656C6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061E913-E042-BD2B-01DC-71041B49DE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859F31-0FB9-8027-83FB-9260016C92B2}"/>
              </a:ext>
            </a:extLst>
          </p:cNvPr>
          <p:cNvSpPr>
            <a:spLocks noGrp="1"/>
          </p:cNvSpPr>
          <p:nvPr>
            <p:ph type="dt" sz="half" idx="10"/>
          </p:nvPr>
        </p:nvSpPr>
        <p:spPr/>
        <p:txBody>
          <a:bodyPr/>
          <a:lstStyle/>
          <a:p>
            <a:fld id="{DA55F03B-EE6B-4ABD-A4A8-410BE423E79F}" type="datetimeFigureOut">
              <a:rPr lang="en-US" smtClean="0"/>
              <a:t>3/17/2026</a:t>
            </a:fld>
            <a:endParaRPr lang="en-US"/>
          </a:p>
        </p:txBody>
      </p:sp>
      <p:sp>
        <p:nvSpPr>
          <p:cNvPr id="6" name="Footer Placeholder 5">
            <a:extLst>
              <a:ext uri="{FF2B5EF4-FFF2-40B4-BE49-F238E27FC236}">
                <a16:creationId xmlns:a16="http://schemas.microsoft.com/office/drawing/2014/main" id="{2316ABF5-DF3F-797F-2326-34F9ECBE3A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75C539-6A5D-76D5-3EDB-0EC052AE67FB}"/>
              </a:ext>
            </a:extLst>
          </p:cNvPr>
          <p:cNvSpPr>
            <a:spLocks noGrp="1"/>
          </p:cNvSpPr>
          <p:nvPr>
            <p:ph type="sldNum" sz="quarter" idx="12"/>
          </p:nvPr>
        </p:nvSpPr>
        <p:spPr/>
        <p:txBody>
          <a:bodyPr/>
          <a:lstStyle/>
          <a:p>
            <a:fld id="{6F118974-6F83-4BD3-832E-72C67BB1B867}" type="slidenum">
              <a:rPr lang="en-US" smtClean="0"/>
              <a:t>‹#›</a:t>
            </a:fld>
            <a:endParaRPr lang="en-US"/>
          </a:p>
        </p:txBody>
      </p:sp>
    </p:spTree>
    <p:extLst>
      <p:ext uri="{BB962C8B-B14F-4D97-AF65-F5344CB8AC3E}">
        <p14:creationId xmlns:p14="http://schemas.microsoft.com/office/powerpoint/2010/main" val="41078022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04421-8069-8B23-CC36-BE6C9114A2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794EA29-E536-1077-C8AB-E8A865AF35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63693DA-AB6C-38A5-24FE-387CEC6B19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C8D337-E8BB-2E54-C0B8-86C1E3391E38}"/>
              </a:ext>
            </a:extLst>
          </p:cNvPr>
          <p:cNvSpPr>
            <a:spLocks noGrp="1"/>
          </p:cNvSpPr>
          <p:nvPr>
            <p:ph type="dt" sz="half" idx="10"/>
          </p:nvPr>
        </p:nvSpPr>
        <p:spPr/>
        <p:txBody>
          <a:bodyPr/>
          <a:lstStyle/>
          <a:p>
            <a:fld id="{DA55F03B-EE6B-4ABD-A4A8-410BE423E79F}" type="datetimeFigureOut">
              <a:rPr lang="en-US" smtClean="0"/>
              <a:t>3/17/2026</a:t>
            </a:fld>
            <a:endParaRPr lang="en-US"/>
          </a:p>
        </p:txBody>
      </p:sp>
      <p:sp>
        <p:nvSpPr>
          <p:cNvPr id="6" name="Footer Placeholder 5">
            <a:extLst>
              <a:ext uri="{FF2B5EF4-FFF2-40B4-BE49-F238E27FC236}">
                <a16:creationId xmlns:a16="http://schemas.microsoft.com/office/drawing/2014/main" id="{D4EB3558-EB42-EC1E-3F48-26D2E5A6CA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F740C6-D8DC-44B8-5FC7-CC8B36B3B793}"/>
              </a:ext>
            </a:extLst>
          </p:cNvPr>
          <p:cNvSpPr>
            <a:spLocks noGrp="1"/>
          </p:cNvSpPr>
          <p:nvPr>
            <p:ph type="sldNum" sz="quarter" idx="12"/>
          </p:nvPr>
        </p:nvSpPr>
        <p:spPr/>
        <p:txBody>
          <a:bodyPr/>
          <a:lstStyle/>
          <a:p>
            <a:fld id="{6F118974-6F83-4BD3-832E-72C67BB1B867}" type="slidenum">
              <a:rPr lang="en-US" smtClean="0"/>
              <a:t>‹#›</a:t>
            </a:fld>
            <a:endParaRPr lang="en-US"/>
          </a:p>
        </p:txBody>
      </p:sp>
    </p:spTree>
    <p:extLst>
      <p:ext uri="{BB962C8B-B14F-4D97-AF65-F5344CB8AC3E}">
        <p14:creationId xmlns:p14="http://schemas.microsoft.com/office/powerpoint/2010/main" val="27847335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A9901-2569-CC3F-392C-2AEC640B00A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F8DC888-6D37-F6EF-016E-4F330A5F4B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D4AC61-E557-CE61-EF14-E34A23677187}"/>
              </a:ext>
            </a:extLst>
          </p:cNvPr>
          <p:cNvSpPr>
            <a:spLocks noGrp="1"/>
          </p:cNvSpPr>
          <p:nvPr>
            <p:ph type="dt" sz="half" idx="10"/>
          </p:nvPr>
        </p:nvSpPr>
        <p:spPr/>
        <p:txBody>
          <a:bodyPr/>
          <a:lstStyle/>
          <a:p>
            <a:fld id="{DA55F03B-EE6B-4ABD-A4A8-410BE423E79F}" type="datetimeFigureOut">
              <a:rPr lang="en-US" smtClean="0"/>
              <a:t>3/17/2026</a:t>
            </a:fld>
            <a:endParaRPr lang="en-US"/>
          </a:p>
        </p:txBody>
      </p:sp>
      <p:sp>
        <p:nvSpPr>
          <p:cNvPr id="5" name="Footer Placeholder 4">
            <a:extLst>
              <a:ext uri="{FF2B5EF4-FFF2-40B4-BE49-F238E27FC236}">
                <a16:creationId xmlns:a16="http://schemas.microsoft.com/office/drawing/2014/main" id="{D7CEF27B-C0CF-B2C2-53AD-0F09AC5D86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290BED-3AAA-7ECC-140E-5E37BBEB4FE1}"/>
              </a:ext>
            </a:extLst>
          </p:cNvPr>
          <p:cNvSpPr>
            <a:spLocks noGrp="1"/>
          </p:cNvSpPr>
          <p:nvPr>
            <p:ph type="sldNum" sz="quarter" idx="12"/>
          </p:nvPr>
        </p:nvSpPr>
        <p:spPr/>
        <p:txBody>
          <a:bodyPr/>
          <a:lstStyle/>
          <a:p>
            <a:fld id="{6F118974-6F83-4BD3-832E-72C67BB1B867}" type="slidenum">
              <a:rPr lang="en-US" smtClean="0"/>
              <a:t>‹#›</a:t>
            </a:fld>
            <a:endParaRPr lang="en-US"/>
          </a:p>
        </p:txBody>
      </p:sp>
    </p:spTree>
    <p:extLst>
      <p:ext uri="{BB962C8B-B14F-4D97-AF65-F5344CB8AC3E}">
        <p14:creationId xmlns:p14="http://schemas.microsoft.com/office/powerpoint/2010/main" val="22259470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CAF5766-80A0-AA70-76D4-2C633D6ADDC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831A5E4-3491-98D5-7225-FF2AA9D4963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DCA28E-ADD1-3689-9BDB-58A5FE4C208A}"/>
              </a:ext>
            </a:extLst>
          </p:cNvPr>
          <p:cNvSpPr>
            <a:spLocks noGrp="1"/>
          </p:cNvSpPr>
          <p:nvPr>
            <p:ph type="dt" sz="half" idx="10"/>
          </p:nvPr>
        </p:nvSpPr>
        <p:spPr/>
        <p:txBody>
          <a:bodyPr/>
          <a:lstStyle/>
          <a:p>
            <a:fld id="{DA55F03B-EE6B-4ABD-A4A8-410BE423E79F}" type="datetimeFigureOut">
              <a:rPr lang="en-US" smtClean="0"/>
              <a:t>3/17/2026</a:t>
            </a:fld>
            <a:endParaRPr lang="en-US"/>
          </a:p>
        </p:txBody>
      </p:sp>
      <p:sp>
        <p:nvSpPr>
          <p:cNvPr id="5" name="Footer Placeholder 4">
            <a:extLst>
              <a:ext uri="{FF2B5EF4-FFF2-40B4-BE49-F238E27FC236}">
                <a16:creationId xmlns:a16="http://schemas.microsoft.com/office/drawing/2014/main" id="{A85BE42F-4F8B-93EC-17AD-B5A2042E36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1C1258-908B-B92D-811A-46C618330046}"/>
              </a:ext>
            </a:extLst>
          </p:cNvPr>
          <p:cNvSpPr>
            <a:spLocks noGrp="1"/>
          </p:cNvSpPr>
          <p:nvPr>
            <p:ph type="sldNum" sz="quarter" idx="12"/>
          </p:nvPr>
        </p:nvSpPr>
        <p:spPr/>
        <p:txBody>
          <a:bodyPr/>
          <a:lstStyle/>
          <a:p>
            <a:fld id="{6F118974-6F83-4BD3-832E-72C67BB1B867}" type="slidenum">
              <a:rPr lang="en-US" smtClean="0"/>
              <a:t>‹#›</a:t>
            </a:fld>
            <a:endParaRPr lang="en-US"/>
          </a:p>
        </p:txBody>
      </p:sp>
    </p:spTree>
    <p:extLst>
      <p:ext uri="{BB962C8B-B14F-4D97-AF65-F5344CB8AC3E}">
        <p14:creationId xmlns:p14="http://schemas.microsoft.com/office/powerpoint/2010/main" val="2641924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8AB27F8-ADE6-FA52-6A55-986CA0A5DCA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00B9D977-F595-84DD-CC74-89A5F4DBB89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CB4068D-9921-204C-A0F7-7AC8E4EF43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defRPr>
            </a:lvl1pPr>
          </a:lstStyle>
          <a:p>
            <a:fld id="{DA55F03B-EE6B-4ABD-A4A8-410BE423E79F}" type="datetimeFigureOut">
              <a:rPr lang="en-US" smtClean="0"/>
              <a:pPr/>
              <a:t>3/17/2026</a:t>
            </a:fld>
            <a:endParaRPr lang="en-US" dirty="0"/>
          </a:p>
        </p:txBody>
      </p:sp>
      <p:sp>
        <p:nvSpPr>
          <p:cNvPr id="5" name="Footer Placeholder 4">
            <a:extLst>
              <a:ext uri="{FF2B5EF4-FFF2-40B4-BE49-F238E27FC236}">
                <a16:creationId xmlns:a16="http://schemas.microsoft.com/office/drawing/2014/main" id="{B935ACB3-722A-43BF-C6AC-CA51C16D64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defRPr>
            </a:lvl1pPr>
          </a:lstStyle>
          <a:p>
            <a:endParaRPr lang="en-US" dirty="0"/>
          </a:p>
        </p:txBody>
      </p:sp>
      <p:sp>
        <p:nvSpPr>
          <p:cNvPr id="6" name="Slide Number Placeholder 5">
            <a:extLst>
              <a:ext uri="{FF2B5EF4-FFF2-40B4-BE49-F238E27FC236}">
                <a16:creationId xmlns:a16="http://schemas.microsoft.com/office/drawing/2014/main" id="{B9453A4D-637C-A423-4643-4891FE7C99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defRPr>
            </a:lvl1pPr>
          </a:lstStyle>
          <a:p>
            <a:fld id="{6F118974-6F83-4BD3-832E-72C67BB1B867}" type="slidenum">
              <a:rPr lang="en-US" smtClean="0"/>
              <a:pPr/>
              <a:t>‹#›</a:t>
            </a:fld>
            <a:endParaRPr lang="en-US" dirty="0"/>
          </a:p>
        </p:txBody>
      </p:sp>
    </p:spTree>
    <p:extLst>
      <p:ext uri="{BB962C8B-B14F-4D97-AF65-F5344CB8AC3E}">
        <p14:creationId xmlns:p14="http://schemas.microsoft.com/office/powerpoint/2010/main" val="33084186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7D242-4F7E-6812-9B82-C9AD79E61818}"/>
              </a:ext>
            </a:extLst>
          </p:cNvPr>
          <p:cNvSpPr>
            <a:spLocks noGrp="1"/>
          </p:cNvSpPr>
          <p:nvPr>
            <p:ph type="ctrTitle"/>
          </p:nvPr>
        </p:nvSpPr>
        <p:spPr>
          <a:xfrm>
            <a:off x="1188720" y="774323"/>
            <a:ext cx="9814560" cy="1892386"/>
          </a:xfrm>
        </p:spPr>
        <p:txBody>
          <a:bodyPr>
            <a:normAutofit/>
          </a:bodyPr>
          <a:lstStyle/>
          <a:p>
            <a:r>
              <a:rPr lang="en-US" sz="4000" b="1" i="0" dirty="0" err="1">
                <a:solidFill>
                  <a:srgbClr val="1F2328"/>
                </a:solidFill>
                <a:effectLst/>
                <a:latin typeface="Times New Roman" panose="02020603050405020304" pitchFamily="18" charset="0"/>
                <a:cs typeface="Times New Roman" panose="02020603050405020304" pitchFamily="18" charset="0"/>
              </a:rPr>
              <a:t>Bài</a:t>
            </a:r>
            <a:r>
              <a:rPr lang="en-US" sz="4000" b="1" i="0" dirty="0">
                <a:solidFill>
                  <a:srgbClr val="1F2328"/>
                </a:solidFill>
                <a:effectLst/>
                <a:latin typeface="Times New Roman" panose="02020603050405020304" pitchFamily="18" charset="0"/>
                <a:cs typeface="Times New Roman" panose="02020603050405020304" pitchFamily="18" charset="0"/>
              </a:rPr>
              <a:t> 1</a:t>
            </a:r>
            <a:br>
              <a:rPr lang="en-US" sz="4000" b="1" i="0" dirty="0">
                <a:solidFill>
                  <a:srgbClr val="1F2328"/>
                </a:solidFill>
                <a:effectLst/>
                <a:latin typeface="Times New Roman" panose="02020603050405020304" pitchFamily="18" charset="0"/>
                <a:cs typeface="Times New Roman" panose="02020603050405020304" pitchFamily="18" charset="0"/>
              </a:rPr>
            </a:br>
            <a:r>
              <a:rPr lang="en-US" sz="4400" b="1" i="0" dirty="0" err="1">
                <a:solidFill>
                  <a:srgbClr val="0070C0"/>
                </a:solidFill>
                <a:effectLst/>
                <a:latin typeface="Times New Roman" panose="02020603050405020304" pitchFamily="18" charset="0"/>
                <a:cs typeface="Times New Roman" panose="02020603050405020304" pitchFamily="18" charset="0"/>
              </a:rPr>
              <a:t>Giới</a:t>
            </a:r>
            <a:r>
              <a:rPr lang="en-US" sz="4400" b="1" i="0" dirty="0">
                <a:solidFill>
                  <a:srgbClr val="0070C0"/>
                </a:solidFill>
                <a:effectLst/>
                <a:latin typeface="Times New Roman" panose="02020603050405020304" pitchFamily="18" charset="0"/>
                <a:cs typeface="Times New Roman" panose="02020603050405020304" pitchFamily="18" charset="0"/>
              </a:rPr>
              <a:t> </a:t>
            </a:r>
            <a:r>
              <a:rPr lang="en-US" sz="4400" b="1" i="0" dirty="0" err="1">
                <a:solidFill>
                  <a:srgbClr val="0070C0"/>
                </a:solidFill>
                <a:effectLst/>
                <a:latin typeface="Times New Roman" panose="02020603050405020304" pitchFamily="18" charset="0"/>
                <a:cs typeface="Times New Roman" panose="02020603050405020304" pitchFamily="18" charset="0"/>
              </a:rPr>
              <a:t>thiệu</a:t>
            </a:r>
            <a:r>
              <a:rPr lang="en-US" sz="4400" b="1" i="0" dirty="0">
                <a:solidFill>
                  <a:srgbClr val="0070C0"/>
                </a:solidFill>
                <a:effectLst/>
                <a:latin typeface="Times New Roman" panose="02020603050405020304" pitchFamily="18" charset="0"/>
                <a:cs typeface="Times New Roman" panose="02020603050405020304" pitchFamily="18" charset="0"/>
              </a:rPr>
              <a:t> </a:t>
            </a:r>
            <a:r>
              <a:rPr lang="en-US" sz="4400" b="1" i="0" dirty="0" err="1">
                <a:solidFill>
                  <a:srgbClr val="0070C0"/>
                </a:solidFill>
                <a:effectLst/>
                <a:latin typeface="Times New Roman" panose="02020603050405020304" pitchFamily="18" charset="0"/>
                <a:cs typeface="Times New Roman" panose="02020603050405020304" pitchFamily="18" charset="0"/>
              </a:rPr>
              <a:t>về</a:t>
            </a:r>
            <a:r>
              <a:rPr lang="en-US" sz="4400" b="1" i="0" dirty="0">
                <a:solidFill>
                  <a:srgbClr val="0070C0"/>
                </a:solidFill>
                <a:effectLst/>
                <a:latin typeface="Times New Roman" panose="02020603050405020304" pitchFamily="18" charset="0"/>
                <a:cs typeface="Times New Roman" panose="02020603050405020304" pitchFamily="18" charset="0"/>
              </a:rPr>
              <a:t> </a:t>
            </a:r>
            <a:r>
              <a:rPr lang="en-US" sz="4400" b="1" i="0" dirty="0" err="1">
                <a:solidFill>
                  <a:srgbClr val="0070C0"/>
                </a:solidFill>
                <a:effectLst/>
                <a:latin typeface="Times New Roman" panose="02020603050405020304" pitchFamily="18" charset="0"/>
                <a:cs typeface="Times New Roman" panose="02020603050405020304" pitchFamily="18" charset="0"/>
              </a:rPr>
              <a:t>nghiên</a:t>
            </a:r>
            <a:r>
              <a:rPr lang="en-US" sz="4400" b="1" i="0" dirty="0">
                <a:solidFill>
                  <a:srgbClr val="0070C0"/>
                </a:solidFill>
                <a:effectLst/>
                <a:latin typeface="Times New Roman" panose="02020603050405020304" pitchFamily="18" charset="0"/>
                <a:cs typeface="Times New Roman" panose="02020603050405020304" pitchFamily="18" charset="0"/>
              </a:rPr>
              <a:t> </a:t>
            </a:r>
            <a:r>
              <a:rPr lang="en-US" sz="4400" b="1" i="0" dirty="0" err="1">
                <a:solidFill>
                  <a:srgbClr val="0070C0"/>
                </a:solidFill>
                <a:effectLst/>
                <a:latin typeface="Times New Roman" panose="02020603050405020304" pitchFamily="18" charset="0"/>
                <a:cs typeface="Times New Roman" panose="02020603050405020304" pitchFamily="18" charset="0"/>
              </a:rPr>
              <a:t>cứu</a:t>
            </a:r>
            <a:r>
              <a:rPr lang="en-US" sz="4400" b="1" i="0" dirty="0">
                <a:solidFill>
                  <a:srgbClr val="0070C0"/>
                </a:solidFill>
                <a:effectLst/>
                <a:latin typeface="Times New Roman" panose="02020603050405020304" pitchFamily="18" charset="0"/>
                <a:cs typeface="Times New Roman" panose="02020603050405020304" pitchFamily="18" charset="0"/>
              </a:rPr>
              <a:t> khoa </a:t>
            </a:r>
            <a:r>
              <a:rPr lang="en-US" sz="4400" b="1" i="0" dirty="0" err="1">
                <a:solidFill>
                  <a:srgbClr val="0070C0"/>
                </a:solidFill>
                <a:effectLst/>
                <a:latin typeface="Times New Roman" panose="02020603050405020304" pitchFamily="18" charset="0"/>
                <a:cs typeface="Times New Roman" panose="02020603050405020304" pitchFamily="18" charset="0"/>
              </a:rPr>
              <a:t>học</a:t>
            </a:r>
            <a:r>
              <a:rPr lang="en-US" sz="4400" b="1" i="0" dirty="0">
                <a:solidFill>
                  <a:srgbClr val="0070C0"/>
                </a:solidFill>
                <a:effectLst/>
                <a:latin typeface="Times New Roman" panose="02020603050405020304" pitchFamily="18" charset="0"/>
                <a:cs typeface="Times New Roman" panose="02020603050405020304" pitchFamily="18" charset="0"/>
              </a:rPr>
              <a:t> </a:t>
            </a:r>
            <a:r>
              <a:rPr lang="en-US" sz="4400" b="1" i="0" dirty="0" err="1">
                <a:solidFill>
                  <a:srgbClr val="0070C0"/>
                </a:solidFill>
                <a:effectLst/>
                <a:latin typeface="Times New Roman" panose="02020603050405020304" pitchFamily="18" charset="0"/>
                <a:cs typeface="Times New Roman" panose="02020603050405020304" pitchFamily="18" charset="0"/>
              </a:rPr>
              <a:t>và</a:t>
            </a:r>
            <a:r>
              <a:rPr lang="en-US" sz="4400" b="1" i="0" dirty="0">
                <a:solidFill>
                  <a:srgbClr val="0070C0"/>
                </a:solidFill>
                <a:effectLst/>
                <a:latin typeface="Times New Roman" panose="02020603050405020304" pitchFamily="18" charset="0"/>
                <a:cs typeface="Times New Roman" panose="02020603050405020304" pitchFamily="18" charset="0"/>
              </a:rPr>
              <a:t> y </a:t>
            </a:r>
            <a:r>
              <a:rPr lang="en-US" sz="4400" b="1" i="0" dirty="0" err="1">
                <a:solidFill>
                  <a:srgbClr val="0070C0"/>
                </a:solidFill>
                <a:effectLst/>
                <a:latin typeface="Times New Roman" panose="02020603050405020304" pitchFamily="18" charset="0"/>
                <a:cs typeface="Times New Roman" panose="02020603050405020304" pitchFamily="18" charset="0"/>
              </a:rPr>
              <a:t>đức</a:t>
            </a:r>
            <a:r>
              <a:rPr lang="en-US" sz="4400" b="1" i="0" dirty="0">
                <a:solidFill>
                  <a:srgbClr val="0070C0"/>
                </a:solidFill>
                <a:effectLst/>
                <a:latin typeface="Times New Roman" panose="02020603050405020304" pitchFamily="18" charset="0"/>
                <a:cs typeface="Times New Roman" panose="02020603050405020304" pitchFamily="18" charset="0"/>
              </a:rPr>
              <a:t> </a:t>
            </a:r>
            <a:r>
              <a:rPr lang="en-US" sz="4400" b="1" i="0" dirty="0" err="1">
                <a:solidFill>
                  <a:srgbClr val="0070C0"/>
                </a:solidFill>
                <a:effectLst/>
                <a:latin typeface="Times New Roman" panose="02020603050405020304" pitchFamily="18" charset="0"/>
                <a:cs typeface="Times New Roman" panose="02020603050405020304" pitchFamily="18" charset="0"/>
              </a:rPr>
              <a:t>trong</a:t>
            </a:r>
            <a:r>
              <a:rPr lang="en-US" sz="4400" b="1" i="0" dirty="0">
                <a:solidFill>
                  <a:srgbClr val="0070C0"/>
                </a:solidFill>
                <a:effectLst/>
                <a:latin typeface="Times New Roman" panose="02020603050405020304" pitchFamily="18" charset="0"/>
                <a:cs typeface="Times New Roman" panose="02020603050405020304" pitchFamily="18" charset="0"/>
              </a:rPr>
              <a:t> </a:t>
            </a:r>
            <a:r>
              <a:rPr lang="en-US" sz="4400" b="1" i="0" dirty="0" err="1">
                <a:solidFill>
                  <a:srgbClr val="0070C0"/>
                </a:solidFill>
                <a:effectLst/>
                <a:latin typeface="Times New Roman" panose="02020603050405020304" pitchFamily="18" charset="0"/>
                <a:cs typeface="Times New Roman" panose="02020603050405020304" pitchFamily="18" charset="0"/>
              </a:rPr>
              <a:t>nghiên</a:t>
            </a:r>
            <a:r>
              <a:rPr lang="en-US" sz="4400" b="1" i="0" dirty="0">
                <a:solidFill>
                  <a:srgbClr val="0070C0"/>
                </a:solidFill>
                <a:effectLst/>
                <a:latin typeface="Times New Roman" panose="02020603050405020304" pitchFamily="18" charset="0"/>
                <a:cs typeface="Times New Roman" panose="02020603050405020304" pitchFamily="18" charset="0"/>
              </a:rPr>
              <a:t> </a:t>
            </a:r>
            <a:r>
              <a:rPr lang="en-US" sz="4400" b="1" i="0" dirty="0" err="1">
                <a:solidFill>
                  <a:srgbClr val="0070C0"/>
                </a:solidFill>
                <a:effectLst/>
                <a:latin typeface="Times New Roman" panose="02020603050405020304" pitchFamily="18" charset="0"/>
                <a:cs typeface="Times New Roman" panose="02020603050405020304" pitchFamily="18" charset="0"/>
              </a:rPr>
              <a:t>cứu</a:t>
            </a:r>
            <a:r>
              <a:rPr lang="en-US" sz="4400" b="1" i="0" dirty="0">
                <a:solidFill>
                  <a:srgbClr val="0070C0"/>
                </a:solidFill>
                <a:effectLst/>
                <a:latin typeface="Times New Roman" panose="02020603050405020304" pitchFamily="18" charset="0"/>
                <a:cs typeface="Times New Roman" panose="02020603050405020304" pitchFamily="18" charset="0"/>
              </a:rPr>
              <a:t> y </a:t>
            </a:r>
            <a:r>
              <a:rPr lang="en-US" sz="4400" b="1" i="0" dirty="0" err="1">
                <a:solidFill>
                  <a:srgbClr val="0070C0"/>
                </a:solidFill>
                <a:effectLst/>
                <a:latin typeface="Times New Roman" panose="02020603050405020304" pitchFamily="18" charset="0"/>
                <a:cs typeface="Times New Roman" panose="02020603050405020304" pitchFamily="18" charset="0"/>
              </a:rPr>
              <a:t>sinh</a:t>
            </a:r>
            <a:r>
              <a:rPr lang="en-US" sz="4400" b="1" i="0" dirty="0">
                <a:solidFill>
                  <a:srgbClr val="0070C0"/>
                </a:solidFill>
                <a:effectLst/>
                <a:latin typeface="Times New Roman" panose="02020603050405020304" pitchFamily="18" charset="0"/>
                <a:cs typeface="Times New Roman" panose="02020603050405020304" pitchFamily="18" charset="0"/>
              </a:rPr>
              <a:t> </a:t>
            </a:r>
            <a:r>
              <a:rPr lang="en-US" sz="4400" b="1" i="0" dirty="0" err="1">
                <a:solidFill>
                  <a:srgbClr val="0070C0"/>
                </a:solidFill>
                <a:effectLst/>
                <a:latin typeface="Times New Roman" panose="02020603050405020304" pitchFamily="18" charset="0"/>
                <a:cs typeface="Times New Roman" panose="02020603050405020304" pitchFamily="18" charset="0"/>
              </a:rPr>
              <a:t>học</a:t>
            </a:r>
            <a:endParaRPr lang="en-US" sz="4400" dirty="0">
              <a:solidFill>
                <a:srgbClr val="0070C0"/>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6BF14DA3-7F61-76B0-4A6A-FD3CE304710E}"/>
              </a:ext>
            </a:extLst>
          </p:cNvPr>
          <p:cNvSpPr>
            <a:spLocks noGrp="1"/>
          </p:cNvSpPr>
          <p:nvPr>
            <p:ph type="subTitle" idx="1"/>
          </p:nvPr>
        </p:nvSpPr>
        <p:spPr>
          <a:xfrm>
            <a:off x="1579420" y="3812628"/>
            <a:ext cx="9144000" cy="1655762"/>
          </a:xfrm>
        </p:spPr>
        <p:txBody>
          <a:bodyPr>
            <a:normAutofit fontScale="85000" lnSpcReduction="20000"/>
          </a:bodyPr>
          <a:lstStyle/>
          <a:p>
            <a:pPr>
              <a:lnSpc>
                <a:spcPct val="120000"/>
              </a:lnSpc>
              <a:spcBef>
                <a:spcPts val="0"/>
              </a:spcBef>
            </a:pPr>
            <a:r>
              <a:rPr lang="en-GB" dirty="0">
                <a:cs typeface="Times New Roman" panose="02020603050405020304" pitchFamily="18" charset="0"/>
              </a:rPr>
              <a:t>M</a:t>
            </a:r>
            <a:r>
              <a:rPr lang="en-GB" dirty="0">
                <a:latin typeface="Times New Roman" panose="02020603050405020304" pitchFamily="18" charset="0"/>
                <a:cs typeface="Times New Roman" panose="02020603050405020304" pitchFamily="18" charset="0"/>
              </a:rPr>
              <a:t>arch 17 2026</a:t>
            </a:r>
          </a:p>
          <a:p>
            <a:pPr>
              <a:lnSpc>
                <a:spcPct val="120000"/>
              </a:lnSpc>
              <a:spcBef>
                <a:spcPts val="0"/>
              </a:spcBef>
            </a:pPr>
            <a:r>
              <a:rPr lang="en-GB" dirty="0">
                <a:latin typeface="Times New Roman" panose="02020603050405020304" pitchFamily="18" charset="0"/>
                <a:cs typeface="Times New Roman" panose="02020603050405020304" pitchFamily="18" charset="0"/>
              </a:rPr>
              <a:t>TS. </a:t>
            </a:r>
            <a:r>
              <a:rPr lang="en-GB" dirty="0" err="1">
                <a:latin typeface="Times New Roman" panose="02020603050405020304" pitchFamily="18" charset="0"/>
                <a:cs typeface="Times New Roman" panose="02020603050405020304" pitchFamily="18" charset="0"/>
              </a:rPr>
              <a:t>Lưu</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Phúc</a:t>
            </a:r>
            <a:r>
              <a:rPr lang="en-GB" dirty="0">
                <a:latin typeface="Times New Roman" panose="02020603050405020304" pitchFamily="18" charset="0"/>
                <a:cs typeface="Times New Roman" panose="02020603050405020304" pitchFamily="18" charset="0"/>
              </a:rPr>
              <a:t> Lợi</a:t>
            </a:r>
          </a:p>
          <a:p>
            <a:pPr>
              <a:lnSpc>
                <a:spcPct val="120000"/>
              </a:lnSpc>
              <a:spcBef>
                <a:spcPts val="0"/>
              </a:spcBef>
            </a:pPr>
            <a:r>
              <a:rPr lang="vi-VN" b="1" dirty="0">
                <a:solidFill>
                  <a:srgbClr val="0070C0"/>
                </a:solidFill>
                <a:latin typeface="Times New Roman" panose="02020603050405020304" pitchFamily="18" charset="0"/>
                <a:cs typeface="Times New Roman" panose="02020603050405020304" pitchFamily="18" charset="0"/>
              </a:rPr>
              <a:t>Viện Nghiên cứu Ứng dụng Khoa học Sức khỏe và Lão hóa (ARiHA)</a:t>
            </a:r>
            <a:r>
              <a:rPr lang="en-GB" b="1" dirty="0">
                <a:solidFill>
                  <a:srgbClr val="0070C0"/>
                </a:solidFill>
                <a:latin typeface="Times New Roman" panose="02020603050405020304" pitchFamily="18" charset="0"/>
                <a:cs typeface="Times New Roman" panose="02020603050405020304" pitchFamily="18" charset="0"/>
              </a:rPr>
              <a:t> </a:t>
            </a:r>
          </a:p>
          <a:p>
            <a:pPr>
              <a:lnSpc>
                <a:spcPct val="120000"/>
              </a:lnSpc>
              <a:spcBef>
                <a:spcPts val="0"/>
              </a:spcBef>
            </a:pPr>
            <a:r>
              <a:rPr lang="en-GB" b="1" dirty="0" err="1">
                <a:solidFill>
                  <a:srgbClr val="0070C0"/>
                </a:solidFill>
                <a:latin typeface="Times New Roman" panose="02020603050405020304" pitchFamily="18" charset="0"/>
                <a:cs typeface="Times New Roman" panose="02020603050405020304" pitchFamily="18" charset="0"/>
              </a:rPr>
              <a:t>Bệnh</a:t>
            </a:r>
            <a:r>
              <a:rPr lang="en-GB" b="1" dirty="0">
                <a:solidFill>
                  <a:srgbClr val="0070C0"/>
                </a:solidFill>
                <a:latin typeface="Times New Roman" panose="02020603050405020304" pitchFamily="18" charset="0"/>
                <a:cs typeface="Times New Roman" panose="02020603050405020304" pitchFamily="18" charset="0"/>
              </a:rPr>
              <a:t> </a:t>
            </a:r>
            <a:r>
              <a:rPr lang="en-GB" b="1" dirty="0" err="1">
                <a:solidFill>
                  <a:srgbClr val="0070C0"/>
                </a:solidFill>
                <a:latin typeface="Times New Roman" panose="02020603050405020304" pitchFamily="18" charset="0"/>
                <a:cs typeface="Times New Roman" panose="02020603050405020304" pitchFamily="18" charset="0"/>
              </a:rPr>
              <a:t>viện</a:t>
            </a:r>
            <a:r>
              <a:rPr lang="en-GB" b="1" dirty="0">
                <a:solidFill>
                  <a:srgbClr val="0070C0"/>
                </a:solidFill>
                <a:latin typeface="Times New Roman" panose="02020603050405020304" pitchFamily="18" charset="0"/>
                <a:cs typeface="Times New Roman" panose="02020603050405020304" pitchFamily="18" charset="0"/>
              </a:rPr>
              <a:t> </a:t>
            </a:r>
            <a:r>
              <a:rPr lang="en-GB" b="1" dirty="0" err="1">
                <a:solidFill>
                  <a:srgbClr val="0070C0"/>
                </a:solidFill>
                <a:latin typeface="Times New Roman" panose="02020603050405020304" pitchFamily="18" charset="0"/>
                <a:cs typeface="Times New Roman" panose="02020603050405020304" pitchFamily="18" charset="0"/>
              </a:rPr>
              <a:t>Thống</a:t>
            </a:r>
            <a:r>
              <a:rPr lang="en-GB" b="1" dirty="0">
                <a:solidFill>
                  <a:srgbClr val="0070C0"/>
                </a:solidFill>
                <a:latin typeface="Times New Roman" panose="02020603050405020304" pitchFamily="18" charset="0"/>
                <a:cs typeface="Times New Roman" panose="02020603050405020304" pitchFamily="18" charset="0"/>
              </a:rPr>
              <a:t> </a:t>
            </a:r>
            <a:r>
              <a:rPr lang="en-GB" b="1" dirty="0" err="1">
                <a:solidFill>
                  <a:srgbClr val="0070C0"/>
                </a:solidFill>
                <a:latin typeface="Times New Roman" panose="02020603050405020304" pitchFamily="18" charset="0"/>
                <a:cs typeface="Times New Roman" panose="02020603050405020304" pitchFamily="18" charset="0"/>
              </a:rPr>
              <a:t>Nhất</a:t>
            </a:r>
            <a:br>
              <a:rPr lang="en-GB" b="1" dirty="0">
                <a:solidFill>
                  <a:srgbClr val="0070C0"/>
                </a:solidFill>
                <a:latin typeface="Times New Roman" panose="02020603050405020304" pitchFamily="18" charset="0"/>
                <a:cs typeface="Times New Roman" panose="02020603050405020304" pitchFamily="18" charset="0"/>
              </a:rPr>
            </a:br>
            <a:r>
              <a:rPr lang="fr-FR" dirty="0">
                <a:solidFill>
                  <a:srgbClr val="0070C0"/>
                </a:solidFill>
                <a:latin typeface="Times New Roman" panose="02020603050405020304" pitchFamily="18" charset="0"/>
                <a:cs typeface="Times New Roman" panose="02020603050405020304" pitchFamily="18" charset="0"/>
              </a:rPr>
              <a:t>Email: loilp@bvtn.org.vn, </a:t>
            </a:r>
            <a:r>
              <a:rPr lang="fr-FR" dirty="0" err="1">
                <a:solidFill>
                  <a:srgbClr val="0070C0"/>
                </a:solidFill>
                <a:latin typeface="Times New Roman" panose="02020603050405020304" pitchFamily="18" charset="0"/>
                <a:cs typeface="Times New Roman" panose="02020603050405020304" pitchFamily="18" charset="0"/>
              </a:rPr>
              <a:t>Zalo</a:t>
            </a:r>
            <a:r>
              <a:rPr lang="fr-FR" dirty="0">
                <a:solidFill>
                  <a:srgbClr val="0070C0"/>
                </a:solidFill>
                <a:latin typeface="Times New Roman" panose="02020603050405020304" pitchFamily="18" charset="0"/>
                <a:cs typeface="Times New Roman" panose="02020603050405020304" pitchFamily="18" charset="0"/>
              </a:rPr>
              <a:t>: 0901802182</a:t>
            </a:r>
          </a:p>
          <a:p>
            <a:endParaRPr lang="en-US" b="1" dirty="0">
              <a:solidFill>
                <a:srgbClr val="0070C0"/>
              </a:solidFill>
              <a:latin typeface="Times New Roman" panose="02020603050405020304" pitchFamily="18" charset="0"/>
              <a:cs typeface="Times New Roman" panose="02020603050405020304" pitchFamily="18" charset="0"/>
            </a:endParaRPr>
          </a:p>
        </p:txBody>
      </p:sp>
      <p:pic>
        <p:nvPicPr>
          <p:cNvPr id="4" name="Google Shape;56;p13">
            <a:extLst>
              <a:ext uri="{FF2B5EF4-FFF2-40B4-BE49-F238E27FC236}">
                <a16:creationId xmlns:a16="http://schemas.microsoft.com/office/drawing/2014/main" id="{57D9ABDD-43B2-5F22-A1EF-61BC464024D8}"/>
              </a:ext>
            </a:extLst>
          </p:cNvPr>
          <p:cNvPicPr preferRelativeResize="0"/>
          <p:nvPr/>
        </p:nvPicPr>
        <p:blipFill>
          <a:blip r:embed="rId2">
            <a:alphaModFix/>
          </a:blip>
          <a:stretch>
            <a:fillRect/>
          </a:stretch>
        </p:blipFill>
        <p:spPr>
          <a:xfrm>
            <a:off x="125420" y="85608"/>
            <a:ext cx="1454000" cy="1429088"/>
          </a:xfrm>
          <a:prstGeom prst="rect">
            <a:avLst/>
          </a:prstGeom>
          <a:noFill/>
          <a:ln>
            <a:noFill/>
          </a:ln>
        </p:spPr>
      </p:pic>
      <p:pic>
        <p:nvPicPr>
          <p:cNvPr id="5" name="Google Shape;57;p13">
            <a:extLst>
              <a:ext uri="{FF2B5EF4-FFF2-40B4-BE49-F238E27FC236}">
                <a16:creationId xmlns:a16="http://schemas.microsoft.com/office/drawing/2014/main" id="{FB41C57B-674F-F510-5CB8-8B5A336385E3}"/>
              </a:ext>
            </a:extLst>
          </p:cNvPr>
          <p:cNvPicPr preferRelativeResize="0"/>
          <p:nvPr/>
        </p:nvPicPr>
        <p:blipFill>
          <a:blip r:embed="rId3">
            <a:alphaModFix/>
          </a:blip>
          <a:stretch>
            <a:fillRect/>
          </a:stretch>
        </p:blipFill>
        <p:spPr>
          <a:xfrm>
            <a:off x="10643219" y="85608"/>
            <a:ext cx="1378322" cy="1377430"/>
          </a:xfrm>
          <a:prstGeom prst="rect">
            <a:avLst/>
          </a:prstGeom>
          <a:noFill/>
          <a:ln>
            <a:noFill/>
          </a:ln>
        </p:spPr>
      </p:pic>
    </p:spTree>
    <p:extLst>
      <p:ext uri="{BB962C8B-B14F-4D97-AF65-F5344CB8AC3E}">
        <p14:creationId xmlns:p14="http://schemas.microsoft.com/office/powerpoint/2010/main" val="29665446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p:txBody>
          <a:bodyPr/>
          <a:lstStyle/>
          <a:p>
            <a:r>
              <a:rPr lang="en-GB" dirty="0" err="1">
                <a:latin typeface="Times New Roman" panose="02020603050405020304" pitchFamily="18" charset="0"/>
                <a:cs typeface="Times New Roman" panose="02020603050405020304" pitchFamily="18" charset="0"/>
              </a:rPr>
              <a:t>Nội</a:t>
            </a:r>
            <a:r>
              <a:rPr lang="en-GB" dirty="0">
                <a:latin typeface="Times New Roman" panose="02020603050405020304" pitchFamily="18" charset="0"/>
                <a:cs typeface="Times New Roman" panose="02020603050405020304" pitchFamily="18" charset="0"/>
              </a:rPr>
              <a:t> dung</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0B409F-EB9A-3965-165F-96DA6B6464CB}"/>
              </a:ext>
            </a:extLst>
          </p:cNvPr>
          <p:cNvSpPr>
            <a:spLocks noGrp="1"/>
          </p:cNvSpPr>
          <p:nvPr>
            <p:ph idx="1"/>
          </p:nvPr>
        </p:nvSpPr>
        <p:spPr/>
        <p:txBody>
          <a:bodyPr/>
          <a:lstStyle/>
          <a:p>
            <a:pPr algn="just"/>
            <a:r>
              <a:rPr lang="en-US" dirty="0" err="1">
                <a:latin typeface="Times New Roman" panose="02020603050405020304" pitchFamily="18" charset="0"/>
                <a:cs typeface="Times New Roman" panose="02020603050405020304" pitchFamily="18" charset="0"/>
              </a:rPr>
              <a:t>Phần</a:t>
            </a:r>
            <a:r>
              <a:rPr lang="en-US" dirty="0">
                <a:latin typeface="Times New Roman" panose="02020603050405020304" pitchFamily="18" charset="0"/>
                <a:cs typeface="Times New Roman" panose="02020603050405020304" pitchFamily="18" charset="0"/>
              </a:rPr>
              <a:t> 1: </a:t>
            </a:r>
            <a:r>
              <a:rPr lang="en-US" dirty="0" err="1">
                <a:latin typeface="Times New Roman" panose="02020603050405020304" pitchFamily="18" charset="0"/>
                <a:cs typeface="Times New Roman" panose="02020603050405020304" pitchFamily="18" charset="0"/>
              </a:rPr>
              <a:t>Tổng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về</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Nghiên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cứu</a:t>
            </a:r>
            <a:r>
              <a:rPr lang="en-US" dirty="0">
                <a:latin typeface="Times New Roman" panose="02020603050405020304" pitchFamily="18" charset="0"/>
                <a:cs typeface="Times New Roman" panose="02020603050405020304" pitchFamily="18" charset="0"/>
              </a:rPr>
              <a:t> Khoa </a:t>
            </a:r>
            <a:r>
              <a:rPr lang="en-US" dirty="0" err="1">
                <a:latin typeface="Times New Roman" panose="02020603050405020304" pitchFamily="18" charset="0"/>
                <a:cs typeface="Times New Roman" panose="02020603050405020304" pitchFamily="18" charset="0"/>
              </a:rPr>
              <a:t>học</a:t>
            </a:r>
            <a:r>
              <a:rPr lang="en-US" dirty="0">
                <a:latin typeface="Times New Roman" panose="02020603050405020304" pitchFamily="18" charset="0"/>
                <a:cs typeface="Times New Roman" panose="02020603050405020304" pitchFamily="18" charset="0"/>
              </a:rPr>
              <a:t> (NCKH)</a:t>
            </a:r>
          </a:p>
          <a:p>
            <a:pPr algn="just"/>
            <a:r>
              <a:rPr lang="en-US" dirty="0" err="1">
                <a:latin typeface="Times New Roman" panose="02020603050405020304" pitchFamily="18" charset="0"/>
                <a:cs typeface="Times New Roman" panose="02020603050405020304" pitchFamily="18" charset="0"/>
              </a:rPr>
              <a:t>Phần</a:t>
            </a:r>
            <a:r>
              <a:rPr lang="en-US" dirty="0">
                <a:latin typeface="Times New Roman" panose="02020603050405020304" pitchFamily="18" charset="0"/>
                <a:cs typeface="Times New Roman" panose="02020603050405020304" pitchFamily="18" charset="0"/>
              </a:rPr>
              <a:t> 2: Y </a:t>
            </a:r>
            <a:r>
              <a:rPr lang="en-US" dirty="0" err="1">
                <a:latin typeface="Times New Roman" panose="02020603050405020304" pitchFamily="18" charset="0"/>
                <a:cs typeface="Times New Roman" panose="02020603050405020304" pitchFamily="18" charset="0"/>
              </a:rPr>
              <a:t>đức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trong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Nghiên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cứu</a:t>
            </a:r>
            <a:r>
              <a:rPr lang="en-US" dirty="0">
                <a:latin typeface="Times New Roman" panose="02020603050405020304" pitchFamily="18" charset="0"/>
                <a:cs typeface="Times New Roman" panose="02020603050405020304" pitchFamily="18" charset="0"/>
              </a:rPr>
              <a:t> Y </a:t>
            </a:r>
            <a:r>
              <a:rPr lang="en-US" dirty="0" err="1">
                <a:latin typeface="Times New Roman" panose="02020603050405020304" pitchFamily="18" charset="0"/>
                <a:cs typeface="Times New Roman" panose="02020603050405020304" pitchFamily="18" charset="0"/>
              </a:rPr>
              <a:t>sinh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học</a:t>
            </a:r>
            <a:endParaRPr lang="en-US" dirty="0">
              <a:latin typeface="Times New Roman" panose="02020603050405020304" pitchFamily="18" charset="0"/>
              <a:cs typeface="Times New Roman" panose="02020603050405020304" pitchFamily="18" charset="0"/>
            </a:endParaRPr>
          </a:p>
          <a:p>
            <a:pPr algn="just"/>
            <a:r>
              <a:rPr lang="en-US" dirty="0" err="1">
                <a:latin typeface="Times New Roman" panose="02020603050405020304" pitchFamily="18" charset="0"/>
                <a:cs typeface="Times New Roman" panose="02020603050405020304" pitchFamily="18" charset="0"/>
              </a:rPr>
              <a:t>Phần</a:t>
            </a:r>
            <a:r>
              <a:rPr lang="en-US" dirty="0">
                <a:latin typeface="Times New Roman" panose="02020603050405020304" pitchFamily="18" charset="0"/>
                <a:cs typeface="Times New Roman" panose="02020603050405020304" pitchFamily="18" charset="0"/>
              </a:rPr>
              <a:t> 3: </a:t>
            </a:r>
            <a:r>
              <a:rPr lang="en-US" dirty="0" err="1">
                <a:latin typeface="Times New Roman" panose="02020603050405020304" pitchFamily="18" charset="0"/>
                <a:cs typeface="Times New Roman" panose="02020603050405020304" pitchFamily="18" charset="0"/>
              </a:rPr>
              <a:t>Hội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đồng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Đạo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đức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hành</a:t>
            </a:r>
            <a:r>
              <a:rPr lang="en-US" dirty="0">
                <a:latin typeface="Times New Roman" panose="02020603050405020304" pitchFamily="18" charset="0"/>
                <a:cs typeface="Times New Roman" panose="02020603050405020304" pitchFamily="18" charset="0"/>
              </a:rPr>
              <a:t> vi </a:t>
            </a:r>
            <a:r>
              <a:rPr lang="en-US" dirty="0" err="1">
                <a:latin typeface="Times New Roman" panose="02020603050405020304" pitchFamily="18" charset="0"/>
                <a:cs typeface="Times New Roman" panose="02020603050405020304" pitchFamily="18" charset="0"/>
              </a:rPr>
              <a:t>sai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trái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47476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0B409F-EB9A-3965-165F-96DA6B6464CB}"/>
              </a:ext>
            </a:extLst>
          </p:cNvPr>
          <p:cNvSpPr>
            <a:spLocks noGrp="1"/>
          </p:cNvSpPr>
          <p:nvPr>
            <p:ph idx="1"/>
          </p:nvPr>
        </p:nvSpPr>
        <p:spPr/>
        <p:txBody>
          <a:bodyPr>
            <a:normAutofit/>
          </a:bodyPr>
          <a:lstStyle/>
          <a:p>
            <a:pPr marL="0" indent="0" algn="ctr">
              <a:lnSpc>
                <a:spcPct val="150000"/>
              </a:lnSpc>
              <a:buNone/>
            </a:pPr>
            <a:r>
              <a:rPr lang="en-US" sz="3600" b="1" dirty="0" err="1">
                <a:latin typeface="Times New Roman" panose="02020603050405020304" pitchFamily="18" charset="0"/>
                <a:cs typeface="Times New Roman" panose="02020603050405020304" pitchFamily="18" charset="0"/>
              </a:rPr>
              <a:t>Phần</a:t>
            </a:r>
            <a:r>
              <a:rPr lang="en-US" sz="3600" b="1" dirty="0">
                <a:latin typeface="Times New Roman" panose="02020603050405020304" pitchFamily="18" charset="0"/>
                <a:cs typeface="Times New Roman" panose="02020603050405020304" pitchFamily="18" charset="0"/>
              </a:rPr>
              <a:t> 1: </a:t>
            </a:r>
            <a:r>
              <a:rPr lang="en-US" sz="3600" b="1" dirty="0" err="1">
                <a:latin typeface="Times New Roman" panose="02020603050405020304" pitchFamily="18" charset="0"/>
                <a:cs typeface="Times New Roman" panose="02020603050405020304" pitchFamily="18" charset="0"/>
              </a:rPr>
              <a:t>Tổng</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quan</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về</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Nghiên</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cứu</a:t>
            </a:r>
            <a:r>
              <a:rPr lang="en-US" sz="3600" b="1" dirty="0">
                <a:latin typeface="Times New Roman" panose="02020603050405020304" pitchFamily="18" charset="0"/>
                <a:cs typeface="Times New Roman" panose="02020603050405020304" pitchFamily="18" charset="0"/>
              </a:rPr>
              <a:t> Khoa </a:t>
            </a:r>
            <a:r>
              <a:rPr lang="en-US" sz="3600" b="1" dirty="0" err="1">
                <a:latin typeface="Times New Roman" panose="02020603050405020304" pitchFamily="18" charset="0"/>
                <a:cs typeface="Times New Roman" panose="02020603050405020304" pitchFamily="18" charset="0"/>
              </a:rPr>
              <a:t>học</a:t>
            </a:r>
            <a:r>
              <a:rPr lang="en-US" sz="3600" b="1" dirty="0">
                <a:latin typeface="Times New Roman" panose="02020603050405020304" pitchFamily="18" charset="0"/>
                <a:cs typeface="Times New Roman" panose="02020603050405020304" pitchFamily="18" charset="0"/>
              </a:rPr>
              <a:t> (NCKH)</a:t>
            </a:r>
          </a:p>
        </p:txBody>
      </p:sp>
    </p:spTree>
    <p:extLst>
      <p:ext uri="{BB962C8B-B14F-4D97-AF65-F5344CB8AC3E}">
        <p14:creationId xmlns:p14="http://schemas.microsoft.com/office/powerpoint/2010/main" val="10630925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p:txBody>
          <a:bodyPr>
            <a:normAutofit/>
          </a:bodyPr>
          <a:lstStyle/>
          <a:p>
            <a:pPr algn="ctr"/>
            <a:r>
              <a:rPr lang="en-US" sz="3600" b="1" dirty="0" err="1">
                <a:cs typeface="Times New Roman" panose="02020603050405020304" pitchFamily="18" charset="0"/>
              </a:rPr>
              <a:t>Khái</a:t>
            </a:r>
            <a:r>
              <a:rPr lang="en-US" sz="3600" b="1" dirty="0">
                <a:cs typeface="Times New Roman" panose="02020603050405020304" pitchFamily="18" charset="0"/>
              </a:rPr>
              <a:t> </a:t>
            </a:r>
            <a:r>
              <a:rPr lang="en-US" sz="3600" b="1" dirty="0" err="1">
                <a:cs typeface="Times New Roman" panose="02020603050405020304" pitchFamily="18" charset="0"/>
              </a:rPr>
              <a:t>niệm</a:t>
            </a:r>
            <a:r>
              <a:rPr lang="en-US" sz="3600" b="1" dirty="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Nghiên</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cứu</a:t>
            </a:r>
            <a:r>
              <a:rPr lang="en-US" sz="3600" b="1" dirty="0">
                <a:latin typeface="Times New Roman" panose="02020603050405020304" pitchFamily="18" charset="0"/>
                <a:cs typeface="Times New Roman" panose="02020603050405020304" pitchFamily="18" charset="0"/>
              </a:rPr>
              <a:t> Khoa </a:t>
            </a:r>
            <a:r>
              <a:rPr lang="en-US" sz="3600" b="1" dirty="0" err="1">
                <a:latin typeface="Times New Roman" panose="02020603050405020304" pitchFamily="18" charset="0"/>
                <a:cs typeface="Times New Roman" panose="02020603050405020304" pitchFamily="18" charset="0"/>
              </a:rPr>
              <a:t>học</a:t>
            </a:r>
            <a:r>
              <a:rPr lang="en-US" sz="3600" b="1" dirty="0">
                <a:latin typeface="Times New Roman" panose="02020603050405020304" pitchFamily="18" charset="0"/>
                <a:cs typeface="Times New Roman" panose="02020603050405020304" pitchFamily="18" charset="0"/>
              </a:rPr>
              <a:t> (NCKH)</a:t>
            </a:r>
          </a:p>
        </p:txBody>
      </p:sp>
      <p:sp>
        <p:nvSpPr>
          <p:cNvPr id="3" name="Content Placeholder 2">
            <a:extLst>
              <a:ext uri="{FF2B5EF4-FFF2-40B4-BE49-F238E27FC236}">
                <a16:creationId xmlns:a16="http://schemas.microsoft.com/office/drawing/2014/main" id="{520B409F-EB9A-3965-165F-96DA6B6464CB}"/>
              </a:ext>
            </a:extLst>
          </p:cNvPr>
          <p:cNvSpPr>
            <a:spLocks noGrp="1"/>
          </p:cNvSpPr>
          <p:nvPr>
            <p:ph idx="1"/>
          </p:nvPr>
        </p:nvSpPr>
        <p:spPr/>
        <p:txBody>
          <a:bodyPr>
            <a:normAutofit/>
          </a:bodyPr>
          <a:lstStyle/>
          <a:p>
            <a:pPr algn="just">
              <a:lnSpc>
                <a:spcPct val="100000"/>
              </a:lnSpc>
            </a:pPr>
            <a:r>
              <a:rPr lang="vi-VN" dirty="0">
                <a:latin typeface="+mj-lt"/>
                <a:cs typeface="Times New Roman" panose="02020603050405020304" pitchFamily="18" charset="0"/>
              </a:rPr>
              <a:t>NCKH là quá trình quan sát, thí nghiệm và tư duy để khám phá ra những kiến thức mới hoặc kiểm chứng các lý thuyết hiện có.</a:t>
            </a:r>
            <a:endParaRPr lang="en-GB" dirty="0">
              <a:latin typeface="+mj-lt"/>
              <a:cs typeface="Times New Roman" panose="02020603050405020304" pitchFamily="18" charset="0"/>
            </a:endParaRPr>
          </a:p>
          <a:p>
            <a:pPr algn="just">
              <a:lnSpc>
                <a:spcPct val="100000"/>
              </a:lnSpc>
            </a:pPr>
            <a:r>
              <a:rPr lang="en-GB" dirty="0" err="1">
                <a:cs typeface="Times New Roman" panose="02020603050405020304" pitchFamily="18" charset="0"/>
              </a:rPr>
              <a:t>Cụ</a:t>
            </a:r>
            <a:r>
              <a:rPr lang="en-GB" dirty="0">
                <a:cs typeface="Times New Roman" panose="02020603050405020304" pitchFamily="18" charset="0"/>
              </a:rPr>
              <a:t> </a:t>
            </a:r>
            <a:r>
              <a:rPr lang="en-GB" dirty="0" err="1">
                <a:cs typeface="Times New Roman" panose="02020603050405020304" pitchFamily="18" charset="0"/>
              </a:rPr>
              <a:t>thể</a:t>
            </a:r>
            <a:r>
              <a:rPr lang="en-GB" dirty="0">
                <a:cs typeface="Times New Roman" panose="02020603050405020304" pitchFamily="18" charset="0"/>
              </a:rPr>
              <a:t> </a:t>
            </a:r>
            <a:r>
              <a:rPr lang="en-GB" dirty="0" err="1">
                <a:cs typeface="Times New Roman" panose="02020603050405020304" pitchFamily="18" charset="0"/>
              </a:rPr>
              <a:t>nghiên</a:t>
            </a:r>
            <a:r>
              <a:rPr lang="en-GB" dirty="0">
                <a:cs typeface="Times New Roman" panose="02020603050405020304" pitchFamily="18" charset="0"/>
              </a:rPr>
              <a:t> </a:t>
            </a:r>
            <a:r>
              <a:rPr lang="en-GB" dirty="0" err="1">
                <a:cs typeface="Times New Roman" panose="02020603050405020304" pitchFamily="18" charset="0"/>
              </a:rPr>
              <a:t>cứu</a:t>
            </a:r>
            <a:r>
              <a:rPr lang="en-GB" dirty="0">
                <a:cs typeface="Times New Roman" panose="02020603050405020304" pitchFamily="18" charset="0"/>
              </a:rPr>
              <a:t> </a:t>
            </a:r>
            <a:r>
              <a:rPr lang="en-GB" dirty="0" err="1">
                <a:cs typeface="Times New Roman" panose="02020603050405020304" pitchFamily="18" charset="0"/>
              </a:rPr>
              <a:t>là</a:t>
            </a:r>
            <a:r>
              <a:rPr lang="en-GB" dirty="0">
                <a:cs typeface="Times New Roman" panose="02020603050405020304" pitchFamily="18" charset="0"/>
              </a:rPr>
              <a:t> </a:t>
            </a:r>
            <a:r>
              <a:rPr lang="en-GB" dirty="0" err="1">
                <a:cs typeface="Times New Roman" panose="02020603050405020304" pitchFamily="18" charset="0"/>
              </a:rPr>
              <a:t>quá</a:t>
            </a:r>
            <a:r>
              <a:rPr lang="en-GB" dirty="0">
                <a:cs typeface="Times New Roman" panose="02020603050405020304" pitchFamily="18" charset="0"/>
              </a:rPr>
              <a:t> </a:t>
            </a:r>
            <a:r>
              <a:rPr lang="en-GB" dirty="0" err="1">
                <a:cs typeface="Times New Roman" panose="02020603050405020304" pitchFamily="18" charset="0"/>
              </a:rPr>
              <a:t>trình</a:t>
            </a:r>
            <a:r>
              <a:rPr lang="en-GB" dirty="0">
                <a:cs typeface="Times New Roman" panose="02020603050405020304" pitchFamily="18" charset="0"/>
              </a:rPr>
              <a:t> </a:t>
            </a:r>
            <a:r>
              <a:rPr lang="en-GB" dirty="0" err="1">
                <a:cs typeface="Times New Roman" panose="02020603050405020304" pitchFamily="18" charset="0"/>
              </a:rPr>
              <a:t>tìm</a:t>
            </a:r>
            <a:r>
              <a:rPr lang="en-GB" dirty="0">
                <a:cs typeface="Times New Roman" panose="02020603050405020304" pitchFamily="18" charset="0"/>
              </a:rPr>
              <a:t> </a:t>
            </a:r>
            <a:r>
              <a:rPr lang="en-GB" dirty="0" err="1">
                <a:cs typeface="Times New Roman" panose="02020603050405020304" pitchFamily="18" charset="0"/>
              </a:rPr>
              <a:t>kiếm</a:t>
            </a:r>
            <a:r>
              <a:rPr lang="en-GB" dirty="0">
                <a:cs typeface="Times New Roman" panose="02020603050405020304" pitchFamily="18" charset="0"/>
              </a:rPr>
              <a:t> </a:t>
            </a:r>
            <a:r>
              <a:rPr lang="en-GB" dirty="0" err="1">
                <a:cs typeface="Times New Roman" panose="02020603050405020304" pitchFamily="18" charset="0"/>
              </a:rPr>
              <a:t>các</a:t>
            </a:r>
            <a:r>
              <a:rPr lang="en-GB" dirty="0">
                <a:cs typeface="Times New Roman" panose="02020603050405020304" pitchFamily="18" charset="0"/>
              </a:rPr>
              <a:t> </a:t>
            </a:r>
            <a:r>
              <a:rPr lang="en-GB" b="1" dirty="0" err="1">
                <a:cs typeface="Times New Roman" panose="02020603050405020304" pitchFamily="18" charset="0"/>
              </a:rPr>
              <a:t>câu</a:t>
            </a:r>
            <a:r>
              <a:rPr lang="en-GB" b="1" dirty="0">
                <a:cs typeface="Times New Roman" panose="02020603050405020304" pitchFamily="18" charset="0"/>
              </a:rPr>
              <a:t> </a:t>
            </a:r>
            <a:r>
              <a:rPr lang="en-GB" b="1" dirty="0" err="1">
                <a:cs typeface="Times New Roman" panose="02020603050405020304" pitchFamily="18" charset="0"/>
              </a:rPr>
              <a:t>trả</a:t>
            </a:r>
            <a:r>
              <a:rPr lang="en-GB" b="1" dirty="0">
                <a:cs typeface="Times New Roman" panose="02020603050405020304" pitchFamily="18" charset="0"/>
              </a:rPr>
              <a:t> </a:t>
            </a:r>
            <a:r>
              <a:rPr lang="en-GB" b="1" dirty="0" err="1">
                <a:cs typeface="Times New Roman" panose="02020603050405020304" pitchFamily="18" charset="0"/>
              </a:rPr>
              <a:t>lời</a:t>
            </a:r>
            <a:r>
              <a:rPr lang="en-GB" b="1" dirty="0">
                <a:cs typeface="Times New Roman" panose="02020603050405020304" pitchFamily="18" charset="0"/>
              </a:rPr>
              <a:t> </a:t>
            </a:r>
            <a:r>
              <a:rPr lang="en-GB" dirty="0" err="1">
                <a:cs typeface="Times New Roman" panose="02020603050405020304" pitchFamily="18" charset="0"/>
              </a:rPr>
              <a:t>cho</a:t>
            </a:r>
            <a:r>
              <a:rPr lang="en-GB" dirty="0">
                <a:cs typeface="Times New Roman" panose="02020603050405020304" pitchFamily="18" charset="0"/>
              </a:rPr>
              <a:t> </a:t>
            </a:r>
            <a:r>
              <a:rPr lang="en-GB" b="1" dirty="0" err="1">
                <a:cs typeface="Times New Roman" panose="02020603050405020304" pitchFamily="18" charset="0"/>
              </a:rPr>
              <a:t>các</a:t>
            </a:r>
            <a:r>
              <a:rPr lang="en-GB" b="1" dirty="0">
                <a:cs typeface="Times New Roman" panose="02020603050405020304" pitchFamily="18" charset="0"/>
              </a:rPr>
              <a:t> </a:t>
            </a:r>
            <a:r>
              <a:rPr lang="en-GB" b="1" dirty="0" err="1">
                <a:cs typeface="Times New Roman" panose="02020603050405020304" pitchFamily="18" charset="0"/>
              </a:rPr>
              <a:t>câu</a:t>
            </a:r>
            <a:r>
              <a:rPr lang="en-GB" b="1" dirty="0">
                <a:cs typeface="Times New Roman" panose="02020603050405020304" pitchFamily="18" charset="0"/>
              </a:rPr>
              <a:t> </a:t>
            </a:r>
            <a:r>
              <a:rPr lang="en-GB" b="1" dirty="0" err="1">
                <a:cs typeface="Times New Roman" panose="02020603050405020304" pitchFamily="18" charset="0"/>
              </a:rPr>
              <a:t>hỏi</a:t>
            </a:r>
            <a:r>
              <a:rPr lang="en-GB" b="1" dirty="0">
                <a:cs typeface="Times New Roman" panose="02020603050405020304" pitchFamily="18" charset="0"/>
              </a:rPr>
              <a:t> </a:t>
            </a:r>
            <a:r>
              <a:rPr lang="en-GB" b="1" dirty="0" err="1">
                <a:cs typeface="Times New Roman" panose="02020603050405020304" pitchFamily="18" charset="0"/>
              </a:rPr>
              <a:t>nghiên</a:t>
            </a:r>
            <a:r>
              <a:rPr lang="en-GB" b="1" dirty="0">
                <a:cs typeface="Times New Roman" panose="02020603050405020304" pitchFamily="18" charset="0"/>
              </a:rPr>
              <a:t> </a:t>
            </a:r>
            <a:r>
              <a:rPr lang="en-GB" b="1" dirty="0" err="1">
                <a:cs typeface="Times New Roman" panose="02020603050405020304" pitchFamily="18" charset="0"/>
              </a:rPr>
              <a:t>cứu</a:t>
            </a:r>
            <a:r>
              <a:rPr lang="en-GB" b="1" dirty="0">
                <a:cs typeface="Times New Roman" panose="02020603050405020304" pitchFamily="18" charset="0"/>
              </a:rPr>
              <a:t> </a:t>
            </a:r>
            <a:r>
              <a:rPr lang="en-GB" dirty="0" err="1">
                <a:cs typeface="Times New Roman" panose="02020603050405020304" pitchFamily="18" charset="0"/>
              </a:rPr>
              <a:t>một</a:t>
            </a:r>
            <a:r>
              <a:rPr lang="en-GB" dirty="0">
                <a:cs typeface="Times New Roman" panose="02020603050405020304" pitchFamily="18" charset="0"/>
              </a:rPr>
              <a:t> </a:t>
            </a:r>
            <a:r>
              <a:rPr lang="en-GB" dirty="0" err="1">
                <a:cs typeface="Times New Roman" panose="02020603050405020304" pitchFamily="18" charset="0"/>
              </a:rPr>
              <a:t>cách</a:t>
            </a:r>
            <a:r>
              <a:rPr lang="en-GB" dirty="0">
                <a:cs typeface="Times New Roman" panose="02020603050405020304" pitchFamily="18" charset="0"/>
              </a:rPr>
              <a:t> </a:t>
            </a:r>
            <a:r>
              <a:rPr lang="en-GB" b="1" dirty="0" err="1">
                <a:cs typeface="Times New Roman" panose="02020603050405020304" pitchFamily="18" charset="0"/>
              </a:rPr>
              <a:t>có</a:t>
            </a:r>
            <a:r>
              <a:rPr lang="en-GB" b="1" dirty="0">
                <a:cs typeface="Times New Roman" panose="02020603050405020304" pitchFamily="18" charset="0"/>
              </a:rPr>
              <a:t> </a:t>
            </a:r>
            <a:r>
              <a:rPr lang="en-GB" b="1" dirty="0" err="1">
                <a:cs typeface="Times New Roman" panose="02020603050405020304" pitchFamily="18" charset="0"/>
              </a:rPr>
              <a:t>tổ</a:t>
            </a:r>
            <a:r>
              <a:rPr lang="en-GB" b="1" dirty="0">
                <a:cs typeface="Times New Roman" panose="02020603050405020304" pitchFamily="18" charset="0"/>
              </a:rPr>
              <a:t> </a:t>
            </a:r>
            <a:r>
              <a:rPr lang="en-GB" b="1" dirty="0" err="1">
                <a:cs typeface="Times New Roman" panose="02020603050405020304" pitchFamily="18" charset="0"/>
              </a:rPr>
              <a:t>chức</a:t>
            </a:r>
            <a:r>
              <a:rPr lang="en-GB" b="1" dirty="0">
                <a:cs typeface="Times New Roman" panose="02020603050405020304" pitchFamily="18" charset="0"/>
              </a:rPr>
              <a:t> </a:t>
            </a:r>
            <a:r>
              <a:rPr lang="en-GB" dirty="0" err="1">
                <a:cs typeface="Times New Roman" panose="02020603050405020304" pitchFamily="18" charset="0"/>
              </a:rPr>
              <a:t>và</a:t>
            </a:r>
            <a:r>
              <a:rPr lang="en-GB" dirty="0">
                <a:cs typeface="Times New Roman" panose="02020603050405020304" pitchFamily="18" charset="0"/>
              </a:rPr>
              <a:t> </a:t>
            </a:r>
            <a:r>
              <a:rPr lang="en-GB" b="1" dirty="0" err="1">
                <a:cs typeface="Times New Roman" panose="02020603050405020304" pitchFamily="18" charset="0"/>
              </a:rPr>
              <a:t>có</a:t>
            </a:r>
            <a:r>
              <a:rPr lang="en-GB" b="1" dirty="0">
                <a:cs typeface="Times New Roman" panose="02020603050405020304" pitchFamily="18" charset="0"/>
              </a:rPr>
              <a:t> </a:t>
            </a:r>
            <a:r>
              <a:rPr lang="en-GB" b="1" dirty="0" err="1">
                <a:cs typeface="Times New Roman" panose="02020603050405020304" pitchFamily="18" charset="0"/>
              </a:rPr>
              <a:t>hệ</a:t>
            </a:r>
            <a:r>
              <a:rPr lang="en-GB" b="1" dirty="0">
                <a:cs typeface="Times New Roman" panose="02020603050405020304" pitchFamily="18" charset="0"/>
              </a:rPr>
              <a:t> </a:t>
            </a:r>
            <a:r>
              <a:rPr lang="en-GB" b="1" dirty="0" err="1">
                <a:cs typeface="Times New Roman" panose="02020603050405020304" pitchFamily="18" charset="0"/>
              </a:rPr>
              <a:t>thống</a:t>
            </a:r>
            <a:r>
              <a:rPr lang="en-GB" dirty="0">
                <a:latin typeface="+mj-lt"/>
                <a:cs typeface="Times New Roman" panose="02020603050405020304" pitchFamily="18" charset="0"/>
              </a:rPr>
              <a:t>.</a:t>
            </a:r>
          </a:p>
          <a:p>
            <a:pPr algn="just">
              <a:lnSpc>
                <a:spcPct val="100000"/>
              </a:lnSpc>
            </a:pPr>
            <a:endParaRPr lang="en-GB" dirty="0">
              <a:latin typeface="+mj-lt"/>
            </a:endParaRPr>
          </a:p>
        </p:txBody>
      </p:sp>
    </p:spTree>
    <p:extLst>
      <p:ext uri="{BB962C8B-B14F-4D97-AF65-F5344CB8AC3E}">
        <p14:creationId xmlns:p14="http://schemas.microsoft.com/office/powerpoint/2010/main" val="29115754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a:xfrm>
            <a:off x="304801" y="365125"/>
            <a:ext cx="11632276" cy="798657"/>
          </a:xfrm>
        </p:spPr>
        <p:txBody>
          <a:bodyPr>
            <a:normAutofit/>
          </a:bodyPr>
          <a:lstStyle/>
          <a:p>
            <a:pPr algn="ctr"/>
            <a:r>
              <a:rPr lang="en-GB" sz="3600" b="1" dirty="0" err="1">
                <a:latin typeface="Times New Roman" panose="02020603050405020304" pitchFamily="18" charset="0"/>
                <a:cs typeface="Times New Roman" panose="02020603050405020304" pitchFamily="18" charset="0"/>
              </a:rPr>
              <a:t>Mục</a:t>
            </a:r>
            <a:r>
              <a:rPr lang="en-GB" sz="3600" b="1" dirty="0">
                <a:latin typeface="Times New Roman" panose="02020603050405020304" pitchFamily="18" charset="0"/>
                <a:cs typeface="Times New Roman" panose="02020603050405020304" pitchFamily="18" charset="0"/>
              </a:rPr>
              <a:t> </a:t>
            </a:r>
            <a:r>
              <a:rPr lang="en-GB" sz="3600" b="1" dirty="0" err="1">
                <a:latin typeface="Times New Roman" panose="02020603050405020304" pitchFamily="18" charset="0"/>
                <a:cs typeface="Times New Roman" panose="02020603050405020304" pitchFamily="18" charset="0"/>
              </a:rPr>
              <a:t>tiêu</a:t>
            </a:r>
            <a:r>
              <a:rPr lang="en-GB" sz="3600" b="1" dirty="0">
                <a:latin typeface="Times New Roman" panose="02020603050405020304" pitchFamily="18" charset="0"/>
                <a:cs typeface="Times New Roman" panose="02020603050405020304" pitchFamily="18" charset="0"/>
              </a:rPr>
              <a:t> </a:t>
            </a:r>
            <a:r>
              <a:rPr lang="en-GB" sz="3600" b="1" dirty="0" err="1">
                <a:latin typeface="Times New Roman" panose="02020603050405020304" pitchFamily="18" charset="0"/>
                <a:cs typeface="Times New Roman" panose="02020603050405020304" pitchFamily="18" charset="0"/>
              </a:rPr>
              <a:t>trong</a:t>
            </a:r>
            <a:r>
              <a:rPr lang="en-GB" sz="3600" b="1" dirty="0">
                <a:latin typeface="Times New Roman" panose="02020603050405020304" pitchFamily="18" charset="0"/>
                <a:cs typeface="Times New Roman" panose="02020603050405020304" pitchFamily="18" charset="0"/>
              </a:rPr>
              <a:t> NCKH Y </a:t>
            </a:r>
            <a:r>
              <a:rPr lang="en-GB" sz="3600" b="1" dirty="0" err="1">
                <a:cs typeface="Times New Roman" panose="02020603050405020304" pitchFamily="18" charset="0"/>
              </a:rPr>
              <a:t>S</a:t>
            </a:r>
            <a:r>
              <a:rPr lang="en-GB" sz="3600" b="1" dirty="0" err="1">
                <a:latin typeface="Times New Roman" panose="02020603050405020304" pitchFamily="18" charset="0"/>
                <a:cs typeface="Times New Roman" panose="02020603050405020304" pitchFamily="18" charset="0"/>
              </a:rPr>
              <a:t>inh</a:t>
            </a:r>
            <a:endParaRPr lang="en-US"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0B409F-EB9A-3965-165F-96DA6B6464CB}"/>
              </a:ext>
            </a:extLst>
          </p:cNvPr>
          <p:cNvSpPr>
            <a:spLocks noGrp="1"/>
          </p:cNvSpPr>
          <p:nvPr>
            <p:ph idx="1"/>
          </p:nvPr>
        </p:nvSpPr>
        <p:spPr/>
        <p:txBody>
          <a:bodyPr>
            <a:normAutofit/>
          </a:bodyPr>
          <a:lstStyle/>
          <a:p>
            <a:pPr algn="just"/>
            <a:r>
              <a:rPr lang="vi-VN" dirty="0">
                <a:latin typeface="Times New Roman" panose="02020603050405020304" pitchFamily="18" charset="0"/>
                <a:cs typeface="Times New Roman" panose="02020603050405020304" pitchFamily="18" charset="0"/>
              </a:rPr>
              <a:t>Hiểu rõ cơ chế bệnh sinh.</a:t>
            </a:r>
            <a:endParaRPr lang="en-GB" dirty="0">
              <a:latin typeface="Times New Roman" panose="02020603050405020304" pitchFamily="18" charset="0"/>
              <a:cs typeface="Times New Roman" panose="02020603050405020304" pitchFamily="18" charset="0"/>
            </a:endParaRPr>
          </a:p>
          <a:p>
            <a:pPr algn="just"/>
            <a:r>
              <a:rPr lang="en-GB" dirty="0" err="1">
                <a:latin typeface="Times New Roman" panose="02020603050405020304" pitchFamily="18" charset="0"/>
                <a:cs typeface="Times New Roman" panose="02020603050405020304" pitchFamily="18" charset="0"/>
              </a:rPr>
              <a:t>Tìm</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ra</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phương</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pháp</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mới</a:t>
            </a:r>
            <a:r>
              <a:rPr lang="en-GB" dirty="0">
                <a:latin typeface="Times New Roman" panose="02020603050405020304" pitchFamily="18" charset="0"/>
                <a:cs typeface="Times New Roman" panose="02020603050405020304" pitchFamily="18" charset="0"/>
              </a:rPr>
              <a:t> hay c</a:t>
            </a:r>
            <a:r>
              <a:rPr lang="vi-VN" dirty="0">
                <a:latin typeface="Times New Roman" panose="02020603050405020304" pitchFamily="18" charset="0"/>
                <a:cs typeface="Times New Roman" panose="02020603050405020304" pitchFamily="18" charset="0"/>
              </a:rPr>
              <a:t>ải thiện phương pháp chẩn đoán, điều trị và dự phòng.</a:t>
            </a:r>
            <a:endParaRPr lang="en-GB" dirty="0">
              <a:latin typeface="Times New Roman" panose="02020603050405020304" pitchFamily="18" charset="0"/>
              <a:cs typeface="Times New Roman" panose="02020603050405020304" pitchFamily="18" charset="0"/>
            </a:endParaRPr>
          </a:p>
          <a:p>
            <a:pPr algn="just"/>
            <a:r>
              <a:rPr lang="vi-VN" dirty="0">
                <a:latin typeface="Times New Roman" panose="02020603050405020304" pitchFamily="18" charset="0"/>
                <a:cs typeface="Times New Roman" panose="02020603050405020304" pitchFamily="18" charset="0"/>
              </a:rPr>
              <a:t>Nâng cao chất lượng chăm sóc sức khỏe cộng đồng.</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49963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a:xfrm>
            <a:off x="304801" y="365125"/>
            <a:ext cx="11632276" cy="798657"/>
          </a:xfrm>
        </p:spPr>
        <p:txBody>
          <a:bodyPr>
            <a:normAutofit/>
          </a:bodyPr>
          <a:lstStyle/>
          <a:p>
            <a:pPr algn="ctr"/>
            <a:r>
              <a:rPr lang="en-GB" sz="3600" b="1" dirty="0" err="1">
                <a:latin typeface="Times New Roman" panose="02020603050405020304" pitchFamily="18" charset="0"/>
                <a:cs typeface="Times New Roman" panose="02020603050405020304" pitchFamily="18" charset="0"/>
              </a:rPr>
              <a:t>Mục</a:t>
            </a:r>
            <a:r>
              <a:rPr lang="en-GB" sz="3600" b="1" dirty="0">
                <a:latin typeface="Times New Roman" panose="02020603050405020304" pitchFamily="18" charset="0"/>
                <a:cs typeface="Times New Roman" panose="02020603050405020304" pitchFamily="18" charset="0"/>
              </a:rPr>
              <a:t> </a:t>
            </a:r>
            <a:r>
              <a:rPr lang="en-GB" sz="3600" b="1" dirty="0" err="1">
                <a:latin typeface="Times New Roman" panose="02020603050405020304" pitchFamily="18" charset="0"/>
                <a:cs typeface="Times New Roman" panose="02020603050405020304" pitchFamily="18" charset="0"/>
              </a:rPr>
              <a:t>tiêu</a:t>
            </a:r>
            <a:r>
              <a:rPr lang="en-GB" sz="3600" b="1" dirty="0">
                <a:latin typeface="Times New Roman" panose="02020603050405020304" pitchFamily="18" charset="0"/>
                <a:cs typeface="Times New Roman" panose="02020603050405020304" pitchFamily="18" charset="0"/>
              </a:rPr>
              <a:t> </a:t>
            </a:r>
            <a:r>
              <a:rPr lang="en-GB" sz="3600" b="1" dirty="0" err="1">
                <a:latin typeface="Times New Roman" panose="02020603050405020304" pitchFamily="18" charset="0"/>
                <a:cs typeface="Times New Roman" panose="02020603050405020304" pitchFamily="18" charset="0"/>
              </a:rPr>
              <a:t>trong</a:t>
            </a:r>
            <a:r>
              <a:rPr lang="en-GB" sz="3600" b="1" dirty="0">
                <a:latin typeface="Times New Roman" panose="02020603050405020304" pitchFamily="18" charset="0"/>
                <a:cs typeface="Times New Roman" panose="02020603050405020304" pitchFamily="18" charset="0"/>
              </a:rPr>
              <a:t> </a:t>
            </a:r>
            <a:r>
              <a:rPr lang="en-GB" sz="3600" b="1" dirty="0" err="1">
                <a:latin typeface="Times New Roman" panose="02020603050405020304" pitchFamily="18" charset="0"/>
                <a:cs typeface="Times New Roman" panose="02020603050405020304" pitchFamily="18" charset="0"/>
              </a:rPr>
              <a:t>Công</a:t>
            </a:r>
            <a:r>
              <a:rPr lang="en-GB" sz="3600" b="1" dirty="0">
                <a:latin typeface="Times New Roman" panose="02020603050405020304" pitchFamily="18" charset="0"/>
                <a:cs typeface="Times New Roman" panose="02020603050405020304" pitchFamily="18" charset="0"/>
              </a:rPr>
              <a:t> </a:t>
            </a:r>
            <a:r>
              <a:rPr lang="en-GB" sz="3600" b="1" dirty="0" err="1">
                <a:latin typeface="Times New Roman" panose="02020603050405020304" pitchFamily="18" charset="0"/>
                <a:cs typeface="Times New Roman" panose="02020603050405020304" pitchFamily="18" charset="0"/>
              </a:rPr>
              <a:t>Nông</a:t>
            </a:r>
            <a:r>
              <a:rPr lang="en-GB" sz="3600" b="1" dirty="0">
                <a:latin typeface="Times New Roman" panose="02020603050405020304" pitchFamily="18" charset="0"/>
                <a:cs typeface="Times New Roman" panose="02020603050405020304" pitchFamily="18" charset="0"/>
              </a:rPr>
              <a:t> </a:t>
            </a:r>
            <a:r>
              <a:rPr lang="en-GB" sz="3600" b="1" dirty="0" err="1">
                <a:latin typeface="Times New Roman" panose="02020603050405020304" pitchFamily="18" charset="0"/>
                <a:cs typeface="Times New Roman" panose="02020603050405020304" pitchFamily="18" charset="0"/>
              </a:rPr>
              <a:t>Nghiệp</a:t>
            </a:r>
            <a:r>
              <a:rPr lang="en-GB" sz="3600" b="1" dirty="0">
                <a:latin typeface="Times New Roman" panose="02020603050405020304" pitchFamily="18" charset="0"/>
                <a:cs typeface="Times New Roman" panose="02020603050405020304" pitchFamily="18" charset="0"/>
              </a:rPr>
              <a:t> </a:t>
            </a:r>
            <a:r>
              <a:rPr lang="en-GB" sz="3600" b="1" dirty="0" err="1">
                <a:latin typeface="Times New Roman" panose="02020603050405020304" pitchFamily="18" charset="0"/>
                <a:cs typeface="Times New Roman" panose="02020603050405020304" pitchFamily="18" charset="0"/>
              </a:rPr>
              <a:t>và</a:t>
            </a:r>
            <a:r>
              <a:rPr lang="en-GB" sz="3600" b="1" dirty="0">
                <a:latin typeface="Times New Roman" panose="02020603050405020304" pitchFamily="18" charset="0"/>
                <a:cs typeface="Times New Roman" panose="02020603050405020304" pitchFamily="18" charset="0"/>
              </a:rPr>
              <a:t> </a:t>
            </a:r>
            <a:r>
              <a:rPr lang="en-GB" sz="3600" b="1" dirty="0" err="1">
                <a:latin typeface="Times New Roman" panose="02020603050405020304" pitchFamily="18" charset="0"/>
                <a:cs typeface="Times New Roman" panose="02020603050405020304" pitchFamily="18" charset="0"/>
              </a:rPr>
              <a:t>Môi</a:t>
            </a:r>
            <a:r>
              <a:rPr lang="en-GB" sz="3600" b="1" dirty="0">
                <a:latin typeface="Times New Roman" panose="02020603050405020304" pitchFamily="18" charset="0"/>
                <a:cs typeface="Times New Roman" panose="02020603050405020304" pitchFamily="18" charset="0"/>
              </a:rPr>
              <a:t> </a:t>
            </a:r>
            <a:r>
              <a:rPr lang="en-GB" sz="3600" b="1" dirty="0" err="1">
                <a:latin typeface="Times New Roman" panose="02020603050405020304" pitchFamily="18" charset="0"/>
                <a:cs typeface="Times New Roman" panose="02020603050405020304" pitchFamily="18" charset="0"/>
              </a:rPr>
              <a:t>Trường</a:t>
            </a:r>
            <a:endParaRPr lang="en-US"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0B409F-EB9A-3965-165F-96DA6B6464CB}"/>
              </a:ext>
            </a:extLst>
          </p:cNvPr>
          <p:cNvSpPr>
            <a:spLocks noGrp="1"/>
          </p:cNvSpPr>
          <p:nvPr>
            <p:ph idx="1"/>
          </p:nvPr>
        </p:nvSpPr>
        <p:spPr/>
        <p:txBody>
          <a:bodyPr>
            <a:normAutofit/>
          </a:bodyPr>
          <a:lstStyle/>
          <a:p>
            <a:pPr algn="just"/>
            <a:r>
              <a:rPr lang="en-GB" dirty="0" err="1">
                <a:latin typeface="Times New Roman" panose="02020603050405020304" pitchFamily="18" charset="0"/>
                <a:cs typeface="Times New Roman" panose="02020603050405020304" pitchFamily="18" charset="0"/>
              </a:rPr>
              <a:t>Tìm</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hiểu</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và</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khám</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phá</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cơ</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chế</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sinh</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học</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vật</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lý</a:t>
            </a:r>
            <a:r>
              <a:rPr lang="en-GB" dirty="0">
                <a:cs typeface="Times New Roman" panose="02020603050405020304" pitchFamily="18" charset="0"/>
              </a:rPr>
              <a:t>, </a:t>
            </a:r>
            <a:r>
              <a:rPr lang="en-GB" dirty="0" err="1">
                <a:cs typeface="Times New Roman" panose="02020603050405020304" pitchFamily="18" charset="0"/>
              </a:rPr>
              <a:t>hóa</a:t>
            </a:r>
            <a:r>
              <a:rPr lang="en-GB" dirty="0">
                <a:cs typeface="Times New Roman" panose="02020603050405020304" pitchFamily="18" charset="0"/>
              </a:rPr>
              <a:t> </a:t>
            </a:r>
            <a:r>
              <a:rPr lang="en-GB" dirty="0" err="1">
                <a:cs typeface="Times New Roman" panose="02020603050405020304" pitchFamily="18" charset="0"/>
              </a:rPr>
              <a:t>học</a:t>
            </a:r>
            <a:r>
              <a:rPr lang="en-GB" dirty="0">
                <a:cs typeface="Times New Roman" panose="02020603050405020304" pitchFamily="18" charset="0"/>
              </a:rPr>
              <a:t> …</a:t>
            </a:r>
            <a:endParaRPr lang="en-GB" dirty="0">
              <a:latin typeface="Times New Roman" panose="02020603050405020304" pitchFamily="18" charset="0"/>
              <a:cs typeface="Times New Roman" panose="02020603050405020304" pitchFamily="18" charset="0"/>
            </a:endParaRPr>
          </a:p>
          <a:p>
            <a:pPr algn="just"/>
            <a:r>
              <a:rPr lang="en-GB" dirty="0" err="1">
                <a:latin typeface="Times New Roman" panose="02020603050405020304" pitchFamily="18" charset="0"/>
                <a:cs typeface="Times New Roman" panose="02020603050405020304" pitchFamily="18" charset="0"/>
              </a:rPr>
              <a:t>Tìm</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ra</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phương</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pháp</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mới</a:t>
            </a:r>
            <a:r>
              <a:rPr lang="en-GB" dirty="0">
                <a:latin typeface="Times New Roman" panose="02020603050405020304" pitchFamily="18" charset="0"/>
                <a:cs typeface="Times New Roman" panose="02020603050405020304" pitchFamily="18" charset="0"/>
              </a:rPr>
              <a:t> hay c</a:t>
            </a:r>
            <a:r>
              <a:rPr lang="vi-VN" dirty="0">
                <a:latin typeface="Times New Roman" panose="02020603050405020304" pitchFamily="18" charset="0"/>
                <a:cs typeface="Times New Roman" panose="02020603050405020304" pitchFamily="18" charset="0"/>
              </a:rPr>
              <a:t>ải thiện phương pháp </a:t>
            </a:r>
            <a:r>
              <a:rPr lang="en-GB" dirty="0" err="1">
                <a:latin typeface="Times New Roman" panose="02020603050405020304" pitchFamily="18" charset="0"/>
                <a:cs typeface="Times New Roman" panose="02020603050405020304" pitchFamily="18" charset="0"/>
              </a:rPr>
              <a:t>cũ</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nhằm</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nâng</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cao</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năng</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suất</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cho</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công</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nông</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nghiệp</a:t>
            </a:r>
            <a:r>
              <a:rPr lang="vi-VN" dirty="0">
                <a:latin typeface="Times New Roman" panose="02020603050405020304" pitchFamily="18" charset="0"/>
                <a:cs typeface="Times New Roman" panose="02020603050405020304" pitchFamily="18" charset="0"/>
              </a:rPr>
              <a:t>.</a:t>
            </a:r>
            <a:endParaRPr lang="en-GB" dirty="0">
              <a:latin typeface="Times New Roman" panose="02020603050405020304" pitchFamily="18" charset="0"/>
              <a:cs typeface="Times New Roman" panose="02020603050405020304" pitchFamily="18" charset="0"/>
            </a:endParaRPr>
          </a:p>
          <a:p>
            <a:pPr algn="just"/>
            <a:r>
              <a:rPr lang="vi-VN" dirty="0">
                <a:latin typeface="Times New Roman" panose="02020603050405020304" pitchFamily="18" charset="0"/>
                <a:cs typeface="Times New Roman" panose="02020603050405020304" pitchFamily="18" charset="0"/>
              </a:rPr>
              <a:t>Nâng cao chất lượng </a:t>
            </a:r>
            <a:r>
              <a:rPr lang="en-GB" dirty="0" err="1">
                <a:cs typeface="Times New Roman" panose="02020603050405020304" pitchFamily="18" charset="0"/>
              </a:rPr>
              <a:t>cuộc</a:t>
            </a:r>
            <a:r>
              <a:rPr lang="en-GB" dirty="0">
                <a:cs typeface="Times New Roman" panose="02020603050405020304" pitchFamily="18" charset="0"/>
              </a:rPr>
              <a:t> </a:t>
            </a:r>
            <a:r>
              <a:rPr lang="en-GB" dirty="0" err="1">
                <a:cs typeface="Times New Roman" panose="02020603050405020304" pitchFamily="18" charset="0"/>
              </a:rPr>
              <a:t>sống</a:t>
            </a:r>
            <a:r>
              <a:rPr lang="vi-VN" dirty="0">
                <a:latin typeface="Times New Roman" panose="02020603050405020304" pitchFamily="18" charset="0"/>
                <a:cs typeface="Times New Roman" panose="02020603050405020304" pitchFamily="18" charset="0"/>
              </a:rPr>
              <a:t> cộng đồng.</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122235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p:txBody>
          <a:bodyPr>
            <a:normAutofit/>
          </a:bodyPr>
          <a:lstStyle/>
          <a:p>
            <a:pPr algn="ctr"/>
            <a:r>
              <a:rPr lang="en-GB" sz="3600" b="1" dirty="0" err="1">
                <a:cs typeface="Times New Roman" panose="02020603050405020304" pitchFamily="18" charset="0"/>
              </a:rPr>
              <a:t>Tiến</a:t>
            </a:r>
            <a:r>
              <a:rPr lang="en-GB" sz="3600" b="1" dirty="0">
                <a:cs typeface="Times New Roman" panose="02020603050405020304" pitchFamily="18" charset="0"/>
              </a:rPr>
              <a:t> </a:t>
            </a:r>
            <a:r>
              <a:rPr lang="en-GB" sz="3600" b="1" dirty="0" err="1">
                <a:cs typeface="Times New Roman" panose="02020603050405020304" pitchFamily="18" charset="0"/>
              </a:rPr>
              <a:t>trình</a:t>
            </a:r>
            <a:r>
              <a:rPr lang="en-GB" sz="3600" b="1" dirty="0">
                <a:cs typeface="Times New Roman" panose="02020603050405020304" pitchFamily="18" charset="0"/>
              </a:rPr>
              <a:t> </a:t>
            </a:r>
            <a:r>
              <a:rPr lang="en-GB" sz="3600" b="1" dirty="0" err="1">
                <a:cs typeface="Times New Roman" panose="02020603050405020304" pitchFamily="18" charset="0"/>
              </a:rPr>
              <a:t>chung</a:t>
            </a:r>
            <a:r>
              <a:rPr lang="en-GB" sz="3600" b="1" dirty="0">
                <a:cs typeface="Times New Roman" panose="02020603050405020304" pitchFamily="18" charset="0"/>
              </a:rPr>
              <a:t> </a:t>
            </a:r>
            <a:r>
              <a:rPr lang="en-GB" sz="3600" b="1" dirty="0" err="1">
                <a:cs typeface="Times New Roman" panose="02020603050405020304" pitchFamily="18" charset="0"/>
              </a:rPr>
              <a:t>cho</a:t>
            </a:r>
            <a:r>
              <a:rPr lang="en-GB" sz="3600" b="1" dirty="0">
                <a:latin typeface="Times New Roman" panose="02020603050405020304" pitchFamily="18" charset="0"/>
                <a:cs typeface="Times New Roman" panose="02020603050405020304" pitchFamily="18" charset="0"/>
              </a:rPr>
              <a:t> NCKH</a:t>
            </a:r>
            <a:endParaRPr lang="en-US"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0B409F-EB9A-3965-165F-96DA6B6464CB}"/>
              </a:ext>
            </a:extLst>
          </p:cNvPr>
          <p:cNvSpPr>
            <a:spLocks noGrp="1"/>
          </p:cNvSpPr>
          <p:nvPr>
            <p:ph idx="1"/>
          </p:nvPr>
        </p:nvSpPr>
        <p:spPr/>
        <p:txBody>
          <a:bodyPr>
            <a:normAutofit/>
          </a:bodyPr>
          <a:lstStyle/>
          <a:p>
            <a:pPr marL="0" indent="0" algn="just">
              <a:buNone/>
            </a:pPr>
            <a:r>
              <a:rPr lang="vi-VN" dirty="0">
                <a:latin typeface="Times New Roman" panose="02020603050405020304" pitchFamily="18" charset="0"/>
                <a:cs typeface="Times New Roman" panose="02020603050405020304" pitchFamily="18" charset="0"/>
              </a:rPr>
              <a:t>1. Xác định vấn đề nghiên cứu</a:t>
            </a:r>
            <a:r>
              <a:rPr lang="en-GB" dirty="0">
                <a:latin typeface="Times New Roman" panose="02020603050405020304" pitchFamily="18" charset="0"/>
                <a:cs typeface="Times New Roman" panose="02020603050405020304" pitchFamily="18" charset="0"/>
              </a:rPr>
              <a:t> hay </a:t>
            </a:r>
            <a:r>
              <a:rPr lang="en-GB" dirty="0" err="1">
                <a:latin typeface="Times New Roman" panose="02020603050405020304" pitchFamily="18" charset="0"/>
                <a:cs typeface="Times New Roman" panose="02020603050405020304" pitchFamily="18" charset="0"/>
              </a:rPr>
              <a:t>câu</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hỏi</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nghiên</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cứu</a:t>
            </a:r>
            <a:r>
              <a:rPr lang="vi-VN" dirty="0">
                <a:latin typeface="Times New Roman" panose="02020603050405020304" pitchFamily="18" charset="0"/>
                <a:cs typeface="Times New Roman" panose="02020603050405020304" pitchFamily="18" charset="0"/>
              </a:rPr>
              <a:t>. </a:t>
            </a:r>
            <a:endParaRPr lang="en-GB" dirty="0">
              <a:latin typeface="Times New Roman" panose="02020603050405020304" pitchFamily="18" charset="0"/>
              <a:cs typeface="Times New Roman" panose="02020603050405020304" pitchFamily="18" charset="0"/>
            </a:endParaRPr>
          </a:p>
          <a:p>
            <a:pPr marL="0" indent="0" algn="just">
              <a:buNone/>
            </a:pPr>
            <a:r>
              <a:rPr lang="vi-VN" dirty="0">
                <a:latin typeface="Times New Roman" panose="02020603050405020304" pitchFamily="18" charset="0"/>
                <a:cs typeface="Times New Roman" panose="02020603050405020304" pitchFamily="18" charset="0"/>
              </a:rPr>
              <a:t>2. Tổng quan tài liệu. </a:t>
            </a:r>
            <a:endParaRPr lang="en-GB" dirty="0">
              <a:latin typeface="Times New Roman" panose="02020603050405020304" pitchFamily="18" charset="0"/>
              <a:cs typeface="Times New Roman" panose="02020603050405020304" pitchFamily="18" charset="0"/>
            </a:endParaRPr>
          </a:p>
          <a:p>
            <a:pPr marL="0" indent="0" algn="just">
              <a:buNone/>
            </a:pPr>
            <a:r>
              <a:rPr lang="vi-VN" dirty="0">
                <a:latin typeface="Times New Roman" panose="02020603050405020304" pitchFamily="18" charset="0"/>
                <a:cs typeface="Times New Roman" panose="02020603050405020304" pitchFamily="18" charset="0"/>
              </a:rPr>
              <a:t>3. Thiết lập giả thuyết và mục tiêu. </a:t>
            </a:r>
            <a:endParaRPr lang="en-GB" dirty="0">
              <a:latin typeface="Times New Roman" panose="02020603050405020304" pitchFamily="18" charset="0"/>
              <a:cs typeface="Times New Roman" panose="02020603050405020304" pitchFamily="18" charset="0"/>
            </a:endParaRPr>
          </a:p>
          <a:p>
            <a:pPr marL="0" indent="0" algn="just">
              <a:buNone/>
            </a:pPr>
            <a:r>
              <a:rPr lang="vi-VN" dirty="0">
                <a:latin typeface="Times New Roman" panose="02020603050405020304" pitchFamily="18" charset="0"/>
                <a:cs typeface="Times New Roman" panose="02020603050405020304" pitchFamily="18" charset="0"/>
              </a:rPr>
              <a:t>4. Lựa chọn thiết kế nghiên cứu (Mô tả, Phân tích, Can thiệp). </a:t>
            </a:r>
            <a:endParaRPr lang="en-GB" dirty="0">
              <a:latin typeface="Times New Roman" panose="02020603050405020304" pitchFamily="18" charset="0"/>
              <a:cs typeface="Times New Roman" panose="02020603050405020304" pitchFamily="18" charset="0"/>
            </a:endParaRPr>
          </a:p>
          <a:p>
            <a:pPr marL="0" indent="0" algn="just">
              <a:buNone/>
            </a:pPr>
            <a:r>
              <a:rPr lang="vi-VN" dirty="0">
                <a:latin typeface="Times New Roman" panose="02020603050405020304" pitchFamily="18" charset="0"/>
                <a:cs typeface="Times New Roman" panose="02020603050405020304" pitchFamily="18" charset="0"/>
              </a:rPr>
              <a:t>5. Thu thập và phân tích dữ liệu. </a:t>
            </a:r>
            <a:endParaRPr lang="en-GB" dirty="0">
              <a:latin typeface="Times New Roman" panose="02020603050405020304" pitchFamily="18" charset="0"/>
              <a:cs typeface="Times New Roman" panose="02020603050405020304" pitchFamily="18" charset="0"/>
            </a:endParaRPr>
          </a:p>
          <a:p>
            <a:pPr marL="0" indent="0" algn="just">
              <a:buNone/>
            </a:pPr>
            <a:r>
              <a:rPr lang="vi-VN" dirty="0">
                <a:latin typeface="Times New Roman" panose="02020603050405020304" pitchFamily="18" charset="0"/>
                <a:cs typeface="Times New Roman" panose="02020603050405020304" pitchFamily="18" charset="0"/>
              </a:rPr>
              <a:t>6. Viết báo cáo và công bố kết quả.</a:t>
            </a:r>
            <a:r>
              <a:rPr lang="en-GB" dirty="0">
                <a:cs typeface="Times New Roman" panose="02020603050405020304" pitchFamily="18" charset="0"/>
              </a:rPr>
              <a:t> </a:t>
            </a:r>
          </a:p>
          <a:p>
            <a:pPr marL="0" indent="0" algn="just">
              <a:buNone/>
            </a:pPr>
            <a:r>
              <a:rPr lang="en-GB" dirty="0">
                <a:latin typeface="Times New Roman" panose="02020603050405020304" pitchFamily="18" charset="0"/>
                <a:cs typeface="Times New Roman" panose="02020603050405020304" pitchFamily="18" charset="0"/>
                <a:sym typeface="Wingdings" panose="05000000000000000000" pitchFamily="2" charset="2"/>
              </a:rPr>
              <a:t> </a:t>
            </a:r>
            <a:r>
              <a:rPr lang="en-GB" dirty="0" err="1">
                <a:cs typeface="Times New Roman" panose="02020603050405020304" pitchFamily="18" charset="0"/>
                <a:sym typeface="Wingdings" panose="05000000000000000000" pitchFamily="2" charset="2"/>
              </a:rPr>
              <a:t>Bước</a:t>
            </a:r>
            <a:r>
              <a:rPr lang="en-GB" dirty="0">
                <a:cs typeface="Times New Roman" panose="02020603050405020304" pitchFamily="18" charset="0"/>
                <a:sym typeface="Wingdings" panose="05000000000000000000" pitchFamily="2" charset="2"/>
              </a:rPr>
              <a:t> </a:t>
            </a:r>
            <a:r>
              <a:rPr lang="en-GB" dirty="0" err="1">
                <a:cs typeface="Times New Roman" panose="02020603050405020304" pitchFamily="18" charset="0"/>
                <a:sym typeface="Wingdings" panose="05000000000000000000" pitchFamily="2" charset="2"/>
              </a:rPr>
              <a:t>số</a:t>
            </a:r>
            <a:r>
              <a:rPr lang="en-GB" dirty="0">
                <a:cs typeface="Times New Roman" panose="02020603050405020304" pitchFamily="18" charset="0"/>
                <a:sym typeface="Wingdings" panose="05000000000000000000" pitchFamily="2" charset="2"/>
              </a:rPr>
              <a:t> 4’: </a:t>
            </a:r>
            <a:r>
              <a:rPr lang="en-GB" b="1" dirty="0" err="1">
                <a:cs typeface="Times New Roman" panose="02020603050405020304" pitchFamily="18" charset="0"/>
                <a:sym typeface="Wingdings" panose="05000000000000000000" pitchFamily="2" charset="2"/>
              </a:rPr>
              <a:t>Viết</a:t>
            </a:r>
            <a:r>
              <a:rPr lang="en-GB" b="1" dirty="0">
                <a:cs typeface="Times New Roman" panose="02020603050405020304" pitchFamily="18" charset="0"/>
                <a:sym typeface="Wingdings" panose="05000000000000000000" pitchFamily="2" charset="2"/>
              </a:rPr>
              <a:t> </a:t>
            </a:r>
            <a:r>
              <a:rPr lang="en-GB" b="1" dirty="0" err="1">
                <a:cs typeface="Times New Roman" panose="02020603050405020304" pitchFamily="18" charset="0"/>
                <a:sym typeface="Wingdings" panose="05000000000000000000" pitchFamily="2" charset="2"/>
              </a:rPr>
              <a:t>đề</a:t>
            </a:r>
            <a:r>
              <a:rPr lang="en-GB" b="1" dirty="0">
                <a:cs typeface="Times New Roman" panose="02020603050405020304" pitchFamily="18" charset="0"/>
                <a:sym typeface="Wingdings" panose="05000000000000000000" pitchFamily="2" charset="2"/>
              </a:rPr>
              <a:t> </a:t>
            </a:r>
            <a:r>
              <a:rPr lang="en-GB" b="1" dirty="0" err="1">
                <a:cs typeface="Times New Roman" panose="02020603050405020304" pitchFamily="18" charset="0"/>
                <a:sym typeface="Wingdings" panose="05000000000000000000" pitchFamily="2" charset="2"/>
              </a:rPr>
              <a:t>cương</a:t>
            </a:r>
            <a:r>
              <a:rPr lang="en-GB" b="1" dirty="0">
                <a:cs typeface="Times New Roman" panose="02020603050405020304" pitchFamily="18" charset="0"/>
                <a:sym typeface="Wingdings" panose="05000000000000000000" pitchFamily="2" charset="2"/>
              </a:rPr>
              <a:t> </a:t>
            </a:r>
            <a:r>
              <a:rPr lang="en-GB" b="1" dirty="0" err="1">
                <a:cs typeface="Times New Roman" panose="02020603050405020304" pitchFamily="18" charset="0"/>
                <a:sym typeface="Wingdings" panose="05000000000000000000" pitchFamily="2" charset="2"/>
              </a:rPr>
              <a:t>nghiên</a:t>
            </a:r>
            <a:r>
              <a:rPr lang="en-GB" b="1" dirty="0">
                <a:cs typeface="Times New Roman" panose="02020603050405020304" pitchFamily="18" charset="0"/>
                <a:sym typeface="Wingdings" panose="05000000000000000000" pitchFamily="2" charset="2"/>
              </a:rPr>
              <a:t> </a:t>
            </a:r>
            <a:r>
              <a:rPr lang="en-GB" b="1" dirty="0" err="1">
                <a:cs typeface="Times New Roman" panose="02020603050405020304" pitchFamily="18" charset="0"/>
                <a:sym typeface="Wingdings" panose="05000000000000000000" pitchFamily="2" charset="2"/>
              </a:rPr>
              <a:t>cứu</a:t>
            </a:r>
            <a:endParaRPr lang="en-GB"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34759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p:txBody>
          <a:bodyPr>
            <a:normAutofit/>
          </a:bodyPr>
          <a:lstStyle/>
          <a:p>
            <a:pPr algn="ctr"/>
            <a:r>
              <a:rPr lang="en-GB" sz="3600" b="1" dirty="0" err="1">
                <a:cs typeface="Times New Roman" panose="02020603050405020304" pitchFamily="18" charset="0"/>
              </a:rPr>
              <a:t>Tiến</a:t>
            </a:r>
            <a:r>
              <a:rPr lang="en-GB" sz="3600" b="1" dirty="0">
                <a:cs typeface="Times New Roman" panose="02020603050405020304" pitchFamily="18" charset="0"/>
              </a:rPr>
              <a:t> </a:t>
            </a:r>
            <a:r>
              <a:rPr lang="en-GB" sz="3600" b="1" dirty="0" err="1">
                <a:cs typeface="Times New Roman" panose="02020603050405020304" pitchFamily="18" charset="0"/>
              </a:rPr>
              <a:t>trình</a:t>
            </a:r>
            <a:r>
              <a:rPr lang="en-GB" sz="3600" b="1" dirty="0">
                <a:cs typeface="Times New Roman" panose="02020603050405020304" pitchFamily="18" charset="0"/>
              </a:rPr>
              <a:t> </a:t>
            </a:r>
            <a:r>
              <a:rPr lang="en-GB" sz="3600" b="1" dirty="0" err="1">
                <a:cs typeface="Times New Roman" panose="02020603050405020304" pitchFamily="18" charset="0"/>
              </a:rPr>
              <a:t>chung</a:t>
            </a:r>
            <a:r>
              <a:rPr lang="en-GB" sz="3600" b="1" dirty="0">
                <a:cs typeface="Times New Roman" panose="02020603050405020304" pitchFamily="18" charset="0"/>
              </a:rPr>
              <a:t> </a:t>
            </a:r>
            <a:r>
              <a:rPr lang="en-GB" sz="3600" b="1" dirty="0" err="1">
                <a:cs typeface="Times New Roman" panose="02020603050405020304" pitchFamily="18" charset="0"/>
              </a:rPr>
              <a:t>cho</a:t>
            </a:r>
            <a:r>
              <a:rPr lang="en-GB" sz="3600" b="1" dirty="0">
                <a:latin typeface="Times New Roman" panose="02020603050405020304" pitchFamily="18" charset="0"/>
                <a:cs typeface="Times New Roman" panose="02020603050405020304" pitchFamily="18" charset="0"/>
              </a:rPr>
              <a:t> NCKH</a:t>
            </a:r>
            <a:endParaRPr lang="en-US" sz="3600" b="1" dirty="0">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AE7330EF-2271-9EEE-1D0C-EC409D042FA1}"/>
              </a:ext>
            </a:extLst>
          </p:cNvPr>
          <p:cNvPicPr>
            <a:picLocks noGrp="1" noChangeAspect="1"/>
          </p:cNvPicPr>
          <p:nvPr>
            <p:ph idx="1"/>
          </p:nvPr>
        </p:nvPicPr>
        <p:blipFill>
          <a:blip r:embed="rId2"/>
          <a:stretch>
            <a:fillRect/>
          </a:stretch>
        </p:blipFill>
        <p:spPr>
          <a:xfrm>
            <a:off x="838200" y="2175492"/>
            <a:ext cx="10515600" cy="3651604"/>
          </a:xfrm>
        </p:spPr>
      </p:pic>
    </p:spTree>
    <p:extLst>
      <p:ext uri="{BB962C8B-B14F-4D97-AF65-F5344CB8AC3E}">
        <p14:creationId xmlns:p14="http://schemas.microsoft.com/office/powerpoint/2010/main" val="33018742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p:txBody>
          <a:bodyPr>
            <a:normAutofit/>
          </a:bodyPr>
          <a:lstStyle/>
          <a:p>
            <a:pPr algn="ctr"/>
            <a:r>
              <a:rPr lang="en-GB" sz="3600" b="1" dirty="0" err="1">
                <a:latin typeface="Times New Roman" panose="02020603050405020304" pitchFamily="18" charset="0"/>
                <a:cs typeface="Times New Roman" panose="02020603050405020304" pitchFamily="18" charset="0"/>
              </a:rPr>
              <a:t>Các</a:t>
            </a:r>
            <a:r>
              <a:rPr lang="en-GB" sz="3600" b="1" dirty="0">
                <a:latin typeface="Times New Roman" panose="02020603050405020304" pitchFamily="18" charset="0"/>
                <a:cs typeface="Times New Roman" panose="02020603050405020304" pitchFamily="18" charset="0"/>
              </a:rPr>
              <a:t> </a:t>
            </a:r>
            <a:r>
              <a:rPr lang="en-GB" sz="3600" b="1" dirty="0" err="1">
                <a:latin typeface="Times New Roman" panose="02020603050405020304" pitchFamily="18" charset="0"/>
                <a:cs typeface="Times New Roman" panose="02020603050405020304" pitchFamily="18" charset="0"/>
              </a:rPr>
              <a:t>Phương</a:t>
            </a:r>
            <a:r>
              <a:rPr lang="en-GB" sz="3600" b="1" dirty="0">
                <a:latin typeface="Times New Roman" panose="02020603050405020304" pitchFamily="18" charset="0"/>
                <a:cs typeface="Times New Roman" panose="02020603050405020304" pitchFamily="18" charset="0"/>
              </a:rPr>
              <a:t> </a:t>
            </a:r>
            <a:r>
              <a:rPr lang="en-GB" sz="3600" b="1" dirty="0" err="1">
                <a:latin typeface="Times New Roman" panose="02020603050405020304" pitchFamily="18" charset="0"/>
                <a:cs typeface="Times New Roman" panose="02020603050405020304" pitchFamily="18" charset="0"/>
              </a:rPr>
              <a:t>Pháp</a:t>
            </a:r>
            <a:r>
              <a:rPr lang="en-GB" sz="3600" b="1" dirty="0">
                <a:latin typeface="Times New Roman" panose="02020603050405020304" pitchFamily="18" charset="0"/>
                <a:cs typeface="Times New Roman" panose="02020603050405020304" pitchFamily="18" charset="0"/>
              </a:rPr>
              <a:t> NCKH</a:t>
            </a:r>
            <a:endParaRPr lang="en-US" sz="3600" b="1"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45AE6962-F493-863F-D8BD-B7677C7FBB95}"/>
              </a:ext>
            </a:extLst>
          </p:cNvPr>
          <p:cNvPicPr>
            <a:picLocks noGrp="1" noChangeAspect="1"/>
          </p:cNvPicPr>
          <p:nvPr>
            <p:ph idx="1"/>
          </p:nvPr>
        </p:nvPicPr>
        <p:blipFill>
          <a:blip r:embed="rId2"/>
          <a:stretch>
            <a:fillRect/>
          </a:stretch>
        </p:blipFill>
        <p:spPr>
          <a:xfrm>
            <a:off x="1119053" y="1764665"/>
            <a:ext cx="9687885" cy="4351338"/>
          </a:xfrm>
        </p:spPr>
      </p:pic>
    </p:spTree>
    <p:extLst>
      <p:ext uri="{BB962C8B-B14F-4D97-AF65-F5344CB8AC3E}">
        <p14:creationId xmlns:p14="http://schemas.microsoft.com/office/powerpoint/2010/main" val="18630327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p:txBody>
          <a:bodyPr>
            <a:normAutofit/>
          </a:bodyPr>
          <a:lstStyle/>
          <a:p>
            <a:pPr algn="ctr"/>
            <a:r>
              <a:rPr lang="en-GB" sz="3600" b="1" dirty="0" err="1">
                <a:latin typeface="Times New Roman" panose="02020603050405020304" pitchFamily="18" charset="0"/>
                <a:cs typeface="Times New Roman" panose="02020603050405020304" pitchFamily="18" charset="0"/>
              </a:rPr>
              <a:t>Các</a:t>
            </a:r>
            <a:r>
              <a:rPr lang="en-GB" sz="3600" b="1" dirty="0">
                <a:latin typeface="Times New Roman" panose="02020603050405020304" pitchFamily="18" charset="0"/>
                <a:cs typeface="Times New Roman" panose="02020603050405020304" pitchFamily="18" charset="0"/>
              </a:rPr>
              <a:t> </a:t>
            </a:r>
            <a:r>
              <a:rPr lang="en-GB" sz="3600" b="1" dirty="0" err="1">
                <a:latin typeface="Times New Roman" panose="02020603050405020304" pitchFamily="18" charset="0"/>
                <a:cs typeface="Times New Roman" panose="02020603050405020304" pitchFamily="18" charset="0"/>
              </a:rPr>
              <a:t>Phương</a:t>
            </a:r>
            <a:r>
              <a:rPr lang="en-GB" sz="3600" b="1" dirty="0">
                <a:latin typeface="Times New Roman" panose="02020603050405020304" pitchFamily="18" charset="0"/>
                <a:cs typeface="Times New Roman" panose="02020603050405020304" pitchFamily="18" charset="0"/>
              </a:rPr>
              <a:t> </a:t>
            </a:r>
            <a:r>
              <a:rPr lang="en-GB" sz="3600" b="1" dirty="0" err="1">
                <a:latin typeface="Times New Roman" panose="02020603050405020304" pitchFamily="18" charset="0"/>
                <a:cs typeface="Times New Roman" panose="02020603050405020304" pitchFamily="18" charset="0"/>
              </a:rPr>
              <a:t>Pháp</a:t>
            </a:r>
            <a:r>
              <a:rPr lang="en-GB" sz="3600" b="1" dirty="0">
                <a:latin typeface="Times New Roman" panose="02020603050405020304" pitchFamily="18" charset="0"/>
                <a:cs typeface="Times New Roman" panose="02020603050405020304" pitchFamily="18" charset="0"/>
              </a:rPr>
              <a:t> NCKH</a:t>
            </a:r>
            <a:endParaRPr lang="en-US" sz="3600" b="1" dirty="0">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89710546-1B3B-FDCE-DF7F-98FD5B6E980F}"/>
              </a:ext>
            </a:extLst>
          </p:cNvPr>
          <p:cNvPicPr>
            <a:picLocks noGrp="1" noChangeAspect="1"/>
          </p:cNvPicPr>
          <p:nvPr>
            <p:ph idx="1"/>
          </p:nvPr>
        </p:nvPicPr>
        <p:blipFill>
          <a:blip r:embed="rId2"/>
          <a:stretch>
            <a:fillRect/>
          </a:stretch>
        </p:blipFill>
        <p:spPr>
          <a:xfrm>
            <a:off x="838200" y="2051950"/>
            <a:ext cx="10515600" cy="3765683"/>
          </a:xfrm>
        </p:spPr>
      </p:pic>
    </p:spTree>
    <p:extLst>
      <p:ext uri="{BB962C8B-B14F-4D97-AF65-F5344CB8AC3E}">
        <p14:creationId xmlns:p14="http://schemas.microsoft.com/office/powerpoint/2010/main" val="19791448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p:txBody>
          <a:bodyPr>
            <a:normAutofit/>
          </a:bodyPr>
          <a:lstStyle/>
          <a:p>
            <a:pPr algn="ctr"/>
            <a:r>
              <a:rPr lang="en-GB" sz="3600" b="1" dirty="0" err="1">
                <a:latin typeface="Times New Roman" panose="02020603050405020304" pitchFamily="18" charset="0"/>
                <a:cs typeface="Times New Roman" panose="02020603050405020304" pitchFamily="18" charset="0"/>
              </a:rPr>
              <a:t>Các</a:t>
            </a:r>
            <a:r>
              <a:rPr lang="en-GB" sz="3600" b="1" dirty="0">
                <a:latin typeface="Times New Roman" panose="02020603050405020304" pitchFamily="18" charset="0"/>
                <a:cs typeface="Times New Roman" panose="02020603050405020304" pitchFamily="18" charset="0"/>
              </a:rPr>
              <a:t> </a:t>
            </a:r>
            <a:r>
              <a:rPr lang="en-GB" sz="3600" b="1" dirty="0" err="1">
                <a:latin typeface="Times New Roman" panose="02020603050405020304" pitchFamily="18" charset="0"/>
                <a:cs typeface="Times New Roman" panose="02020603050405020304" pitchFamily="18" charset="0"/>
              </a:rPr>
              <a:t>Phương</a:t>
            </a:r>
            <a:r>
              <a:rPr lang="en-GB" sz="3600" b="1" dirty="0">
                <a:latin typeface="Times New Roman" panose="02020603050405020304" pitchFamily="18" charset="0"/>
                <a:cs typeface="Times New Roman" panose="02020603050405020304" pitchFamily="18" charset="0"/>
              </a:rPr>
              <a:t> </a:t>
            </a:r>
            <a:r>
              <a:rPr lang="en-GB" sz="3600" b="1" dirty="0" err="1">
                <a:latin typeface="Times New Roman" panose="02020603050405020304" pitchFamily="18" charset="0"/>
                <a:cs typeface="Times New Roman" panose="02020603050405020304" pitchFamily="18" charset="0"/>
              </a:rPr>
              <a:t>Pháp</a:t>
            </a:r>
            <a:r>
              <a:rPr lang="en-GB" sz="3600" b="1" dirty="0">
                <a:latin typeface="Times New Roman" panose="02020603050405020304" pitchFamily="18" charset="0"/>
                <a:cs typeface="Times New Roman" panose="02020603050405020304" pitchFamily="18" charset="0"/>
              </a:rPr>
              <a:t> NCKH</a:t>
            </a:r>
            <a:endParaRPr lang="en-US" sz="3600" b="1" dirty="0">
              <a:latin typeface="Times New Roman" panose="02020603050405020304" pitchFamily="18" charset="0"/>
              <a:cs typeface="Times New Roman" panose="02020603050405020304" pitchFamily="18" charset="0"/>
            </a:endParaRPr>
          </a:p>
        </p:txBody>
      </p:sp>
      <p:pic>
        <p:nvPicPr>
          <p:cNvPr id="11" name="Content Placeholder 10">
            <a:extLst>
              <a:ext uri="{FF2B5EF4-FFF2-40B4-BE49-F238E27FC236}">
                <a16:creationId xmlns:a16="http://schemas.microsoft.com/office/drawing/2014/main" id="{4D3F812B-6978-633F-61BE-CCC2AC42903A}"/>
              </a:ext>
            </a:extLst>
          </p:cNvPr>
          <p:cNvPicPr>
            <a:picLocks noGrp="1" noChangeAspect="1"/>
          </p:cNvPicPr>
          <p:nvPr>
            <p:ph idx="1"/>
          </p:nvPr>
        </p:nvPicPr>
        <p:blipFill>
          <a:blip r:embed="rId2"/>
          <a:stretch>
            <a:fillRect/>
          </a:stretch>
        </p:blipFill>
        <p:spPr>
          <a:xfrm>
            <a:off x="2243035" y="1825625"/>
            <a:ext cx="7705930" cy="4351338"/>
          </a:xfrm>
        </p:spPr>
      </p:pic>
    </p:spTree>
    <p:extLst>
      <p:ext uri="{BB962C8B-B14F-4D97-AF65-F5344CB8AC3E}">
        <p14:creationId xmlns:p14="http://schemas.microsoft.com/office/powerpoint/2010/main" val="34430761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p:txBody>
          <a:bodyPr>
            <a:normAutofit/>
          </a:bodyPr>
          <a:lstStyle/>
          <a:p>
            <a:pPr algn="ctr"/>
            <a:r>
              <a:rPr lang="en-GB" sz="3600" b="1" dirty="0" err="1">
                <a:latin typeface="Times New Roman" panose="02020603050405020304" pitchFamily="18" charset="0"/>
                <a:cs typeface="Times New Roman" panose="02020603050405020304" pitchFamily="18" charset="0"/>
              </a:rPr>
              <a:t>Các</a:t>
            </a:r>
            <a:r>
              <a:rPr lang="en-GB" sz="3600" b="1" dirty="0">
                <a:latin typeface="Times New Roman" panose="02020603050405020304" pitchFamily="18" charset="0"/>
                <a:cs typeface="Times New Roman" panose="02020603050405020304" pitchFamily="18" charset="0"/>
              </a:rPr>
              <a:t> </a:t>
            </a:r>
            <a:r>
              <a:rPr lang="en-GB" sz="3600" b="1" dirty="0" err="1">
                <a:latin typeface="Times New Roman" panose="02020603050405020304" pitchFamily="18" charset="0"/>
                <a:cs typeface="Times New Roman" panose="02020603050405020304" pitchFamily="18" charset="0"/>
              </a:rPr>
              <a:t>Phương</a:t>
            </a:r>
            <a:r>
              <a:rPr lang="en-GB" sz="3600" b="1" dirty="0">
                <a:latin typeface="Times New Roman" panose="02020603050405020304" pitchFamily="18" charset="0"/>
                <a:cs typeface="Times New Roman" panose="02020603050405020304" pitchFamily="18" charset="0"/>
              </a:rPr>
              <a:t> </a:t>
            </a:r>
            <a:r>
              <a:rPr lang="en-GB" sz="3600" b="1" dirty="0" err="1">
                <a:latin typeface="Times New Roman" panose="02020603050405020304" pitchFamily="18" charset="0"/>
                <a:cs typeface="Times New Roman" panose="02020603050405020304" pitchFamily="18" charset="0"/>
              </a:rPr>
              <a:t>Pháp</a:t>
            </a:r>
            <a:r>
              <a:rPr lang="en-GB" sz="3600" b="1" dirty="0">
                <a:latin typeface="Times New Roman" panose="02020603050405020304" pitchFamily="18" charset="0"/>
                <a:cs typeface="Times New Roman" panose="02020603050405020304" pitchFamily="18" charset="0"/>
              </a:rPr>
              <a:t> NCKH</a:t>
            </a:r>
            <a:endParaRPr lang="en-US" sz="3600" b="1"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F8B5998B-F887-27AC-0E80-093B3E4C79E6}"/>
              </a:ext>
            </a:extLst>
          </p:cNvPr>
          <p:cNvPicPr>
            <a:picLocks noGrp="1" noChangeAspect="1"/>
          </p:cNvPicPr>
          <p:nvPr>
            <p:ph idx="1"/>
          </p:nvPr>
        </p:nvPicPr>
        <p:blipFill>
          <a:blip r:embed="rId2"/>
          <a:stretch>
            <a:fillRect/>
          </a:stretch>
        </p:blipFill>
        <p:spPr>
          <a:xfrm>
            <a:off x="710739" y="2193294"/>
            <a:ext cx="10515600" cy="2596304"/>
          </a:xfrm>
        </p:spPr>
      </p:pic>
    </p:spTree>
    <p:extLst>
      <p:ext uri="{BB962C8B-B14F-4D97-AF65-F5344CB8AC3E}">
        <p14:creationId xmlns:p14="http://schemas.microsoft.com/office/powerpoint/2010/main" val="1038764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p:txBody>
          <a:bodyPr>
            <a:normAutofit/>
          </a:bodyPr>
          <a:lstStyle/>
          <a:p>
            <a:pPr algn="ctr"/>
            <a:r>
              <a:rPr lang="en-GB" sz="3600" b="1" dirty="0" err="1">
                <a:latin typeface="Times New Roman" panose="02020603050405020304" pitchFamily="18" charset="0"/>
                <a:cs typeface="Times New Roman" panose="02020603050405020304" pitchFamily="18" charset="0"/>
              </a:rPr>
              <a:t>Các</a:t>
            </a:r>
            <a:r>
              <a:rPr lang="en-GB" sz="3600" b="1" dirty="0">
                <a:latin typeface="Times New Roman" panose="02020603050405020304" pitchFamily="18" charset="0"/>
                <a:cs typeface="Times New Roman" panose="02020603050405020304" pitchFamily="18" charset="0"/>
              </a:rPr>
              <a:t> </a:t>
            </a:r>
            <a:r>
              <a:rPr lang="en-GB" sz="3600" b="1" dirty="0" err="1">
                <a:latin typeface="Times New Roman" panose="02020603050405020304" pitchFamily="18" charset="0"/>
                <a:cs typeface="Times New Roman" panose="02020603050405020304" pitchFamily="18" charset="0"/>
              </a:rPr>
              <a:t>Phương</a:t>
            </a:r>
            <a:r>
              <a:rPr lang="en-GB" sz="3600" b="1" dirty="0">
                <a:latin typeface="Times New Roman" panose="02020603050405020304" pitchFamily="18" charset="0"/>
                <a:cs typeface="Times New Roman" panose="02020603050405020304" pitchFamily="18" charset="0"/>
              </a:rPr>
              <a:t> </a:t>
            </a:r>
            <a:r>
              <a:rPr lang="en-GB" sz="3600" b="1" dirty="0" err="1">
                <a:latin typeface="Times New Roman" panose="02020603050405020304" pitchFamily="18" charset="0"/>
                <a:cs typeface="Times New Roman" panose="02020603050405020304" pitchFamily="18" charset="0"/>
              </a:rPr>
              <a:t>Pháp</a:t>
            </a:r>
            <a:r>
              <a:rPr lang="en-GB" sz="3600" b="1" dirty="0">
                <a:latin typeface="Times New Roman" panose="02020603050405020304" pitchFamily="18" charset="0"/>
                <a:cs typeface="Times New Roman" panose="02020603050405020304" pitchFamily="18" charset="0"/>
              </a:rPr>
              <a:t> NCKH</a:t>
            </a:r>
            <a:endParaRPr lang="en-US" sz="3600" b="1" dirty="0">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BD1D10F6-739E-A725-33AB-8F5500C8CA2B}"/>
              </a:ext>
            </a:extLst>
          </p:cNvPr>
          <p:cNvPicPr>
            <a:picLocks noGrp="1" noChangeAspect="1"/>
          </p:cNvPicPr>
          <p:nvPr>
            <p:ph idx="1"/>
          </p:nvPr>
        </p:nvPicPr>
        <p:blipFill>
          <a:blip r:embed="rId2"/>
          <a:stretch>
            <a:fillRect/>
          </a:stretch>
        </p:blipFill>
        <p:spPr>
          <a:xfrm>
            <a:off x="743989" y="1838357"/>
            <a:ext cx="10515600" cy="3971198"/>
          </a:xfrm>
        </p:spPr>
      </p:pic>
    </p:spTree>
    <p:extLst>
      <p:ext uri="{BB962C8B-B14F-4D97-AF65-F5344CB8AC3E}">
        <p14:creationId xmlns:p14="http://schemas.microsoft.com/office/powerpoint/2010/main" val="12073221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a:xfrm>
            <a:off x="838200" y="148994"/>
            <a:ext cx="10515600" cy="782031"/>
          </a:xfrm>
        </p:spPr>
        <p:txBody>
          <a:bodyPr>
            <a:normAutofit/>
          </a:bodyPr>
          <a:lstStyle/>
          <a:p>
            <a:pPr algn="ctr"/>
            <a:r>
              <a:rPr lang="en-GB" sz="3600" b="1" dirty="0" err="1">
                <a:latin typeface="Times New Roman" panose="02020603050405020304" pitchFamily="18" charset="0"/>
                <a:cs typeface="Times New Roman" panose="02020603050405020304" pitchFamily="18" charset="0"/>
              </a:rPr>
              <a:t>Các</a:t>
            </a:r>
            <a:r>
              <a:rPr lang="en-GB" sz="3600" b="1" dirty="0">
                <a:latin typeface="Times New Roman" panose="02020603050405020304" pitchFamily="18" charset="0"/>
                <a:cs typeface="Times New Roman" panose="02020603050405020304" pitchFamily="18" charset="0"/>
              </a:rPr>
              <a:t> </a:t>
            </a:r>
            <a:r>
              <a:rPr lang="en-GB" sz="3600" b="1" dirty="0" err="1">
                <a:latin typeface="Times New Roman" panose="02020603050405020304" pitchFamily="18" charset="0"/>
                <a:cs typeface="Times New Roman" panose="02020603050405020304" pitchFamily="18" charset="0"/>
              </a:rPr>
              <a:t>Phương</a:t>
            </a:r>
            <a:r>
              <a:rPr lang="en-GB" sz="3600" b="1" dirty="0">
                <a:latin typeface="Times New Roman" panose="02020603050405020304" pitchFamily="18" charset="0"/>
                <a:cs typeface="Times New Roman" panose="02020603050405020304" pitchFamily="18" charset="0"/>
              </a:rPr>
              <a:t> </a:t>
            </a:r>
            <a:r>
              <a:rPr lang="en-GB" sz="3600" b="1" dirty="0" err="1">
                <a:latin typeface="Times New Roman" panose="02020603050405020304" pitchFamily="18" charset="0"/>
                <a:cs typeface="Times New Roman" panose="02020603050405020304" pitchFamily="18" charset="0"/>
              </a:rPr>
              <a:t>Pháp</a:t>
            </a:r>
            <a:r>
              <a:rPr lang="en-GB" sz="3600" b="1" dirty="0">
                <a:latin typeface="Times New Roman" panose="02020603050405020304" pitchFamily="18" charset="0"/>
                <a:cs typeface="Times New Roman" panose="02020603050405020304" pitchFamily="18" charset="0"/>
              </a:rPr>
              <a:t> NCKH</a:t>
            </a:r>
            <a:endParaRPr lang="en-US" sz="3600" b="1"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8936C8AA-CA5E-8E3E-8231-5D0121293E97}"/>
              </a:ext>
            </a:extLst>
          </p:cNvPr>
          <p:cNvPicPr>
            <a:picLocks noGrp="1" noChangeAspect="1"/>
          </p:cNvPicPr>
          <p:nvPr>
            <p:ph idx="1"/>
          </p:nvPr>
        </p:nvPicPr>
        <p:blipFill>
          <a:blip r:embed="rId2"/>
          <a:stretch>
            <a:fillRect/>
          </a:stretch>
        </p:blipFill>
        <p:spPr>
          <a:xfrm>
            <a:off x="2255848" y="1116271"/>
            <a:ext cx="7392458" cy="5476487"/>
          </a:xfrm>
        </p:spPr>
      </p:pic>
    </p:spTree>
    <p:extLst>
      <p:ext uri="{BB962C8B-B14F-4D97-AF65-F5344CB8AC3E}">
        <p14:creationId xmlns:p14="http://schemas.microsoft.com/office/powerpoint/2010/main" val="9109203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a:xfrm>
            <a:off x="838200" y="274917"/>
            <a:ext cx="10515600" cy="812240"/>
          </a:xfrm>
        </p:spPr>
        <p:txBody>
          <a:bodyPr>
            <a:normAutofit/>
          </a:bodyPr>
          <a:lstStyle/>
          <a:p>
            <a:pPr algn="ctr"/>
            <a:r>
              <a:rPr lang="en-GB" sz="3600" b="1" dirty="0" err="1">
                <a:latin typeface="Times New Roman" panose="02020603050405020304" pitchFamily="18" charset="0"/>
                <a:cs typeface="Times New Roman" panose="02020603050405020304" pitchFamily="18" charset="0"/>
              </a:rPr>
              <a:t>Các</a:t>
            </a:r>
            <a:r>
              <a:rPr lang="en-GB" sz="3600" b="1" dirty="0">
                <a:latin typeface="Times New Roman" panose="02020603050405020304" pitchFamily="18" charset="0"/>
                <a:cs typeface="Times New Roman" panose="02020603050405020304" pitchFamily="18" charset="0"/>
              </a:rPr>
              <a:t> </a:t>
            </a:r>
            <a:r>
              <a:rPr lang="en-GB" sz="3600" b="1" dirty="0" err="1">
                <a:latin typeface="Times New Roman" panose="02020603050405020304" pitchFamily="18" charset="0"/>
                <a:cs typeface="Times New Roman" panose="02020603050405020304" pitchFamily="18" charset="0"/>
              </a:rPr>
              <a:t>loại</a:t>
            </a:r>
            <a:r>
              <a:rPr lang="en-GB" sz="3600" b="1" dirty="0">
                <a:latin typeface="Times New Roman" panose="02020603050405020304" pitchFamily="18" charset="0"/>
                <a:cs typeface="Times New Roman" panose="02020603050405020304" pitchFamily="18" charset="0"/>
              </a:rPr>
              <a:t> </a:t>
            </a:r>
            <a:r>
              <a:rPr lang="en-GB" sz="3600" b="1" dirty="0" err="1">
                <a:latin typeface="Times New Roman" panose="02020603050405020304" pitchFamily="18" charset="0"/>
                <a:cs typeface="Times New Roman" panose="02020603050405020304" pitchFamily="18" charset="0"/>
              </a:rPr>
              <a:t>hình</a:t>
            </a:r>
            <a:r>
              <a:rPr lang="en-GB" sz="3600" b="1" dirty="0">
                <a:latin typeface="Times New Roman" panose="02020603050405020304" pitchFamily="18" charset="0"/>
                <a:cs typeface="Times New Roman" panose="02020603050405020304" pitchFamily="18" charset="0"/>
              </a:rPr>
              <a:t> </a:t>
            </a:r>
            <a:r>
              <a:rPr lang="en-GB" sz="3600" b="1" dirty="0" err="1">
                <a:latin typeface="Times New Roman" panose="02020603050405020304" pitchFamily="18" charset="0"/>
                <a:cs typeface="Times New Roman" panose="02020603050405020304" pitchFamily="18" charset="0"/>
              </a:rPr>
              <a:t>thiết</a:t>
            </a:r>
            <a:r>
              <a:rPr lang="en-GB" sz="3600" b="1" dirty="0">
                <a:latin typeface="Times New Roman" panose="02020603050405020304" pitchFamily="18" charset="0"/>
                <a:cs typeface="Times New Roman" panose="02020603050405020304" pitchFamily="18" charset="0"/>
              </a:rPr>
              <a:t> </a:t>
            </a:r>
            <a:r>
              <a:rPr lang="en-GB" sz="3600" b="1" dirty="0" err="1">
                <a:latin typeface="Times New Roman" panose="02020603050405020304" pitchFamily="18" charset="0"/>
                <a:cs typeface="Times New Roman" panose="02020603050405020304" pitchFamily="18" charset="0"/>
              </a:rPr>
              <a:t>kế</a:t>
            </a:r>
            <a:r>
              <a:rPr lang="en-GB" sz="3600" b="1" dirty="0">
                <a:latin typeface="Times New Roman" panose="02020603050405020304" pitchFamily="18" charset="0"/>
                <a:cs typeface="Times New Roman" panose="02020603050405020304" pitchFamily="18" charset="0"/>
              </a:rPr>
              <a:t> </a:t>
            </a:r>
            <a:r>
              <a:rPr lang="en-GB" sz="3600" b="1" dirty="0" err="1">
                <a:latin typeface="Times New Roman" panose="02020603050405020304" pitchFamily="18" charset="0"/>
                <a:cs typeface="Times New Roman" panose="02020603050405020304" pitchFamily="18" charset="0"/>
              </a:rPr>
              <a:t>nghiên</a:t>
            </a:r>
            <a:r>
              <a:rPr lang="en-GB" sz="3600" b="1" dirty="0">
                <a:latin typeface="Times New Roman" panose="02020603050405020304" pitchFamily="18" charset="0"/>
                <a:cs typeface="Times New Roman" panose="02020603050405020304" pitchFamily="18" charset="0"/>
              </a:rPr>
              <a:t> </a:t>
            </a:r>
            <a:r>
              <a:rPr lang="en-GB" sz="3600" b="1" dirty="0" err="1">
                <a:latin typeface="Times New Roman" panose="02020603050405020304" pitchFamily="18" charset="0"/>
                <a:cs typeface="Times New Roman" panose="02020603050405020304" pitchFamily="18" charset="0"/>
              </a:rPr>
              <a:t>cứu</a:t>
            </a:r>
            <a:r>
              <a:rPr lang="en-GB" sz="3600" b="1" dirty="0">
                <a:latin typeface="Times New Roman" panose="02020603050405020304" pitchFamily="18" charset="0"/>
                <a:cs typeface="Times New Roman" panose="02020603050405020304" pitchFamily="18" charset="0"/>
              </a:rPr>
              <a:t> </a:t>
            </a:r>
            <a:r>
              <a:rPr lang="en-GB" sz="3600" b="1" dirty="0" err="1">
                <a:latin typeface="Times New Roman" panose="02020603050405020304" pitchFamily="18" charset="0"/>
                <a:cs typeface="Times New Roman" panose="02020603050405020304" pitchFamily="18" charset="0"/>
              </a:rPr>
              <a:t>phổ</a:t>
            </a:r>
            <a:r>
              <a:rPr lang="en-GB" sz="3600" b="1" dirty="0">
                <a:latin typeface="Times New Roman" panose="02020603050405020304" pitchFamily="18" charset="0"/>
                <a:cs typeface="Times New Roman" panose="02020603050405020304" pitchFamily="18" charset="0"/>
              </a:rPr>
              <a:t> </a:t>
            </a:r>
            <a:r>
              <a:rPr lang="en-GB" sz="3600" b="1" dirty="0" err="1">
                <a:latin typeface="Times New Roman" panose="02020603050405020304" pitchFamily="18" charset="0"/>
                <a:cs typeface="Times New Roman" panose="02020603050405020304" pitchFamily="18" charset="0"/>
              </a:rPr>
              <a:t>biến</a:t>
            </a:r>
            <a:endParaRPr lang="en-US"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0B409F-EB9A-3965-165F-96DA6B6464CB}"/>
              </a:ext>
            </a:extLst>
          </p:cNvPr>
          <p:cNvSpPr>
            <a:spLocks noGrp="1"/>
          </p:cNvSpPr>
          <p:nvPr>
            <p:ph idx="1"/>
          </p:nvPr>
        </p:nvSpPr>
        <p:spPr>
          <a:xfrm>
            <a:off x="693271" y="1446310"/>
            <a:ext cx="10660529" cy="4599175"/>
          </a:xfrm>
        </p:spPr>
        <p:txBody>
          <a:bodyPr>
            <a:noAutofit/>
          </a:bodyPr>
          <a:lstStyle/>
          <a:p>
            <a:pPr algn="just">
              <a:lnSpc>
                <a:spcPct val="110000"/>
              </a:lnSpc>
            </a:pPr>
            <a:r>
              <a:rPr lang="vi-VN" sz="2200" b="1" dirty="0">
                <a:latin typeface="Times New Roman" panose="02020603050405020304" pitchFamily="18" charset="0"/>
                <a:cs typeface="Times New Roman" panose="02020603050405020304" pitchFamily="18" charset="0"/>
              </a:rPr>
              <a:t>Nghiên cứu quan sát</a:t>
            </a:r>
            <a:r>
              <a:rPr lang="vi-VN" sz="2200" dirty="0">
                <a:latin typeface="Times New Roman" panose="02020603050405020304" pitchFamily="18" charset="0"/>
                <a:cs typeface="Times New Roman" panose="02020603050405020304" pitchFamily="18" charset="0"/>
              </a:rPr>
              <a:t>: Không can thiệp vào đối tượng, chỉ quan sát diễn biến tự nhiên.</a:t>
            </a:r>
            <a:endParaRPr lang="en-GB" sz="2200" dirty="0">
              <a:latin typeface="Times New Roman" panose="02020603050405020304" pitchFamily="18" charset="0"/>
              <a:cs typeface="Times New Roman" panose="02020603050405020304" pitchFamily="18" charset="0"/>
            </a:endParaRPr>
          </a:p>
          <a:p>
            <a:pPr lvl="1" algn="just">
              <a:lnSpc>
                <a:spcPct val="110000"/>
              </a:lnSpc>
              <a:buFont typeface="Wingdings" panose="05000000000000000000" pitchFamily="2" charset="2"/>
              <a:buChar char="§"/>
            </a:pPr>
            <a:r>
              <a:rPr lang="en-GB" sz="2200" dirty="0" err="1">
                <a:latin typeface="Times New Roman" panose="02020603050405020304" pitchFamily="18" charset="0"/>
                <a:cs typeface="Times New Roman" panose="02020603050405020304" pitchFamily="18" charset="0"/>
              </a:rPr>
              <a:t>Mô</a:t>
            </a:r>
            <a:r>
              <a:rPr lang="en-GB" sz="2200" dirty="0">
                <a:latin typeface="Times New Roman" panose="02020603050405020304" pitchFamily="18" charset="0"/>
                <a:cs typeface="Times New Roman" panose="02020603050405020304" pitchFamily="18" charset="0"/>
              </a:rPr>
              <a:t> </a:t>
            </a:r>
            <a:r>
              <a:rPr lang="en-GB" sz="2200" dirty="0" err="1">
                <a:latin typeface="Times New Roman" panose="02020603050405020304" pitchFamily="18" charset="0"/>
                <a:cs typeface="Times New Roman" panose="02020603050405020304" pitchFamily="18" charset="0"/>
              </a:rPr>
              <a:t>tả</a:t>
            </a:r>
            <a:endParaRPr lang="en-GB" sz="2200" dirty="0">
              <a:latin typeface="Times New Roman" panose="02020603050405020304" pitchFamily="18" charset="0"/>
              <a:cs typeface="Times New Roman" panose="02020603050405020304" pitchFamily="18" charset="0"/>
            </a:endParaRPr>
          </a:p>
          <a:p>
            <a:pPr lvl="1" algn="just">
              <a:lnSpc>
                <a:spcPct val="110000"/>
              </a:lnSpc>
              <a:buFont typeface="Wingdings" panose="05000000000000000000" pitchFamily="2" charset="2"/>
              <a:buChar char="§"/>
            </a:pPr>
            <a:r>
              <a:rPr lang="en-GB" sz="2200" dirty="0" err="1">
                <a:latin typeface="Times New Roman" panose="02020603050405020304" pitchFamily="18" charset="0"/>
                <a:cs typeface="Times New Roman" panose="02020603050405020304" pitchFamily="18" charset="0"/>
              </a:rPr>
              <a:t>Phân</a:t>
            </a:r>
            <a:r>
              <a:rPr lang="en-GB" sz="2200" dirty="0">
                <a:latin typeface="Times New Roman" panose="02020603050405020304" pitchFamily="18" charset="0"/>
                <a:cs typeface="Times New Roman" panose="02020603050405020304" pitchFamily="18" charset="0"/>
              </a:rPr>
              <a:t> </a:t>
            </a:r>
            <a:r>
              <a:rPr lang="en-GB" sz="2200" dirty="0" err="1">
                <a:latin typeface="Times New Roman" panose="02020603050405020304" pitchFamily="18" charset="0"/>
                <a:cs typeface="Times New Roman" panose="02020603050405020304" pitchFamily="18" charset="0"/>
              </a:rPr>
              <a:t>tích</a:t>
            </a:r>
            <a:r>
              <a:rPr lang="en-GB" sz="2200" dirty="0">
                <a:latin typeface="Times New Roman" panose="02020603050405020304" pitchFamily="18" charset="0"/>
                <a:cs typeface="Times New Roman" panose="02020603050405020304" pitchFamily="18" charset="0"/>
              </a:rPr>
              <a:t> (</a:t>
            </a:r>
            <a:r>
              <a:rPr lang="en-GB" sz="2200" dirty="0" err="1">
                <a:latin typeface="Times New Roman" panose="02020603050405020304" pitchFamily="18" charset="0"/>
                <a:cs typeface="Times New Roman" panose="02020603050405020304" pitchFamily="18" charset="0"/>
              </a:rPr>
              <a:t>Bệnh</a:t>
            </a:r>
            <a:r>
              <a:rPr lang="en-GB" sz="2200" dirty="0">
                <a:latin typeface="Times New Roman" panose="02020603050405020304" pitchFamily="18" charset="0"/>
                <a:cs typeface="Times New Roman" panose="02020603050405020304" pitchFamily="18" charset="0"/>
              </a:rPr>
              <a:t> </a:t>
            </a:r>
            <a:r>
              <a:rPr lang="en-GB" sz="2200" dirty="0" err="1">
                <a:latin typeface="Times New Roman" panose="02020603050405020304" pitchFamily="18" charset="0"/>
                <a:cs typeface="Times New Roman" panose="02020603050405020304" pitchFamily="18" charset="0"/>
              </a:rPr>
              <a:t>chứng</a:t>
            </a:r>
            <a:r>
              <a:rPr lang="en-GB" sz="2200" dirty="0">
                <a:latin typeface="Times New Roman" panose="02020603050405020304" pitchFamily="18" charset="0"/>
                <a:cs typeface="Times New Roman" panose="02020603050405020304" pitchFamily="18" charset="0"/>
              </a:rPr>
              <a:t>, </a:t>
            </a:r>
            <a:r>
              <a:rPr lang="en-GB" sz="2200" dirty="0" err="1">
                <a:latin typeface="Times New Roman" panose="02020603050405020304" pitchFamily="18" charset="0"/>
                <a:cs typeface="Times New Roman" panose="02020603050405020304" pitchFamily="18" charset="0"/>
              </a:rPr>
              <a:t>thuần</a:t>
            </a:r>
            <a:r>
              <a:rPr lang="en-GB" sz="2200" dirty="0">
                <a:latin typeface="Times New Roman" panose="02020603050405020304" pitchFamily="18" charset="0"/>
                <a:cs typeface="Times New Roman" panose="02020603050405020304" pitchFamily="18" charset="0"/>
              </a:rPr>
              <a:t> </a:t>
            </a:r>
            <a:r>
              <a:rPr lang="en-GB" sz="2200" dirty="0" err="1">
                <a:latin typeface="Times New Roman" panose="02020603050405020304" pitchFamily="18" charset="0"/>
                <a:cs typeface="Times New Roman" panose="02020603050405020304" pitchFamily="18" charset="0"/>
              </a:rPr>
              <a:t>tập</a:t>
            </a:r>
            <a:r>
              <a:rPr lang="en-GB" sz="2200" dirty="0">
                <a:latin typeface="Times New Roman" panose="02020603050405020304" pitchFamily="18" charset="0"/>
                <a:cs typeface="Times New Roman" panose="02020603050405020304" pitchFamily="18" charset="0"/>
              </a:rPr>
              <a:t>/</a:t>
            </a:r>
            <a:r>
              <a:rPr lang="en-GB" sz="2200" dirty="0" err="1">
                <a:latin typeface="Times New Roman" panose="02020603050405020304" pitchFamily="18" charset="0"/>
                <a:cs typeface="Times New Roman" panose="02020603050405020304" pitchFamily="18" charset="0"/>
              </a:rPr>
              <a:t>đoàn</a:t>
            </a:r>
            <a:r>
              <a:rPr lang="en-GB" sz="2200" dirty="0">
                <a:latin typeface="Times New Roman" panose="02020603050405020304" pitchFamily="18" charset="0"/>
                <a:cs typeface="Times New Roman" panose="02020603050405020304" pitchFamily="18" charset="0"/>
              </a:rPr>
              <a:t> </a:t>
            </a:r>
            <a:r>
              <a:rPr lang="en-GB" sz="2200" dirty="0" err="1">
                <a:latin typeface="Times New Roman" panose="02020603050405020304" pitchFamily="18" charset="0"/>
                <a:cs typeface="Times New Roman" panose="02020603050405020304" pitchFamily="18" charset="0"/>
              </a:rPr>
              <a:t>hệ</a:t>
            </a:r>
            <a:r>
              <a:rPr lang="en-GB" sz="2200" dirty="0">
                <a:latin typeface="Times New Roman" panose="02020603050405020304" pitchFamily="18" charset="0"/>
                <a:cs typeface="Times New Roman" panose="02020603050405020304" pitchFamily="18" charset="0"/>
              </a:rPr>
              <a:t>)</a:t>
            </a:r>
          </a:p>
          <a:p>
            <a:pPr marL="457200" lvl="1" indent="0" algn="just">
              <a:lnSpc>
                <a:spcPct val="110000"/>
              </a:lnSpc>
              <a:buNone/>
            </a:pPr>
            <a:r>
              <a:rPr lang="en-GB" sz="2200" dirty="0">
                <a:latin typeface="Times New Roman" panose="02020603050405020304" pitchFamily="18" charset="0"/>
                <a:cs typeface="Times New Roman" panose="02020603050405020304" pitchFamily="18" charset="0"/>
                <a:sym typeface="Wingdings" panose="05000000000000000000" pitchFamily="2" charset="2"/>
              </a:rPr>
              <a:t> </a:t>
            </a:r>
            <a:r>
              <a:rPr lang="vi-VN" sz="2200" dirty="0">
                <a:latin typeface="Times New Roman" panose="02020603050405020304" pitchFamily="18" charset="0"/>
                <a:cs typeface="Times New Roman" panose="02020603050405020304" pitchFamily="18" charset="0"/>
              </a:rPr>
              <a:t>Ví dụ: Nghiên cứu của Doll và Hill (1950) theo dõi thói quen hút thuốc của các bác sĩ Anh để tìm mối liên quan với ung thư phổi.</a:t>
            </a:r>
            <a:endParaRPr lang="en-GB" sz="2200" dirty="0">
              <a:latin typeface="Times New Roman" panose="02020603050405020304" pitchFamily="18" charset="0"/>
              <a:cs typeface="Times New Roman" panose="02020603050405020304" pitchFamily="18" charset="0"/>
            </a:endParaRPr>
          </a:p>
          <a:p>
            <a:pPr algn="just">
              <a:lnSpc>
                <a:spcPct val="110000"/>
              </a:lnSpc>
            </a:pPr>
            <a:r>
              <a:rPr lang="vi-VN" sz="2200" b="1" dirty="0">
                <a:latin typeface="Times New Roman" panose="02020603050405020304" pitchFamily="18" charset="0"/>
                <a:cs typeface="Times New Roman" panose="02020603050405020304" pitchFamily="18" charset="0"/>
              </a:rPr>
              <a:t>Nghiên cứu can thiệp (Thử nghiệm lâm sàng): </a:t>
            </a:r>
            <a:r>
              <a:rPr lang="vi-VN" sz="2200" dirty="0">
                <a:latin typeface="Times New Roman" panose="02020603050405020304" pitchFamily="18" charset="0"/>
                <a:cs typeface="Times New Roman" panose="02020603050405020304" pitchFamily="18" charset="0"/>
              </a:rPr>
              <a:t>Chủ động tác động (cho dùng thuốc, phẫu thuật) để đánh giá hiệu quả.</a:t>
            </a:r>
            <a:endParaRPr lang="en-GB" sz="2200" dirty="0">
              <a:latin typeface="Times New Roman" panose="02020603050405020304" pitchFamily="18" charset="0"/>
              <a:cs typeface="Times New Roman" panose="02020603050405020304" pitchFamily="18" charset="0"/>
            </a:endParaRPr>
          </a:p>
          <a:p>
            <a:pPr lvl="1" algn="just">
              <a:lnSpc>
                <a:spcPct val="110000"/>
              </a:lnSpc>
              <a:buFont typeface="Wingdings" panose="05000000000000000000" pitchFamily="2" charset="2"/>
              <a:buChar char="§"/>
            </a:pPr>
            <a:r>
              <a:rPr lang="en-GB" sz="2200" dirty="0">
                <a:cs typeface="Times New Roman" panose="02020603050405020304" pitchFamily="18" charset="0"/>
              </a:rPr>
              <a:t>Lâm </a:t>
            </a:r>
            <a:r>
              <a:rPr lang="en-GB" sz="2200" dirty="0" err="1">
                <a:cs typeface="Times New Roman" panose="02020603050405020304" pitchFamily="18" charset="0"/>
              </a:rPr>
              <a:t>sàng</a:t>
            </a:r>
            <a:endParaRPr lang="en-GB" sz="2200" dirty="0">
              <a:cs typeface="Times New Roman" panose="02020603050405020304" pitchFamily="18" charset="0"/>
            </a:endParaRPr>
          </a:p>
          <a:p>
            <a:pPr lvl="1" algn="just">
              <a:lnSpc>
                <a:spcPct val="110000"/>
              </a:lnSpc>
              <a:buFont typeface="Wingdings" panose="05000000000000000000" pitchFamily="2" charset="2"/>
              <a:buChar char="§"/>
            </a:pPr>
            <a:r>
              <a:rPr lang="en-GB" sz="2200" dirty="0" err="1">
                <a:latin typeface="Times New Roman" panose="02020603050405020304" pitchFamily="18" charset="0"/>
                <a:cs typeface="Times New Roman" panose="02020603050405020304" pitchFamily="18" charset="0"/>
              </a:rPr>
              <a:t>Cộng</a:t>
            </a:r>
            <a:r>
              <a:rPr lang="en-GB" sz="2200" dirty="0">
                <a:latin typeface="Times New Roman" panose="02020603050405020304" pitchFamily="18" charset="0"/>
                <a:cs typeface="Times New Roman" panose="02020603050405020304" pitchFamily="18" charset="0"/>
              </a:rPr>
              <a:t> </a:t>
            </a:r>
            <a:r>
              <a:rPr lang="en-GB" sz="2200" dirty="0" err="1">
                <a:latin typeface="Times New Roman" panose="02020603050405020304" pitchFamily="18" charset="0"/>
                <a:cs typeface="Times New Roman" panose="02020603050405020304" pitchFamily="18" charset="0"/>
              </a:rPr>
              <a:t>đồng</a:t>
            </a:r>
            <a:endParaRPr lang="en-GB" sz="2200" dirty="0">
              <a:latin typeface="Times New Roman" panose="02020603050405020304" pitchFamily="18" charset="0"/>
              <a:cs typeface="Times New Roman" panose="02020603050405020304" pitchFamily="18" charset="0"/>
            </a:endParaRPr>
          </a:p>
          <a:p>
            <a:pPr marL="457200" lvl="1" indent="0" algn="just">
              <a:lnSpc>
                <a:spcPct val="110000"/>
              </a:lnSpc>
              <a:buNone/>
            </a:pPr>
            <a:r>
              <a:rPr lang="en-GB" sz="2200" dirty="0">
                <a:latin typeface="Times New Roman" panose="02020603050405020304" pitchFamily="18" charset="0"/>
                <a:cs typeface="Times New Roman" panose="02020603050405020304" pitchFamily="18" charset="0"/>
                <a:sym typeface="Wingdings" panose="05000000000000000000" pitchFamily="2" charset="2"/>
              </a:rPr>
              <a:t> </a:t>
            </a:r>
            <a:r>
              <a:rPr lang="vi-VN" sz="2200" dirty="0">
                <a:latin typeface="Times New Roman" panose="02020603050405020304" pitchFamily="18" charset="0"/>
                <a:cs typeface="Times New Roman" panose="02020603050405020304" pitchFamily="18" charset="0"/>
              </a:rPr>
              <a:t>Ví dụ: Thử nghiệm vaccine COVID-19 của Pfizer-BioNTech giai đoạn 3 trên 44.000 tình nguyện viên để đánh giá hiệu lực bảo vệ.</a:t>
            </a: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94391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p:txBody>
          <a:bodyPr>
            <a:normAutofit/>
          </a:bodyPr>
          <a:lstStyle/>
          <a:p>
            <a:pPr algn="ctr"/>
            <a:r>
              <a:rPr lang="en-GB" sz="3600" b="1" dirty="0" err="1">
                <a:cs typeface="Times New Roman" panose="02020603050405020304" pitchFamily="18" charset="0"/>
              </a:rPr>
              <a:t>Thảo</a:t>
            </a:r>
            <a:r>
              <a:rPr lang="en-GB" sz="3600" b="1" dirty="0">
                <a:cs typeface="Times New Roman" panose="02020603050405020304" pitchFamily="18" charset="0"/>
              </a:rPr>
              <a:t> </a:t>
            </a:r>
            <a:r>
              <a:rPr lang="en-GB" sz="3600" b="1" dirty="0" err="1">
                <a:cs typeface="Times New Roman" panose="02020603050405020304" pitchFamily="18" charset="0"/>
              </a:rPr>
              <a:t>luận</a:t>
            </a:r>
            <a:endParaRPr lang="en-US"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0B409F-EB9A-3965-165F-96DA6B6464CB}"/>
              </a:ext>
            </a:extLst>
          </p:cNvPr>
          <p:cNvSpPr>
            <a:spLocks noGrp="1"/>
          </p:cNvSpPr>
          <p:nvPr>
            <p:ph idx="1"/>
          </p:nvPr>
        </p:nvSpPr>
        <p:spPr/>
        <p:txBody>
          <a:bodyPr>
            <a:normAutofit/>
          </a:bodyPr>
          <a:lstStyle/>
          <a:p>
            <a:pPr marL="0" indent="0" algn="ctr">
              <a:buNone/>
            </a:pPr>
            <a:r>
              <a:rPr lang="en-GB" dirty="0" err="1">
                <a:latin typeface="Times New Roman" panose="02020603050405020304" pitchFamily="18" charset="0"/>
                <a:cs typeface="Times New Roman" panose="02020603050405020304" pitchFamily="18" charset="0"/>
              </a:rPr>
              <a:t>Câu</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hỏi</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Tại</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sao</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cán</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bộ</a:t>
            </a:r>
            <a:r>
              <a:rPr lang="en-GB" dirty="0">
                <a:latin typeface="Times New Roman" panose="02020603050405020304" pitchFamily="18" charset="0"/>
                <a:cs typeface="Times New Roman" panose="02020603050405020304" pitchFamily="18" charset="0"/>
              </a:rPr>
              <a:t> y </a:t>
            </a:r>
            <a:r>
              <a:rPr lang="en-GB" dirty="0" err="1">
                <a:latin typeface="Times New Roman" panose="02020603050405020304" pitchFamily="18" charset="0"/>
                <a:cs typeface="Times New Roman" panose="02020603050405020304" pitchFamily="18" charset="0"/>
              </a:rPr>
              <a:t>tế</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phải</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học</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và</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làm</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nghiên</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cứu</a:t>
            </a:r>
            <a:r>
              <a:rPr lang="en-GB" dirty="0">
                <a:latin typeface="Times New Roman" panose="02020603050405020304" pitchFamily="18" charset="0"/>
                <a:cs typeface="Times New Roman" panose="02020603050405020304" pitchFamily="18" charset="0"/>
              </a:rPr>
              <a:t> khoa </a:t>
            </a:r>
            <a:r>
              <a:rPr lang="en-GB" dirty="0" err="1">
                <a:latin typeface="Times New Roman" panose="02020603050405020304" pitchFamily="18" charset="0"/>
                <a:cs typeface="Times New Roman" panose="02020603050405020304" pitchFamily="18" charset="0"/>
              </a:rPr>
              <a:t>học</a:t>
            </a:r>
            <a:r>
              <a:rPr lang="en-GB"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85632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0B409F-EB9A-3965-165F-96DA6B6464CB}"/>
              </a:ext>
            </a:extLst>
          </p:cNvPr>
          <p:cNvSpPr>
            <a:spLocks noGrp="1"/>
          </p:cNvSpPr>
          <p:nvPr>
            <p:ph idx="1"/>
          </p:nvPr>
        </p:nvSpPr>
        <p:spPr/>
        <p:txBody>
          <a:bodyPr>
            <a:normAutofit/>
          </a:bodyPr>
          <a:lstStyle/>
          <a:p>
            <a:pPr marL="0" indent="0" algn="ctr">
              <a:lnSpc>
                <a:spcPct val="150000"/>
              </a:lnSpc>
              <a:buNone/>
            </a:pPr>
            <a:r>
              <a:rPr lang="en-US" sz="3600" b="1" dirty="0" err="1">
                <a:latin typeface="Times New Roman" panose="02020603050405020304" pitchFamily="18" charset="0"/>
                <a:cs typeface="Times New Roman" panose="02020603050405020304" pitchFamily="18" charset="0"/>
              </a:rPr>
              <a:t>Phần</a:t>
            </a:r>
            <a:r>
              <a:rPr lang="en-US" sz="3600" b="1" dirty="0">
                <a:latin typeface="Times New Roman" panose="02020603050405020304" pitchFamily="18" charset="0"/>
                <a:cs typeface="Times New Roman" panose="02020603050405020304" pitchFamily="18" charset="0"/>
              </a:rPr>
              <a:t> 2: Y </a:t>
            </a:r>
            <a:r>
              <a:rPr lang="en-US" sz="3600" b="1" dirty="0" err="1">
                <a:latin typeface="Times New Roman" panose="02020603050405020304" pitchFamily="18" charset="0"/>
                <a:cs typeface="Times New Roman" panose="02020603050405020304" pitchFamily="18" charset="0"/>
              </a:rPr>
              <a:t>đức</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trong</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Nghiên</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cứu</a:t>
            </a:r>
            <a:r>
              <a:rPr lang="en-US" sz="3600" b="1" dirty="0">
                <a:latin typeface="Times New Roman" panose="02020603050405020304" pitchFamily="18" charset="0"/>
                <a:cs typeface="Times New Roman" panose="02020603050405020304" pitchFamily="18" charset="0"/>
              </a:rPr>
              <a:t> Y </a:t>
            </a:r>
            <a:r>
              <a:rPr lang="en-US" sz="3600" b="1" dirty="0" err="1">
                <a:latin typeface="Times New Roman" panose="02020603050405020304" pitchFamily="18" charset="0"/>
                <a:cs typeface="Times New Roman" panose="02020603050405020304" pitchFamily="18" charset="0"/>
              </a:rPr>
              <a:t>Sinh</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học</a:t>
            </a:r>
            <a:endParaRPr lang="en-US"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39940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p:txBody>
          <a:bodyPr>
            <a:normAutofit/>
          </a:bodyPr>
          <a:lstStyle/>
          <a:p>
            <a:pPr algn="ctr">
              <a:lnSpc>
                <a:spcPct val="100000"/>
              </a:lnSpc>
            </a:pPr>
            <a:r>
              <a:rPr lang="en-US" sz="3600" b="1" dirty="0" err="1">
                <a:latin typeface="Times New Roman" panose="02020603050405020304" pitchFamily="18" charset="0"/>
                <a:cs typeface="Times New Roman" panose="02020603050405020304" pitchFamily="18" charset="0"/>
              </a:rPr>
              <a:t>Lịch</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sử</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và</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các</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văn</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bản</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quy</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phạm</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về</a:t>
            </a:r>
            <a:r>
              <a:rPr lang="en-US" sz="3600" b="1" dirty="0">
                <a:latin typeface="Times New Roman" panose="02020603050405020304" pitchFamily="18" charset="0"/>
                <a:cs typeface="Times New Roman" panose="02020603050405020304" pitchFamily="18" charset="0"/>
              </a:rPr>
              <a:t> y </a:t>
            </a:r>
            <a:r>
              <a:rPr lang="en-US" sz="3600" b="1" dirty="0" err="1">
                <a:cs typeface="Times New Roman" panose="02020603050405020304" pitchFamily="18" charset="0"/>
              </a:rPr>
              <a:t>đức</a:t>
            </a:r>
            <a:r>
              <a:rPr lang="en-US" sz="3600" b="1" dirty="0">
                <a:cs typeface="Times New Roman" panose="02020603050405020304" pitchFamily="18" charset="0"/>
              </a:rPr>
              <a:t> </a:t>
            </a:r>
            <a:r>
              <a:rPr lang="en-US" sz="3600" b="1" dirty="0" err="1">
                <a:cs typeface="Times New Roman" panose="02020603050405020304" pitchFamily="18" charset="0"/>
              </a:rPr>
              <a:t>trong</a:t>
            </a:r>
            <a:r>
              <a:rPr lang="en-US" sz="3600" b="1" dirty="0">
                <a:cs typeface="Times New Roman" panose="02020603050405020304" pitchFamily="18" charset="0"/>
              </a:rPr>
              <a:t> </a:t>
            </a:r>
            <a:r>
              <a:rPr lang="en-US" sz="3600" b="1" dirty="0" err="1">
                <a:cs typeface="Times New Roman" panose="02020603050405020304" pitchFamily="18" charset="0"/>
              </a:rPr>
              <a:t>n</a:t>
            </a:r>
            <a:r>
              <a:rPr lang="en-US" sz="3600" b="1" dirty="0" err="1">
                <a:latin typeface="Times New Roman" panose="02020603050405020304" pitchFamily="18" charset="0"/>
                <a:cs typeface="Times New Roman" panose="02020603050405020304" pitchFamily="18" charset="0"/>
              </a:rPr>
              <a:t>ghiên</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cứu</a:t>
            </a:r>
            <a:r>
              <a:rPr lang="en-US" sz="3600" b="1" dirty="0">
                <a:latin typeface="Times New Roman" panose="02020603050405020304" pitchFamily="18" charset="0"/>
                <a:cs typeface="Times New Roman" panose="02020603050405020304" pitchFamily="18" charset="0"/>
              </a:rPr>
              <a:t> Y </a:t>
            </a:r>
            <a:r>
              <a:rPr lang="en-US" sz="3600" b="1" dirty="0" err="1">
                <a:latin typeface="Times New Roman" panose="02020603050405020304" pitchFamily="18" charset="0"/>
                <a:cs typeface="Times New Roman" panose="02020603050405020304" pitchFamily="18" charset="0"/>
              </a:rPr>
              <a:t>Sinh</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học</a:t>
            </a:r>
            <a:endParaRPr lang="en-US"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0B409F-EB9A-3965-165F-96DA6B6464CB}"/>
              </a:ext>
            </a:extLst>
          </p:cNvPr>
          <p:cNvSpPr>
            <a:spLocks noGrp="1"/>
          </p:cNvSpPr>
          <p:nvPr>
            <p:ph idx="1"/>
          </p:nvPr>
        </p:nvSpPr>
        <p:spPr>
          <a:xfrm>
            <a:off x="838200" y="2043953"/>
            <a:ext cx="10515600" cy="4133010"/>
          </a:xfrm>
        </p:spPr>
        <p:txBody>
          <a:bodyPr>
            <a:normAutofit/>
          </a:bodyPr>
          <a:lstStyle/>
          <a:p>
            <a:pPr algn="just">
              <a:lnSpc>
                <a:spcPct val="100000"/>
              </a:lnSpc>
            </a:pPr>
            <a:r>
              <a:rPr lang="vi-VN" dirty="0"/>
              <a:t>Tội ác phát xít &amp; Bộ luật Nuremberg (1947): Đặt nền móng đầu tiên về sự tự nguyện.</a:t>
            </a:r>
            <a:endParaRPr lang="en-GB" dirty="0"/>
          </a:p>
          <a:p>
            <a:pPr algn="just">
              <a:lnSpc>
                <a:spcPct val="100000"/>
              </a:lnSpc>
            </a:pPr>
            <a:r>
              <a:rPr lang="vi-VN" dirty="0"/>
              <a:t>Tuyên ngôn Helsinki (1964): Kim chỉ nam đạo đức của Hiệp hội Y khoa Thế giới.</a:t>
            </a:r>
            <a:endParaRPr lang="en-GB" dirty="0"/>
          </a:p>
          <a:p>
            <a:pPr algn="just">
              <a:lnSpc>
                <a:spcPct val="100000"/>
              </a:lnSpc>
            </a:pPr>
            <a:r>
              <a:rPr lang="vi-VN" dirty="0"/>
              <a:t>Báo cáo Belmont (1979): Đưa ra 3 nguyên tắc cơ bản.</a:t>
            </a:r>
            <a:endParaRPr lang="en-GB" dirty="0">
              <a:latin typeface="+mj-lt"/>
            </a:endParaRPr>
          </a:p>
        </p:txBody>
      </p:sp>
    </p:spTree>
    <p:extLst>
      <p:ext uri="{BB962C8B-B14F-4D97-AF65-F5344CB8AC3E}">
        <p14:creationId xmlns:p14="http://schemas.microsoft.com/office/powerpoint/2010/main" val="25319163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p:txBody>
          <a:bodyPr>
            <a:normAutofit/>
          </a:bodyPr>
          <a:lstStyle/>
          <a:p>
            <a:pPr algn="ctr">
              <a:lnSpc>
                <a:spcPct val="100000"/>
              </a:lnSpc>
            </a:pPr>
            <a:r>
              <a:rPr lang="en-US" sz="3600" b="1" dirty="0">
                <a:latin typeface="Times New Roman" panose="02020603050405020304" pitchFamily="18" charset="0"/>
                <a:cs typeface="Times New Roman" panose="02020603050405020304" pitchFamily="18" charset="0"/>
              </a:rPr>
              <a:t>Ba </a:t>
            </a:r>
            <a:r>
              <a:rPr lang="en-US" sz="3600" b="1" dirty="0" err="1">
                <a:latin typeface="Times New Roman" panose="02020603050405020304" pitchFamily="18" charset="0"/>
                <a:cs typeface="Times New Roman" panose="02020603050405020304" pitchFamily="18" charset="0"/>
              </a:rPr>
              <a:t>nguyên</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tắc</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đạo</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đức</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cốt</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lõi</a:t>
            </a:r>
            <a:endParaRPr lang="en-US"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0B409F-EB9A-3965-165F-96DA6B6464CB}"/>
              </a:ext>
            </a:extLst>
          </p:cNvPr>
          <p:cNvSpPr>
            <a:spLocks noGrp="1"/>
          </p:cNvSpPr>
          <p:nvPr>
            <p:ph idx="1"/>
          </p:nvPr>
        </p:nvSpPr>
        <p:spPr/>
        <p:txBody>
          <a:bodyPr>
            <a:normAutofit/>
          </a:bodyPr>
          <a:lstStyle/>
          <a:p>
            <a:pPr algn="just">
              <a:lnSpc>
                <a:spcPct val="100000"/>
              </a:lnSpc>
            </a:pPr>
            <a:r>
              <a:rPr lang="vi-VN" b="1" dirty="0">
                <a:latin typeface="+mj-lt"/>
              </a:rPr>
              <a:t>Tôn trọng con người (Respect for persons)</a:t>
            </a:r>
            <a:r>
              <a:rPr lang="vi-VN" dirty="0">
                <a:latin typeface="+mj-lt"/>
              </a:rPr>
              <a:t>: Thừa nhận quyền tự quyết, bảo vệ những người dễ bị tổn thương (trẻ em, người khuyết tật...).</a:t>
            </a:r>
            <a:endParaRPr lang="en-GB" dirty="0">
              <a:latin typeface="+mj-lt"/>
            </a:endParaRPr>
          </a:p>
          <a:p>
            <a:pPr algn="just">
              <a:lnSpc>
                <a:spcPct val="100000"/>
              </a:lnSpc>
            </a:pPr>
            <a:r>
              <a:rPr lang="vi-VN" b="1" dirty="0">
                <a:latin typeface="+mj-lt"/>
              </a:rPr>
              <a:t>Hướng thiện (Beneficence)</a:t>
            </a:r>
            <a:r>
              <a:rPr lang="vi-VN" dirty="0">
                <a:latin typeface="+mj-lt"/>
              </a:rPr>
              <a:t>: Tối đa hóa lợi ích, tối thiểu hóa rủi ro (nguyên tắc "Không gây hại").</a:t>
            </a:r>
            <a:endParaRPr lang="en-GB" dirty="0">
              <a:latin typeface="+mj-lt"/>
            </a:endParaRPr>
          </a:p>
          <a:p>
            <a:pPr algn="just">
              <a:lnSpc>
                <a:spcPct val="100000"/>
              </a:lnSpc>
            </a:pPr>
            <a:r>
              <a:rPr lang="vi-VN" b="1" dirty="0">
                <a:latin typeface="+mj-lt"/>
              </a:rPr>
              <a:t>Công bằng (Justice)</a:t>
            </a:r>
            <a:r>
              <a:rPr lang="vi-VN" dirty="0">
                <a:latin typeface="+mj-lt"/>
              </a:rPr>
              <a:t>: Chia sẻ gánh nặng và lợi ích nghiên cứu một cách bình đẳng.</a:t>
            </a:r>
            <a:endParaRPr lang="en-GB" dirty="0">
              <a:latin typeface="+mj-lt"/>
            </a:endParaRPr>
          </a:p>
        </p:txBody>
      </p:sp>
    </p:spTree>
    <p:extLst>
      <p:ext uri="{BB962C8B-B14F-4D97-AF65-F5344CB8AC3E}">
        <p14:creationId xmlns:p14="http://schemas.microsoft.com/office/powerpoint/2010/main" val="26053404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a:xfrm>
            <a:off x="838200" y="287434"/>
            <a:ext cx="10515600" cy="1325563"/>
          </a:xfrm>
        </p:spPr>
        <p:txBody>
          <a:bodyPr>
            <a:normAutofit/>
          </a:bodyPr>
          <a:lstStyle/>
          <a:p>
            <a:pPr algn="ctr">
              <a:lnSpc>
                <a:spcPct val="100000"/>
              </a:lnSpc>
            </a:pPr>
            <a:r>
              <a:rPr lang="vi-VN" sz="3600" b="1" dirty="0">
                <a:latin typeface="Times New Roman" panose="02020603050405020304" pitchFamily="18" charset="0"/>
                <a:cs typeface="Times New Roman" panose="02020603050405020304" pitchFamily="18" charset="0"/>
              </a:rPr>
              <a:t>Nguyên tắc "Tôn trọng con người" và Sự chấp thuận tự nguyện</a:t>
            </a:r>
            <a:endParaRPr lang="en-US"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0B409F-EB9A-3965-165F-96DA6B6464CB}"/>
              </a:ext>
            </a:extLst>
          </p:cNvPr>
          <p:cNvSpPr>
            <a:spLocks noGrp="1"/>
          </p:cNvSpPr>
          <p:nvPr>
            <p:ph idx="1"/>
          </p:nvPr>
        </p:nvSpPr>
        <p:spPr>
          <a:xfrm>
            <a:off x="579721" y="1825625"/>
            <a:ext cx="10930965" cy="4351338"/>
          </a:xfrm>
        </p:spPr>
        <p:txBody>
          <a:bodyPr>
            <a:noAutofit/>
          </a:bodyPr>
          <a:lstStyle/>
          <a:p>
            <a:pPr algn="just">
              <a:lnSpc>
                <a:spcPct val="100000"/>
              </a:lnSpc>
            </a:pPr>
            <a:r>
              <a:rPr lang="vi-VN" sz="2700" dirty="0">
                <a:latin typeface="+mj-lt"/>
              </a:rPr>
              <a:t>Chi tiết: Đối tượng phải được cung cấp "Bản thông tin cho đối tượng nghiên cứu" (PIS) bằng ngôn ngữ dễ hiểu, không có thuật ngữ chuyên môn quá khó.</a:t>
            </a:r>
            <a:endParaRPr lang="en-GB" sz="2700" dirty="0">
              <a:latin typeface="+mj-lt"/>
            </a:endParaRPr>
          </a:p>
          <a:p>
            <a:pPr algn="just">
              <a:lnSpc>
                <a:spcPct val="100000"/>
              </a:lnSpc>
            </a:pPr>
            <a:r>
              <a:rPr lang="vi-VN" sz="2700" dirty="0">
                <a:latin typeface="+mj-lt"/>
              </a:rPr>
              <a:t>Ví dụ sai phạm kinh điển: Nghiên cứu Tuskegee về bệnh Giang mai (1932-1972).</a:t>
            </a:r>
            <a:endParaRPr lang="en-GB" sz="2700" dirty="0">
              <a:latin typeface="+mj-lt"/>
            </a:endParaRPr>
          </a:p>
          <a:p>
            <a:pPr lvl="1" algn="just">
              <a:lnSpc>
                <a:spcPct val="100000"/>
              </a:lnSpc>
              <a:buFont typeface="Wingdings" panose="05000000000000000000" pitchFamily="2" charset="2"/>
              <a:buChar char="§"/>
            </a:pPr>
            <a:r>
              <a:rPr lang="vi-VN" sz="2700" dirty="0">
                <a:latin typeface="+mj-lt"/>
              </a:rPr>
              <a:t>Bối cảnh: Các nhà khoa học Mỹ theo dõi 600 người Mỹ gốc Phi bị giang mai nhưng không cho họ dùng Penicillin (dù đã biết thuốc này chữa khỏi bệnh) chỉ để quan sát diễn biến tự nhiên của bệnh cho đến khi họ chết.</a:t>
            </a:r>
            <a:endParaRPr lang="en-GB" sz="2700" dirty="0">
              <a:latin typeface="+mj-lt"/>
            </a:endParaRPr>
          </a:p>
          <a:p>
            <a:pPr lvl="1" algn="just">
              <a:lnSpc>
                <a:spcPct val="100000"/>
              </a:lnSpc>
              <a:buFont typeface="Wingdings" panose="05000000000000000000" pitchFamily="2" charset="2"/>
              <a:buChar char="§"/>
            </a:pPr>
            <a:r>
              <a:rPr lang="vi-VN" sz="2700" dirty="0">
                <a:latin typeface="+mj-lt"/>
              </a:rPr>
              <a:t>Bài học: Vi phạm nghiêm trọng quyền tự quyết và quyền được thông tin.</a:t>
            </a:r>
            <a:endParaRPr lang="en-GB" sz="2700" dirty="0">
              <a:latin typeface="+mj-lt"/>
            </a:endParaRPr>
          </a:p>
        </p:txBody>
      </p:sp>
    </p:spTree>
    <p:extLst>
      <p:ext uri="{BB962C8B-B14F-4D97-AF65-F5344CB8AC3E}">
        <p14:creationId xmlns:p14="http://schemas.microsoft.com/office/powerpoint/2010/main" val="42127867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a:xfrm>
            <a:off x="838200" y="287434"/>
            <a:ext cx="10515600" cy="1325563"/>
          </a:xfrm>
        </p:spPr>
        <p:txBody>
          <a:bodyPr>
            <a:normAutofit/>
          </a:bodyPr>
          <a:lstStyle/>
          <a:p>
            <a:pPr algn="ctr">
              <a:lnSpc>
                <a:spcPct val="100000"/>
              </a:lnSpc>
            </a:pPr>
            <a:r>
              <a:rPr lang="vi-VN" sz="3600" b="1" dirty="0">
                <a:latin typeface="Times New Roman" panose="02020603050405020304" pitchFamily="18" charset="0"/>
                <a:cs typeface="Times New Roman" panose="02020603050405020304" pitchFamily="18" charset="0"/>
              </a:rPr>
              <a:t>Nguyên tắc "Hướng thiện" (Lợi ích và Rủi ro)</a:t>
            </a:r>
            <a:endParaRPr lang="en-US"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0B409F-EB9A-3965-165F-96DA6B6464CB}"/>
              </a:ext>
            </a:extLst>
          </p:cNvPr>
          <p:cNvSpPr>
            <a:spLocks noGrp="1"/>
          </p:cNvSpPr>
          <p:nvPr>
            <p:ph idx="1"/>
          </p:nvPr>
        </p:nvSpPr>
        <p:spPr>
          <a:xfrm>
            <a:off x="579721" y="1825625"/>
            <a:ext cx="10930965" cy="4351338"/>
          </a:xfrm>
        </p:spPr>
        <p:txBody>
          <a:bodyPr>
            <a:noAutofit/>
          </a:bodyPr>
          <a:lstStyle/>
          <a:p>
            <a:pPr algn="just">
              <a:lnSpc>
                <a:spcPct val="100000"/>
              </a:lnSpc>
            </a:pPr>
            <a:r>
              <a:rPr lang="vi-VN" sz="2700" dirty="0">
                <a:latin typeface="+mj-lt"/>
              </a:rPr>
              <a:t>Rủi ro phải được giảm thiểu tối đa và lợi ích tiềm năng phải vượt trội hơn rủi ro.</a:t>
            </a:r>
            <a:endParaRPr lang="en-GB" sz="2700" dirty="0">
              <a:latin typeface="+mj-lt"/>
            </a:endParaRPr>
          </a:p>
          <a:p>
            <a:pPr algn="just">
              <a:lnSpc>
                <a:spcPct val="100000"/>
              </a:lnSpc>
            </a:pPr>
            <a:r>
              <a:rPr lang="vi-VN" sz="2700" dirty="0">
                <a:latin typeface="+mj-lt"/>
              </a:rPr>
              <a:t>Tuyên ngôn Helsinki: "Trong nghiên cứu y sinh trên con người, sức khỏe của đối tượng nghiên cứu phải là mối quan tâm hàng đầu, ưu tiên trên cả lợi ích của khoa học và xã hội."</a:t>
            </a:r>
            <a:endParaRPr lang="en-GB" sz="2700" dirty="0">
              <a:latin typeface="+mj-lt"/>
            </a:endParaRPr>
          </a:p>
        </p:txBody>
      </p:sp>
    </p:spTree>
    <p:extLst>
      <p:ext uri="{BB962C8B-B14F-4D97-AF65-F5344CB8AC3E}">
        <p14:creationId xmlns:p14="http://schemas.microsoft.com/office/powerpoint/2010/main" val="18760654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a:xfrm>
            <a:off x="838200" y="287434"/>
            <a:ext cx="10515600" cy="1325563"/>
          </a:xfrm>
        </p:spPr>
        <p:txBody>
          <a:bodyPr>
            <a:normAutofit/>
          </a:bodyPr>
          <a:lstStyle/>
          <a:p>
            <a:pPr algn="ctr">
              <a:lnSpc>
                <a:spcPct val="100000"/>
              </a:lnSpc>
            </a:pPr>
            <a:r>
              <a:rPr lang="vi-VN" sz="3600" b="1" dirty="0">
                <a:latin typeface="Times New Roman" panose="02020603050405020304" pitchFamily="18" charset="0"/>
                <a:cs typeface="Times New Roman" panose="02020603050405020304" pitchFamily="18" charset="0"/>
              </a:rPr>
              <a:t>Nguyên tắc "Công bằng"</a:t>
            </a:r>
            <a:endParaRPr lang="en-US"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0B409F-EB9A-3965-165F-96DA6B6464CB}"/>
              </a:ext>
            </a:extLst>
          </p:cNvPr>
          <p:cNvSpPr>
            <a:spLocks noGrp="1"/>
          </p:cNvSpPr>
          <p:nvPr>
            <p:ph idx="1"/>
          </p:nvPr>
        </p:nvSpPr>
        <p:spPr>
          <a:xfrm>
            <a:off x="579721" y="1825625"/>
            <a:ext cx="10930965" cy="4351338"/>
          </a:xfrm>
        </p:spPr>
        <p:txBody>
          <a:bodyPr>
            <a:noAutofit/>
          </a:bodyPr>
          <a:lstStyle/>
          <a:p>
            <a:pPr algn="just">
              <a:lnSpc>
                <a:spcPct val="100000"/>
              </a:lnSpc>
            </a:pPr>
            <a:r>
              <a:rPr lang="vi-VN" sz="2700" dirty="0">
                <a:latin typeface="+mj-lt"/>
              </a:rPr>
              <a:t>Không được chọn những nhóm người nghèo, yếu thế làm đối tượng nghiên cứu chỉ vì họ dễ lôi kéo, trong khi lợi ích từ nghiên cứu (thuốc mới giá cao) chỉ dành cho người giàu.</a:t>
            </a:r>
            <a:endParaRPr lang="en-GB" sz="2700" dirty="0">
              <a:latin typeface="+mj-lt"/>
            </a:endParaRPr>
          </a:p>
          <a:p>
            <a:pPr algn="just">
              <a:lnSpc>
                <a:spcPct val="100000"/>
              </a:lnSpc>
            </a:pPr>
            <a:r>
              <a:rPr lang="vi-VN" sz="2700" dirty="0">
                <a:latin typeface="+mj-lt"/>
              </a:rPr>
              <a:t>Ví dụ: Các thử nghiệm thuốc của các công ty đa quốc gia thực hiện tại các nước nghèo ở Châu Phi, nơi tiêu chuẩn đạo đức lỏng lẻo hơn, nhưng khi thuốc thành công thì người dân ở đó không có khả năng chi trả để mua thuốc.</a:t>
            </a:r>
            <a:endParaRPr lang="en-GB" sz="2700" dirty="0">
              <a:latin typeface="+mj-lt"/>
            </a:endParaRPr>
          </a:p>
        </p:txBody>
      </p:sp>
    </p:spTree>
    <p:extLst>
      <p:ext uri="{BB962C8B-B14F-4D97-AF65-F5344CB8AC3E}">
        <p14:creationId xmlns:p14="http://schemas.microsoft.com/office/powerpoint/2010/main" val="39078692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p:txBody>
          <a:bodyPr>
            <a:normAutofit/>
          </a:bodyPr>
          <a:lstStyle/>
          <a:p>
            <a:pPr algn="ctr">
              <a:lnSpc>
                <a:spcPct val="100000"/>
              </a:lnSpc>
            </a:pPr>
            <a:r>
              <a:rPr lang="en-US" sz="3600" b="1" dirty="0">
                <a:latin typeface="Times New Roman" panose="02020603050405020304" pitchFamily="18" charset="0"/>
                <a:cs typeface="Times New Roman" panose="02020603050405020304" pitchFamily="18" charset="0"/>
              </a:rPr>
              <a:t>Quy </a:t>
            </a:r>
            <a:r>
              <a:rPr lang="en-US" sz="3600" b="1" dirty="0" err="1">
                <a:latin typeface="Times New Roman" panose="02020603050405020304" pitchFamily="18" charset="0"/>
                <a:cs typeface="Times New Roman" panose="02020603050405020304" pitchFamily="18" charset="0"/>
              </a:rPr>
              <a:t>trình</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chấp</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thuận</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tự</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nguyện</a:t>
            </a:r>
            <a:r>
              <a:rPr lang="en-US" sz="3600" b="1" dirty="0">
                <a:latin typeface="Times New Roman" panose="02020603050405020304" pitchFamily="18" charset="0"/>
                <a:cs typeface="Times New Roman" panose="02020603050405020304" pitchFamily="18" charset="0"/>
              </a:rPr>
              <a:t> (Informed Consent)</a:t>
            </a:r>
          </a:p>
        </p:txBody>
      </p:sp>
      <p:sp>
        <p:nvSpPr>
          <p:cNvPr id="3" name="Content Placeholder 2">
            <a:extLst>
              <a:ext uri="{FF2B5EF4-FFF2-40B4-BE49-F238E27FC236}">
                <a16:creationId xmlns:a16="http://schemas.microsoft.com/office/drawing/2014/main" id="{520B409F-EB9A-3965-165F-96DA6B6464CB}"/>
              </a:ext>
            </a:extLst>
          </p:cNvPr>
          <p:cNvSpPr>
            <a:spLocks noGrp="1"/>
          </p:cNvSpPr>
          <p:nvPr>
            <p:ph idx="1"/>
          </p:nvPr>
        </p:nvSpPr>
        <p:spPr/>
        <p:txBody>
          <a:bodyPr>
            <a:normAutofit/>
          </a:bodyPr>
          <a:lstStyle/>
          <a:p>
            <a:pPr algn="just">
              <a:lnSpc>
                <a:spcPct val="100000"/>
              </a:lnSpc>
            </a:pPr>
            <a:r>
              <a:rPr lang="vi-VN" dirty="0">
                <a:latin typeface="+mj-lt"/>
              </a:rPr>
              <a:t>Cung cấp đầy đủ thông tin (mục đích, rủi ro, quyền lợi).</a:t>
            </a:r>
            <a:endParaRPr lang="en-GB" dirty="0">
              <a:latin typeface="+mj-lt"/>
            </a:endParaRPr>
          </a:p>
          <a:p>
            <a:pPr algn="just">
              <a:lnSpc>
                <a:spcPct val="100000"/>
              </a:lnSpc>
            </a:pPr>
            <a:r>
              <a:rPr lang="vi-VN" dirty="0">
                <a:latin typeface="+mj-lt"/>
              </a:rPr>
              <a:t>Đảm bảo đối tượng hiểu rõ thông tin.</a:t>
            </a:r>
            <a:endParaRPr lang="en-GB" dirty="0">
              <a:latin typeface="+mj-lt"/>
            </a:endParaRPr>
          </a:p>
          <a:p>
            <a:pPr algn="just">
              <a:lnSpc>
                <a:spcPct val="100000"/>
              </a:lnSpc>
            </a:pPr>
            <a:r>
              <a:rPr lang="vi-VN" dirty="0">
                <a:latin typeface="+mj-lt"/>
              </a:rPr>
              <a:t>Sự tự nguyện hoàn toàn (không ép buộc, có quyền rút lui bất kỳ lúc nào).</a:t>
            </a:r>
            <a:endParaRPr lang="en-GB" dirty="0">
              <a:latin typeface="+mj-lt"/>
            </a:endParaRPr>
          </a:p>
        </p:txBody>
      </p:sp>
    </p:spTree>
    <p:extLst>
      <p:ext uri="{BB962C8B-B14F-4D97-AF65-F5344CB8AC3E}">
        <p14:creationId xmlns:p14="http://schemas.microsoft.com/office/powerpoint/2010/main" val="39891030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0B409F-EB9A-3965-165F-96DA6B6464CB}"/>
              </a:ext>
            </a:extLst>
          </p:cNvPr>
          <p:cNvSpPr>
            <a:spLocks noGrp="1"/>
          </p:cNvSpPr>
          <p:nvPr>
            <p:ph idx="1"/>
          </p:nvPr>
        </p:nvSpPr>
        <p:spPr/>
        <p:txBody>
          <a:bodyPr>
            <a:normAutofit/>
          </a:bodyPr>
          <a:lstStyle/>
          <a:p>
            <a:pPr marL="0" indent="0" algn="ctr">
              <a:lnSpc>
                <a:spcPct val="150000"/>
              </a:lnSpc>
              <a:buNone/>
            </a:pPr>
            <a:r>
              <a:rPr lang="en-US" sz="3600" b="1" dirty="0" err="1">
                <a:latin typeface="Times New Roman" panose="02020603050405020304" pitchFamily="18" charset="0"/>
                <a:cs typeface="Times New Roman" panose="02020603050405020304" pitchFamily="18" charset="0"/>
              </a:rPr>
              <a:t>Phần</a:t>
            </a:r>
            <a:r>
              <a:rPr lang="en-US" sz="3600" b="1" dirty="0">
                <a:latin typeface="Times New Roman" panose="02020603050405020304" pitchFamily="18" charset="0"/>
                <a:cs typeface="Times New Roman" panose="02020603050405020304" pitchFamily="18" charset="0"/>
              </a:rPr>
              <a:t> 3: </a:t>
            </a:r>
            <a:r>
              <a:rPr lang="en-US" sz="3600" b="1" dirty="0" err="1">
                <a:latin typeface="Times New Roman" panose="02020603050405020304" pitchFamily="18" charset="0"/>
                <a:cs typeface="Times New Roman" panose="02020603050405020304" pitchFamily="18" charset="0"/>
              </a:rPr>
              <a:t>Hội</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đồng</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Đạo</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đức</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và</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Các</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hành</a:t>
            </a:r>
            <a:r>
              <a:rPr lang="en-US" sz="3600" b="1" dirty="0">
                <a:latin typeface="Times New Roman" panose="02020603050405020304" pitchFamily="18" charset="0"/>
                <a:cs typeface="Times New Roman" panose="02020603050405020304" pitchFamily="18" charset="0"/>
              </a:rPr>
              <a:t> vi </a:t>
            </a:r>
            <a:r>
              <a:rPr lang="en-US" sz="3600" b="1" dirty="0" err="1">
                <a:latin typeface="Times New Roman" panose="02020603050405020304" pitchFamily="18" charset="0"/>
                <a:cs typeface="Times New Roman" panose="02020603050405020304" pitchFamily="18" charset="0"/>
              </a:rPr>
              <a:t>sai</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trái</a:t>
            </a:r>
            <a:endParaRPr lang="en-US"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851040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p:txBody>
          <a:bodyPr>
            <a:normAutofit/>
          </a:bodyPr>
          <a:lstStyle/>
          <a:p>
            <a:pPr algn="ctr">
              <a:lnSpc>
                <a:spcPct val="100000"/>
              </a:lnSpc>
            </a:pPr>
            <a:r>
              <a:rPr lang="en-US" sz="3600" b="1" dirty="0" err="1">
                <a:latin typeface="Times New Roman" panose="02020603050405020304" pitchFamily="18" charset="0"/>
                <a:cs typeface="Times New Roman" panose="02020603050405020304" pitchFamily="18" charset="0"/>
              </a:rPr>
              <a:t>Hội</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đồng</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Đạo</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đức</a:t>
            </a:r>
            <a:r>
              <a:rPr lang="en-US" sz="3600" b="1" dirty="0">
                <a:latin typeface="Times New Roman" panose="02020603050405020304" pitchFamily="18" charset="0"/>
                <a:cs typeface="Times New Roman" panose="02020603050405020304" pitchFamily="18" charset="0"/>
              </a:rPr>
              <a:t> (IRB/EC)</a:t>
            </a:r>
          </a:p>
        </p:txBody>
      </p:sp>
      <p:sp>
        <p:nvSpPr>
          <p:cNvPr id="3" name="Content Placeholder 2">
            <a:extLst>
              <a:ext uri="{FF2B5EF4-FFF2-40B4-BE49-F238E27FC236}">
                <a16:creationId xmlns:a16="http://schemas.microsoft.com/office/drawing/2014/main" id="{520B409F-EB9A-3965-165F-96DA6B6464CB}"/>
              </a:ext>
            </a:extLst>
          </p:cNvPr>
          <p:cNvSpPr>
            <a:spLocks noGrp="1"/>
          </p:cNvSpPr>
          <p:nvPr>
            <p:ph idx="1"/>
          </p:nvPr>
        </p:nvSpPr>
        <p:spPr/>
        <p:txBody>
          <a:bodyPr>
            <a:normAutofit/>
          </a:bodyPr>
          <a:lstStyle/>
          <a:p>
            <a:pPr algn="just">
              <a:lnSpc>
                <a:spcPct val="100000"/>
              </a:lnSpc>
            </a:pPr>
            <a:r>
              <a:rPr lang="vi-VN" b="1" dirty="0">
                <a:latin typeface="+mj-lt"/>
              </a:rPr>
              <a:t>Hội đồng gồm</a:t>
            </a:r>
            <a:r>
              <a:rPr lang="vi-VN" dirty="0">
                <a:latin typeface="+mj-lt"/>
              </a:rPr>
              <a:t> các chuyên gia y khoa, luật sư, và cả những người ngoài ngành y (đại diện cộng đồng) để đảm bảo cái nhìn khách quan.</a:t>
            </a:r>
            <a:endParaRPr lang="en-GB" dirty="0">
              <a:latin typeface="+mj-lt"/>
            </a:endParaRPr>
          </a:p>
          <a:p>
            <a:pPr algn="just">
              <a:lnSpc>
                <a:spcPct val="100000"/>
              </a:lnSpc>
            </a:pPr>
            <a:r>
              <a:rPr lang="vi-VN" b="1" dirty="0">
                <a:latin typeface="+mj-lt"/>
              </a:rPr>
              <a:t>Vai trò của Hội đồng Đạo đức (IRB/EC)</a:t>
            </a:r>
            <a:r>
              <a:rPr lang="vi-VN" dirty="0">
                <a:latin typeface="+mj-lt"/>
              </a:rPr>
              <a:t>: Xem xét, phê duyệt và giám sát khía cạnh đạo đức của nghiên cứu trước khi triển khai.</a:t>
            </a:r>
            <a:endParaRPr lang="en-GB" dirty="0">
              <a:latin typeface="+mj-lt"/>
            </a:endParaRPr>
          </a:p>
          <a:p>
            <a:pPr algn="just">
              <a:lnSpc>
                <a:spcPct val="100000"/>
              </a:lnSpc>
            </a:pPr>
            <a:r>
              <a:rPr lang="vi-VN" b="1" dirty="0">
                <a:latin typeface="+mj-lt"/>
              </a:rPr>
              <a:t>Quyền hạn</a:t>
            </a:r>
            <a:r>
              <a:rPr lang="vi-VN" dirty="0">
                <a:latin typeface="+mj-lt"/>
              </a:rPr>
              <a:t>: Có quyền yêu cầu dừng nghiên cứu ngay lập tức nếu thấy có dấu hiệu gây hại cho đối tượng.</a:t>
            </a:r>
            <a:endParaRPr lang="en-GB" sz="2800" dirty="0">
              <a:latin typeface="+mj-lt"/>
            </a:endParaRPr>
          </a:p>
        </p:txBody>
      </p:sp>
    </p:spTree>
    <p:extLst>
      <p:ext uri="{BB962C8B-B14F-4D97-AF65-F5344CB8AC3E}">
        <p14:creationId xmlns:p14="http://schemas.microsoft.com/office/powerpoint/2010/main" val="42090876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a:xfrm>
            <a:off x="679825" y="167424"/>
            <a:ext cx="10515600" cy="961651"/>
          </a:xfrm>
        </p:spPr>
        <p:txBody>
          <a:bodyPr>
            <a:normAutofit/>
          </a:bodyPr>
          <a:lstStyle/>
          <a:p>
            <a:pPr algn="ctr">
              <a:lnSpc>
                <a:spcPct val="100000"/>
              </a:lnSpc>
            </a:pPr>
            <a:r>
              <a:rPr lang="en-US" sz="3600" b="1" dirty="0" err="1">
                <a:latin typeface="Times New Roman" panose="02020603050405020304" pitchFamily="18" charset="0"/>
                <a:cs typeface="Times New Roman" panose="02020603050405020304" pitchFamily="18" charset="0"/>
              </a:rPr>
              <a:t>Các</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hành</a:t>
            </a:r>
            <a:r>
              <a:rPr lang="en-US" sz="3600" b="1" dirty="0">
                <a:latin typeface="Times New Roman" panose="02020603050405020304" pitchFamily="18" charset="0"/>
                <a:cs typeface="Times New Roman" panose="02020603050405020304" pitchFamily="18" charset="0"/>
              </a:rPr>
              <a:t> vi </a:t>
            </a:r>
            <a:r>
              <a:rPr lang="en-US" sz="3600" b="1" dirty="0" err="1">
                <a:latin typeface="Times New Roman" panose="02020603050405020304" pitchFamily="18" charset="0"/>
                <a:cs typeface="Times New Roman" panose="02020603050405020304" pitchFamily="18" charset="0"/>
              </a:rPr>
              <a:t>sai</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trái</a:t>
            </a:r>
            <a:r>
              <a:rPr lang="en-US" sz="3600" b="1" dirty="0">
                <a:latin typeface="Times New Roman" panose="02020603050405020304" pitchFamily="18" charset="0"/>
                <a:cs typeface="Times New Roman" panose="02020603050405020304" pitchFamily="18" charset="0"/>
              </a:rPr>
              <a:t> (Scientific Misconduct)</a:t>
            </a:r>
          </a:p>
        </p:txBody>
      </p:sp>
      <p:sp>
        <p:nvSpPr>
          <p:cNvPr id="6" name="TextBox 5">
            <a:extLst>
              <a:ext uri="{FF2B5EF4-FFF2-40B4-BE49-F238E27FC236}">
                <a16:creationId xmlns:a16="http://schemas.microsoft.com/office/drawing/2014/main" id="{3E8C5B83-89A6-92D9-3797-8B55F2C82C14}"/>
              </a:ext>
            </a:extLst>
          </p:cNvPr>
          <p:cNvSpPr txBox="1"/>
          <p:nvPr/>
        </p:nvSpPr>
        <p:spPr>
          <a:xfrm>
            <a:off x="723153" y="1583835"/>
            <a:ext cx="10673975" cy="4524315"/>
          </a:xfrm>
          <a:prstGeom prst="rect">
            <a:avLst/>
          </a:prstGeom>
          <a:noFill/>
        </p:spPr>
        <p:txBody>
          <a:bodyPr wrap="square">
            <a:spAutoFit/>
          </a:bodyPr>
          <a:lstStyle/>
          <a:p>
            <a:pPr marL="342900" indent="-342900" algn="just">
              <a:buFont typeface="Arial" panose="020B0604020202020204" pitchFamily="34" charset="0"/>
              <a:buChar char="•"/>
            </a:pPr>
            <a:r>
              <a:rPr lang="vi-VN" sz="2400" b="1" dirty="0">
                <a:latin typeface="+mj-lt"/>
              </a:rPr>
              <a:t>Bịa đặt dữ liệu (Fabrication):</a:t>
            </a:r>
            <a:endParaRPr lang="en-GB" sz="2400" b="1" dirty="0">
              <a:latin typeface="+mj-lt"/>
            </a:endParaRPr>
          </a:p>
          <a:p>
            <a:pPr marL="800100" lvl="1" indent="-342900" algn="just">
              <a:buFont typeface="Wingdings" panose="05000000000000000000" pitchFamily="2" charset="2"/>
              <a:buChar char="§"/>
            </a:pPr>
            <a:r>
              <a:rPr lang="vi-VN" sz="2400" dirty="0">
                <a:latin typeface="+mj-lt"/>
              </a:rPr>
              <a:t>Ví dụ: Vụ bê bối Andrew Wakefield (1998). Ông đã bịa đặt dữ liệu trên 12 trẻ em để khẳng định vaccine MMR gây bệnh tự kỷ. Hệ quả là phong trào "Anti-vax" bùng nổ, khiến nhiều trẻ em tử vong vì sởi sau đó. Tạp chí The Lancet đã phải rút bài và ông bị tước giấy phép hành nghề.</a:t>
            </a:r>
            <a:endParaRPr lang="en-GB" sz="2400" dirty="0">
              <a:latin typeface="+mj-lt"/>
            </a:endParaRPr>
          </a:p>
          <a:p>
            <a:pPr marL="342900" indent="-342900" algn="just">
              <a:buFont typeface="Arial" panose="020B0604020202020204" pitchFamily="34" charset="0"/>
              <a:buChar char="•"/>
            </a:pPr>
            <a:r>
              <a:rPr lang="vi-VN" sz="2400" b="1" dirty="0">
                <a:latin typeface="+mj-lt"/>
              </a:rPr>
              <a:t>Xào nấu dữ liệu (Falsification):</a:t>
            </a:r>
            <a:endParaRPr lang="en-GB" sz="2400" b="1" dirty="0">
              <a:latin typeface="+mj-lt"/>
            </a:endParaRPr>
          </a:p>
          <a:p>
            <a:pPr marL="800100" lvl="1" indent="-342900" algn="just">
              <a:buFont typeface="Wingdings" panose="05000000000000000000" pitchFamily="2" charset="2"/>
              <a:buChar char="§"/>
            </a:pPr>
            <a:r>
              <a:rPr lang="vi-VN" sz="2400" dirty="0">
                <a:latin typeface="+mj-lt"/>
              </a:rPr>
              <a:t>Ví dụ: Loại bỏ các trường hợp bệnh nhân không có phản ứng tốt với thuốc ra khỏi mẫu phân tích để kết quả trông có vẻ "đẹp" và "có ý nghĩa thống kê".</a:t>
            </a:r>
            <a:endParaRPr lang="en-GB" sz="2400" dirty="0">
              <a:latin typeface="+mj-lt"/>
            </a:endParaRPr>
          </a:p>
          <a:p>
            <a:pPr marL="342900" indent="-342900" algn="just">
              <a:buFont typeface="Arial" panose="020B0604020202020204" pitchFamily="34" charset="0"/>
              <a:buChar char="•"/>
            </a:pPr>
            <a:r>
              <a:rPr lang="vi-VN" sz="2400" b="1" dirty="0">
                <a:latin typeface="+mj-lt"/>
              </a:rPr>
              <a:t>Đạo văn (Plagiarism):</a:t>
            </a:r>
            <a:endParaRPr lang="en-GB" sz="2400" b="1" dirty="0">
              <a:latin typeface="+mj-lt"/>
            </a:endParaRPr>
          </a:p>
          <a:p>
            <a:pPr marL="800100" lvl="1" indent="-342900" algn="just">
              <a:buFont typeface="Wingdings" panose="05000000000000000000" pitchFamily="2" charset="2"/>
              <a:buChar char="§"/>
            </a:pPr>
            <a:r>
              <a:rPr lang="vi-VN" sz="2400" dirty="0">
                <a:latin typeface="+mj-lt"/>
              </a:rPr>
              <a:t>Theo định nghĩa của ORI (Văn phòng Liêm chính Nghiên cứu Hoa Kỳ): "Đạo văn là việc sử dụng ý tưởng, quy trình, kết quả hoặc câu chữ của người khác mà không ghi nhận công lao xứng đáng."</a:t>
            </a:r>
            <a:endParaRPr lang="en-US" sz="2400" dirty="0">
              <a:latin typeface="+mj-lt"/>
            </a:endParaRPr>
          </a:p>
        </p:txBody>
      </p:sp>
    </p:spTree>
    <p:extLst>
      <p:ext uri="{BB962C8B-B14F-4D97-AF65-F5344CB8AC3E}">
        <p14:creationId xmlns:p14="http://schemas.microsoft.com/office/powerpoint/2010/main" val="7521301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a:xfrm>
            <a:off x="679825" y="269024"/>
            <a:ext cx="10515600" cy="961651"/>
          </a:xfrm>
        </p:spPr>
        <p:txBody>
          <a:bodyPr>
            <a:normAutofit/>
          </a:bodyPr>
          <a:lstStyle/>
          <a:p>
            <a:pPr algn="ctr">
              <a:lnSpc>
                <a:spcPct val="100000"/>
              </a:lnSpc>
            </a:pPr>
            <a:r>
              <a:rPr lang="en-US" sz="3600" b="1" dirty="0" err="1">
                <a:latin typeface="Times New Roman" panose="02020603050405020304" pitchFamily="18" charset="0"/>
                <a:cs typeface="Times New Roman" panose="02020603050405020304" pitchFamily="18" charset="0"/>
              </a:rPr>
              <a:t>Kết</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luận</a:t>
            </a:r>
            <a:endParaRPr lang="en-US" sz="36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E8C5B83-89A6-92D9-3797-8B55F2C82C14}"/>
              </a:ext>
            </a:extLst>
          </p:cNvPr>
          <p:cNvSpPr txBox="1"/>
          <p:nvPr/>
        </p:nvSpPr>
        <p:spPr>
          <a:xfrm>
            <a:off x="723153" y="1583835"/>
            <a:ext cx="10673975" cy="1953868"/>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GB" sz="2800" dirty="0" err="1">
                <a:latin typeface="Times New Roman" panose="02020603050405020304" pitchFamily="18" charset="0"/>
                <a:cs typeface="Times New Roman" panose="02020603050405020304" pitchFamily="18" charset="0"/>
              </a:rPr>
              <a:t>Nghiên</a:t>
            </a:r>
            <a:r>
              <a:rPr lang="en-GB" sz="2800" dirty="0">
                <a:latin typeface="Times New Roman" panose="02020603050405020304" pitchFamily="18" charset="0"/>
                <a:cs typeface="Times New Roman" panose="02020603050405020304" pitchFamily="18" charset="0"/>
              </a:rPr>
              <a:t> </a:t>
            </a:r>
            <a:r>
              <a:rPr lang="en-GB" sz="2800" dirty="0" err="1">
                <a:latin typeface="Times New Roman" panose="02020603050405020304" pitchFamily="18" charset="0"/>
                <a:cs typeface="Times New Roman" panose="02020603050405020304" pitchFamily="18" charset="0"/>
              </a:rPr>
              <a:t>cứu</a:t>
            </a:r>
            <a:r>
              <a:rPr lang="en-GB" sz="2800" dirty="0">
                <a:latin typeface="Times New Roman" panose="02020603050405020304" pitchFamily="18" charset="0"/>
                <a:cs typeface="Times New Roman" panose="02020603050405020304" pitchFamily="18" charset="0"/>
              </a:rPr>
              <a:t> y </a:t>
            </a:r>
            <a:r>
              <a:rPr lang="en-GB" sz="2800" dirty="0" err="1">
                <a:latin typeface="Times New Roman" panose="02020603050405020304" pitchFamily="18" charset="0"/>
                <a:cs typeface="Times New Roman" panose="02020603050405020304" pitchFamily="18" charset="0"/>
              </a:rPr>
              <a:t>sinh</a:t>
            </a:r>
            <a:r>
              <a:rPr lang="en-GB" sz="2800" dirty="0">
                <a:latin typeface="Times New Roman" panose="02020603050405020304" pitchFamily="18" charset="0"/>
                <a:cs typeface="Times New Roman" panose="02020603050405020304" pitchFamily="18" charset="0"/>
              </a:rPr>
              <a:t> </a:t>
            </a:r>
            <a:r>
              <a:rPr lang="en-GB" sz="2800" dirty="0" err="1">
                <a:latin typeface="Times New Roman" panose="02020603050405020304" pitchFamily="18" charset="0"/>
                <a:cs typeface="Times New Roman" panose="02020603050405020304" pitchFamily="18" charset="0"/>
              </a:rPr>
              <a:t>học</a:t>
            </a:r>
            <a:r>
              <a:rPr lang="en-GB" sz="2800" dirty="0">
                <a:latin typeface="Times New Roman" panose="02020603050405020304" pitchFamily="18" charset="0"/>
                <a:cs typeface="Times New Roman" panose="02020603050405020304" pitchFamily="18" charset="0"/>
              </a:rPr>
              <a:t> </a:t>
            </a:r>
            <a:r>
              <a:rPr lang="en-GB" sz="2800" dirty="0" err="1">
                <a:latin typeface="Times New Roman" panose="02020603050405020304" pitchFamily="18" charset="0"/>
                <a:cs typeface="Times New Roman" panose="02020603050405020304" pitchFamily="18" charset="0"/>
              </a:rPr>
              <a:t>và</a:t>
            </a:r>
            <a:r>
              <a:rPr lang="en-GB" sz="2800" dirty="0">
                <a:latin typeface="Times New Roman" panose="02020603050405020304" pitchFamily="18" charset="0"/>
                <a:cs typeface="Times New Roman" panose="02020603050405020304" pitchFamily="18" charset="0"/>
              </a:rPr>
              <a:t> </a:t>
            </a:r>
            <a:r>
              <a:rPr lang="en-GB" sz="2800" dirty="0" err="1">
                <a:latin typeface="Times New Roman" panose="02020603050405020304" pitchFamily="18" charset="0"/>
                <a:cs typeface="Times New Roman" panose="02020603050405020304" pitchFamily="18" charset="0"/>
              </a:rPr>
              <a:t>các</a:t>
            </a:r>
            <a:r>
              <a:rPr lang="en-GB" sz="2800" dirty="0">
                <a:latin typeface="Times New Roman" panose="02020603050405020304" pitchFamily="18" charset="0"/>
                <a:cs typeface="Times New Roman" panose="02020603050405020304" pitchFamily="18" charset="0"/>
              </a:rPr>
              <a:t> </a:t>
            </a:r>
            <a:r>
              <a:rPr lang="en-GB" sz="2800" dirty="0" err="1">
                <a:latin typeface="Times New Roman" panose="02020603050405020304" pitchFamily="18" charset="0"/>
                <a:cs typeface="Times New Roman" panose="02020603050405020304" pitchFamily="18" charset="0"/>
              </a:rPr>
              <a:t>bước</a:t>
            </a:r>
            <a:r>
              <a:rPr lang="en-GB" sz="2800" dirty="0">
                <a:latin typeface="Times New Roman" panose="02020603050405020304" pitchFamily="18" charset="0"/>
                <a:cs typeface="Times New Roman" panose="02020603050405020304" pitchFamily="18" charset="0"/>
              </a:rPr>
              <a:t> </a:t>
            </a:r>
            <a:r>
              <a:rPr lang="en-GB" sz="2800" dirty="0" err="1">
                <a:latin typeface="Times New Roman" panose="02020603050405020304" pitchFamily="18" charset="0"/>
                <a:cs typeface="Times New Roman" panose="02020603050405020304" pitchFamily="18" charset="0"/>
              </a:rPr>
              <a:t>nghiên</a:t>
            </a:r>
            <a:r>
              <a:rPr lang="en-GB" sz="2800" dirty="0">
                <a:latin typeface="Times New Roman" panose="02020603050405020304" pitchFamily="18" charset="0"/>
                <a:cs typeface="Times New Roman" panose="02020603050405020304" pitchFamily="18" charset="0"/>
              </a:rPr>
              <a:t> </a:t>
            </a:r>
            <a:r>
              <a:rPr lang="en-GB" sz="2800" dirty="0" err="1">
                <a:latin typeface="Times New Roman" panose="02020603050405020304" pitchFamily="18" charset="0"/>
                <a:cs typeface="Times New Roman" panose="02020603050405020304" pitchFamily="18" charset="0"/>
              </a:rPr>
              <a:t>cứu</a:t>
            </a:r>
            <a:r>
              <a:rPr lang="en-GB" sz="2800" dirty="0">
                <a:latin typeface="Times New Roman" panose="02020603050405020304" pitchFamily="18" charset="0"/>
                <a:cs typeface="Times New Roman" panose="02020603050405020304" pitchFamily="18" charset="0"/>
              </a:rPr>
              <a:t> y </a:t>
            </a:r>
            <a:r>
              <a:rPr lang="en-GB" sz="2800" dirty="0" err="1">
                <a:latin typeface="Times New Roman" panose="02020603050405020304" pitchFamily="18" charset="0"/>
                <a:cs typeface="Times New Roman" panose="02020603050405020304" pitchFamily="18" charset="0"/>
              </a:rPr>
              <a:t>sinh</a:t>
            </a:r>
            <a:r>
              <a:rPr lang="en-GB" sz="2800" dirty="0">
                <a:latin typeface="Times New Roman" panose="02020603050405020304" pitchFamily="18" charset="0"/>
                <a:cs typeface="Times New Roman" panose="02020603050405020304" pitchFamily="18" charset="0"/>
              </a:rPr>
              <a:t> </a:t>
            </a:r>
            <a:r>
              <a:rPr lang="en-GB" sz="2800" dirty="0" err="1">
                <a:latin typeface="Times New Roman" panose="02020603050405020304" pitchFamily="18" charset="0"/>
                <a:cs typeface="Times New Roman" panose="02020603050405020304" pitchFamily="18" charset="0"/>
              </a:rPr>
              <a:t>học</a:t>
            </a:r>
            <a:endParaRPr lang="en-GB" sz="28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vi-VN" sz="2800" b="1" dirty="0">
                <a:latin typeface="Times New Roman" panose="02020603050405020304" pitchFamily="18" charset="0"/>
                <a:cs typeface="Times New Roman" panose="02020603050405020304" pitchFamily="18" charset="0"/>
              </a:rPr>
              <a:t>"Sự thật trong khoa học là quan trọng, nhưng sự tử tế đối với con người là tối thượng."</a:t>
            </a:r>
            <a:endParaRPr 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48018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a:xfrm>
            <a:off x="679825" y="269024"/>
            <a:ext cx="10515600" cy="961651"/>
          </a:xfrm>
        </p:spPr>
        <p:txBody>
          <a:bodyPr>
            <a:normAutofit/>
          </a:bodyPr>
          <a:lstStyle/>
          <a:p>
            <a:pPr algn="ctr">
              <a:lnSpc>
                <a:spcPct val="100000"/>
              </a:lnSpc>
            </a:pPr>
            <a:r>
              <a:rPr lang="en-US" sz="3600" b="1" dirty="0">
                <a:latin typeface="Times New Roman" panose="02020603050405020304" pitchFamily="18" charset="0"/>
                <a:cs typeface="Times New Roman" panose="02020603050405020304" pitchFamily="18" charset="0"/>
              </a:rPr>
              <a:t>Xin </a:t>
            </a:r>
            <a:r>
              <a:rPr lang="en-US" sz="3600" b="1" dirty="0" err="1">
                <a:latin typeface="Times New Roman" panose="02020603050405020304" pitchFamily="18" charset="0"/>
                <a:cs typeface="Times New Roman" panose="02020603050405020304" pitchFamily="18" charset="0"/>
              </a:rPr>
              <a:t>chân</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thành</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cảm</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ơn</a:t>
            </a:r>
            <a:r>
              <a:rPr lang="en-US" sz="3600" b="1" dirty="0">
                <a:latin typeface="Times New Roman" panose="02020603050405020304" pitchFamily="18" charset="0"/>
                <a:cs typeface="Times New Roman" panose="02020603050405020304" pitchFamily="18" charset="0"/>
              </a:rPr>
              <a:t>!</a:t>
            </a:r>
          </a:p>
        </p:txBody>
      </p:sp>
      <p:sp>
        <p:nvSpPr>
          <p:cNvPr id="3" name="Subtitle 2">
            <a:extLst>
              <a:ext uri="{FF2B5EF4-FFF2-40B4-BE49-F238E27FC236}">
                <a16:creationId xmlns:a16="http://schemas.microsoft.com/office/drawing/2014/main" id="{6C77C32C-1D27-51DD-4941-56FA431E21BE}"/>
              </a:ext>
            </a:extLst>
          </p:cNvPr>
          <p:cNvSpPr txBox="1">
            <a:spLocks/>
          </p:cNvSpPr>
          <p:nvPr/>
        </p:nvSpPr>
        <p:spPr>
          <a:xfrm>
            <a:off x="679824" y="2163665"/>
            <a:ext cx="10800975" cy="23724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dirty="0">
                <a:cs typeface="Times New Roman" panose="02020603050405020304" pitchFamily="18" charset="0"/>
              </a:rPr>
              <a:t>TS. </a:t>
            </a:r>
            <a:r>
              <a:rPr lang="en-GB" dirty="0" err="1">
                <a:cs typeface="Times New Roman" panose="02020603050405020304" pitchFamily="18" charset="0"/>
              </a:rPr>
              <a:t>Lưu</a:t>
            </a:r>
            <a:r>
              <a:rPr lang="en-GB" dirty="0">
                <a:cs typeface="Times New Roman" panose="02020603050405020304" pitchFamily="18" charset="0"/>
              </a:rPr>
              <a:t> </a:t>
            </a:r>
            <a:r>
              <a:rPr lang="en-GB" dirty="0" err="1">
                <a:cs typeface="Times New Roman" panose="02020603050405020304" pitchFamily="18" charset="0"/>
              </a:rPr>
              <a:t>Phúc</a:t>
            </a:r>
            <a:r>
              <a:rPr lang="en-GB" dirty="0">
                <a:cs typeface="Times New Roman" panose="02020603050405020304" pitchFamily="18" charset="0"/>
              </a:rPr>
              <a:t> Lợi</a:t>
            </a:r>
          </a:p>
          <a:p>
            <a:pPr marL="0" indent="0" algn="ctr">
              <a:lnSpc>
                <a:spcPct val="110000"/>
              </a:lnSpc>
              <a:buNone/>
            </a:pPr>
            <a:r>
              <a:rPr lang="vi-VN" b="1" dirty="0">
                <a:solidFill>
                  <a:srgbClr val="0070C0"/>
                </a:solidFill>
                <a:cs typeface="Times New Roman" panose="02020603050405020304" pitchFamily="18" charset="0"/>
              </a:rPr>
              <a:t>Viện Nghiên cứu Ứng dụng Khoa học Sức khỏe và Lão hóa (ARiHA)</a:t>
            </a:r>
            <a:r>
              <a:rPr lang="en-GB" b="1" dirty="0">
                <a:solidFill>
                  <a:srgbClr val="0070C0"/>
                </a:solidFill>
                <a:cs typeface="Times New Roman" panose="02020603050405020304" pitchFamily="18" charset="0"/>
              </a:rPr>
              <a:t> </a:t>
            </a:r>
            <a:r>
              <a:rPr lang="en-GB" b="1" dirty="0" err="1">
                <a:solidFill>
                  <a:srgbClr val="0070C0"/>
                </a:solidFill>
                <a:cs typeface="Times New Roman" panose="02020603050405020304" pitchFamily="18" charset="0"/>
              </a:rPr>
              <a:t>Bệnh</a:t>
            </a:r>
            <a:r>
              <a:rPr lang="en-GB" b="1" dirty="0">
                <a:solidFill>
                  <a:srgbClr val="0070C0"/>
                </a:solidFill>
                <a:cs typeface="Times New Roman" panose="02020603050405020304" pitchFamily="18" charset="0"/>
              </a:rPr>
              <a:t> </a:t>
            </a:r>
            <a:r>
              <a:rPr lang="en-GB" b="1" dirty="0" err="1">
                <a:solidFill>
                  <a:srgbClr val="0070C0"/>
                </a:solidFill>
                <a:cs typeface="Times New Roman" panose="02020603050405020304" pitchFamily="18" charset="0"/>
              </a:rPr>
              <a:t>viện</a:t>
            </a:r>
            <a:r>
              <a:rPr lang="en-GB" b="1" dirty="0">
                <a:solidFill>
                  <a:srgbClr val="0070C0"/>
                </a:solidFill>
                <a:cs typeface="Times New Roman" panose="02020603050405020304" pitchFamily="18" charset="0"/>
              </a:rPr>
              <a:t> </a:t>
            </a:r>
            <a:r>
              <a:rPr lang="en-GB" b="1" dirty="0" err="1">
                <a:solidFill>
                  <a:srgbClr val="0070C0"/>
                </a:solidFill>
                <a:cs typeface="Times New Roman" panose="02020603050405020304" pitchFamily="18" charset="0"/>
              </a:rPr>
              <a:t>Thống</a:t>
            </a:r>
            <a:r>
              <a:rPr lang="en-GB" b="1" dirty="0">
                <a:solidFill>
                  <a:srgbClr val="0070C0"/>
                </a:solidFill>
                <a:cs typeface="Times New Roman" panose="02020603050405020304" pitchFamily="18" charset="0"/>
              </a:rPr>
              <a:t> </a:t>
            </a:r>
            <a:r>
              <a:rPr lang="en-GB" b="1" dirty="0" err="1">
                <a:solidFill>
                  <a:srgbClr val="0070C0"/>
                </a:solidFill>
                <a:cs typeface="Times New Roman" panose="02020603050405020304" pitchFamily="18" charset="0"/>
              </a:rPr>
              <a:t>Nhất</a:t>
            </a:r>
            <a:br>
              <a:rPr lang="en-GB" b="1" dirty="0">
                <a:solidFill>
                  <a:srgbClr val="0070C0"/>
                </a:solidFill>
                <a:cs typeface="Times New Roman" panose="02020603050405020304" pitchFamily="18" charset="0"/>
              </a:rPr>
            </a:br>
            <a:r>
              <a:rPr lang="fr-FR" dirty="0">
                <a:solidFill>
                  <a:srgbClr val="0070C0"/>
                </a:solidFill>
                <a:cs typeface="Times New Roman" panose="02020603050405020304" pitchFamily="18" charset="0"/>
              </a:rPr>
              <a:t>Email: loilp@bvtn.org.vn, </a:t>
            </a:r>
            <a:r>
              <a:rPr lang="fr-FR" dirty="0" err="1">
                <a:solidFill>
                  <a:srgbClr val="0070C0"/>
                </a:solidFill>
                <a:cs typeface="Times New Roman" panose="02020603050405020304" pitchFamily="18" charset="0"/>
              </a:rPr>
              <a:t>Zalo</a:t>
            </a:r>
            <a:r>
              <a:rPr lang="fr-FR" dirty="0">
                <a:solidFill>
                  <a:srgbClr val="0070C0"/>
                </a:solidFill>
                <a:cs typeface="Times New Roman" panose="02020603050405020304" pitchFamily="18" charset="0"/>
              </a:rPr>
              <a:t>: 0901802182</a:t>
            </a:r>
          </a:p>
          <a:p>
            <a:endParaRPr lang="en-US" b="1" dirty="0">
              <a:solidFill>
                <a:srgbClr val="0070C0"/>
              </a:solidFill>
              <a:cs typeface="Times New Roman" panose="02020603050405020304" pitchFamily="18" charset="0"/>
            </a:endParaRPr>
          </a:p>
        </p:txBody>
      </p:sp>
    </p:spTree>
    <p:extLst>
      <p:ext uri="{BB962C8B-B14F-4D97-AF65-F5344CB8AC3E}">
        <p14:creationId xmlns:p14="http://schemas.microsoft.com/office/powerpoint/2010/main" val="906752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361</TotalTime>
  <Words>1448</Words>
  <Application>Microsoft Office PowerPoint</Application>
  <PresentationFormat>Widescreen</PresentationFormat>
  <Paragraphs>89</Paragraphs>
  <Slides>28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 Light</vt:lpstr>
      <vt:lpstr>Times New Roman</vt:lpstr>
      <vt:lpstr>Wingdings</vt:lpstr>
      <vt:lpstr>Office Theme</vt:lpstr>
      <vt:lpstr>Bài 1 Giới thiệu về nghiên cứu khoa học và y đức trong nghiên cứu y sinh học</vt:lpstr>
      <vt:lpstr>Nội dung</vt:lpstr>
      <vt:lpstr>PowerPoint Presentation</vt:lpstr>
      <vt:lpstr>Khái niệm Nghiên cứu Khoa học (NCKH)</vt:lpstr>
      <vt:lpstr>Mục tiêu trong NCKH Y Sinh</vt:lpstr>
      <vt:lpstr>Mục tiêu trong Công Nông Nghiệp và Môi Trường</vt:lpstr>
      <vt:lpstr>Tiến trình chung cho NCKH</vt:lpstr>
      <vt:lpstr>Tiến trình chung cho NCKH</vt:lpstr>
      <vt:lpstr>Các Phương Pháp NCKH</vt:lpstr>
      <vt:lpstr>Các Phương Pháp NCKH</vt:lpstr>
      <vt:lpstr>Các Phương Pháp NCKH</vt:lpstr>
      <vt:lpstr>Các Phương Pháp NCKH</vt:lpstr>
      <vt:lpstr>Các Phương Pháp NCKH</vt:lpstr>
      <vt:lpstr>Các Phương Pháp NCKH</vt:lpstr>
      <vt:lpstr>Các loại hình thiết kế nghiên cứu phổ biến</vt:lpstr>
      <vt:lpstr>Thảo luận</vt:lpstr>
      <vt:lpstr>PowerPoint Presentation</vt:lpstr>
      <vt:lpstr>Lịch sử và các văn bản quy phạm về y đức trong nghiên cứu Y Sinh học</vt:lpstr>
      <vt:lpstr>Ba nguyên tắc đạo đức cốt lõi</vt:lpstr>
      <vt:lpstr>Nguyên tắc "Tôn trọng con người" và Sự chấp thuận tự nguyện</vt:lpstr>
      <vt:lpstr>Nguyên tắc "Hướng thiện" (Lợi ích và Rủi ro)</vt:lpstr>
      <vt:lpstr>Nguyên tắc "Công bằng"</vt:lpstr>
      <vt:lpstr>Quy trình chấp thuận tự nguyện (Informed Consent)</vt:lpstr>
      <vt:lpstr>PowerPoint Presentation</vt:lpstr>
      <vt:lpstr>Hội đồng Đạo đức (IRB/EC)</vt:lpstr>
      <vt:lpstr>Các hành vi sai trái (Scientific Misconduct)</vt:lpstr>
      <vt:lpstr>Kết luận</vt:lpstr>
      <vt:lpstr>Xin chân thành cảm ơn!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1. Giới thiệu về nghiên cứu khoa học và y đức trong nghiên cứu y sinh học</dc:title>
  <dc:creator>Luu Loi</dc:creator>
  <cp:lastModifiedBy>Luu Loi</cp:lastModifiedBy>
  <cp:revision>55</cp:revision>
  <dcterms:created xsi:type="dcterms:W3CDTF">2026-01-09T19:47:11Z</dcterms:created>
  <dcterms:modified xsi:type="dcterms:W3CDTF">2026-03-17T14:46:15Z</dcterms:modified>
</cp:coreProperties>
</file>